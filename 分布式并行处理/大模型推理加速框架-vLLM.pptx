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7" r:id="rId3"/>
    <p:sldId id="258" r:id="rId4"/>
    <p:sldId id="261" r:id="rId5"/>
    <p:sldId id="259" r:id="rId6"/>
    <p:sldId id="283" r:id="rId7"/>
    <p:sldId id="284" r:id="rId8"/>
    <p:sldId id="285" r:id="rId9"/>
    <p:sldId id="287" r:id="rId10"/>
    <p:sldId id="319" r:id="rId11"/>
    <p:sldId id="288" r:id="rId12"/>
    <p:sldId id="311" r:id="rId13"/>
    <p:sldId id="313" r:id="rId14"/>
    <p:sldId id="274" r:id="rId15"/>
    <p:sldId id="312" r:id="rId16"/>
    <p:sldId id="308" r:id="rId17"/>
    <p:sldId id="309" r:id="rId18"/>
    <p:sldId id="282" r:id="rId19"/>
  </p:sldIdLst>
  <p:sldSz cx="12192000" cy="6858000"/>
  <p:notesSz cx="7103745" cy="10234295"/>
  <p:embeddedFontLst>
    <p:embeddedFont>
      <p:font typeface="Calibri" panose="020F0502020204030204" charset="0"/>
      <p:regular r:id="rId24"/>
      <p:bold r:id="rId25"/>
      <p:italic r:id="rId26"/>
      <p:boldItalic r:id="rId27"/>
    </p:embeddedFont>
    <p:embeddedFont>
      <p:font typeface="微软雅黑" panose="020B0503020204020204" charset="-122"/>
      <p:regular r:id="rId28"/>
    </p:embeddedFont>
    <p:embeddedFont>
      <p:font typeface="Impact" panose="020B0806030902050204" charset="0"/>
      <p:regular r:id="rId29"/>
    </p:embeddedFont>
    <p:embeddedFont>
      <p:font typeface="Franklin Gothic Medium" panose="020B0603020102020204" charset="0"/>
      <p:regular r:id="rId30"/>
      <p:italic r:id="rId3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59A5"/>
    <a:srgbClr val="2A75D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0" d="100"/>
          <a:sy n="90" d="100"/>
        </p:scale>
        <p:origin x="114"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38200" y="1122680"/>
            <a:ext cx="105156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838200" y="3602355"/>
            <a:ext cx="10515600" cy="1655445"/>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grpSp>
        <p:nvGrpSpPr>
          <p:cNvPr id="13" name="组合 12"/>
          <p:cNvGrpSpPr/>
          <p:nvPr userDrawn="1"/>
        </p:nvGrpSpPr>
        <p:grpSpPr>
          <a:xfrm>
            <a:off x="9051290" y="403225"/>
            <a:ext cx="2431415" cy="536575"/>
            <a:chOff x="-4413546" y="1548861"/>
            <a:chExt cx="16208484" cy="3574391"/>
          </a:xfrm>
        </p:grpSpPr>
        <p:grpSp>
          <p:nvGrpSpPr>
            <p:cNvPr id="21" name="组合 20"/>
            <p:cNvGrpSpPr/>
            <p:nvPr/>
          </p:nvGrpSpPr>
          <p:grpSpPr>
            <a:xfrm>
              <a:off x="-4413546" y="1548861"/>
              <a:ext cx="3616325" cy="3574391"/>
              <a:chOff x="1393825" y="0"/>
              <a:chExt cx="9720263" cy="9607550"/>
            </a:xfrm>
            <a:solidFill>
              <a:srgbClr val="2159A5"/>
            </a:solidFill>
          </p:grpSpPr>
          <p:sp>
            <p:nvSpPr>
              <p:cNvPr id="25"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2" name="组合 81"/>
            <p:cNvGrpSpPr/>
            <p:nvPr/>
          </p:nvGrpSpPr>
          <p:grpSpPr>
            <a:xfrm>
              <a:off x="-144004" y="1927523"/>
              <a:ext cx="11938942" cy="2817067"/>
              <a:chOff x="-89842" y="1364187"/>
              <a:chExt cx="16362362" cy="3860800"/>
            </a:xfrm>
            <a:solidFill>
              <a:srgbClr val="2159A5"/>
            </a:solidFill>
          </p:grpSpPr>
          <p:sp>
            <p:nvSpPr>
              <p:cNvPr id="8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7" name="矩形 6"/>
          <p:cNvSpPr/>
          <p:nvPr userDrawn="1"/>
        </p:nvSpPr>
        <p:spPr>
          <a:xfrm>
            <a:off x="-36195" y="317500"/>
            <a:ext cx="892492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959100"/>
            <a:ext cx="10515600" cy="2781300"/>
          </a:xfrm>
        </p:spPr>
        <p:txBody>
          <a:bodyPr anchor="t" anchorCtr="0"/>
          <a:lstStyle>
            <a:lvl1pPr>
              <a:defRPr sz="48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722120"/>
            <a:ext cx="10515600" cy="1102995"/>
          </a:xfrm>
        </p:spPr>
        <p:txBody>
          <a:bodyPr lIns="144145" anchor="b" anchorCtr="0"/>
          <a:lstStyle>
            <a:lvl1pPr marL="0" indent="0">
              <a:buNone/>
              <a:defRPr sz="24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105" y="365125"/>
            <a:ext cx="10515600" cy="800100"/>
          </a:xfrm>
        </p:spPr>
        <p:txBody>
          <a:bodyPr anchor="ctr" anchorCtr="0"/>
          <a:lstStyle>
            <a:lvl1pPr algn="ct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9470" y="1482090"/>
            <a:ext cx="5220970" cy="823595"/>
          </a:xfrm>
        </p:spPr>
        <p:txBody>
          <a:bodyPr anchor="ctr" anchorCtr="0"/>
          <a:lstStyle>
            <a:lvl1pPr marL="0" indent="0">
              <a:buNone/>
              <a:defRPr sz="3200">
                <a:solidFill>
                  <a:srgbClr val="0070C0"/>
                </a:solidFill>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200" y="2368550"/>
            <a:ext cx="5222240" cy="3820795"/>
          </a:xfrm>
        </p:spPr>
        <p:txBody>
          <a:bodyPr/>
          <a:lstStyle>
            <a:lvl1pPr>
              <a:defRPr sz="2800"/>
            </a:lvl1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655" y="1482090"/>
            <a:ext cx="5097145" cy="823595"/>
          </a:xfrm>
        </p:spPr>
        <p:txBody>
          <a:bodyPr anchor="ctr" anchorCtr="0"/>
          <a:lstStyle>
            <a:lvl1pPr marL="0" indent="0">
              <a:buNone/>
              <a:defRPr sz="3200">
                <a:solidFill>
                  <a:srgbClr val="0070C0"/>
                </a:solidFill>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655" y="2368550"/>
            <a:ext cx="5097145" cy="3820795"/>
          </a:xfrm>
        </p:spPr>
        <p:txBody>
          <a:bodyPr/>
          <a:lstStyle>
            <a:lvl1pPr>
              <a:defRPr sz="2800"/>
            </a:lvl1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97485"/>
            <a:ext cx="10515600" cy="1325563"/>
          </a:xfrm>
        </p:spPr>
        <p:txBody>
          <a:bodyPr anchor="b" anchorCtr="0"/>
          <a:lstStyle/>
          <a:p>
            <a:r>
              <a:rPr lang="zh-CN" altLang="en-US"/>
              <a:t>单击此处编辑母版标题样式</a:t>
            </a:r>
            <a:endParaRPr lang="zh-CN" altLang="en-US"/>
          </a:p>
        </p:txBody>
      </p:sp>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 + 文本">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2700" y="-1905"/>
            <a:ext cx="7017385" cy="6861810"/>
          </a:xfrm>
          <a:noFill/>
        </p:spPr>
        <p:txBody>
          <a:bodyPr lIns="252095" tIns="144145"/>
          <a:lstStyle>
            <a:lvl1pPr marL="0" indent="0" algn="ctr">
              <a:buNone/>
              <a:defRPr sz="1800">
                <a:solidFill>
                  <a:schemeClr val="tx1">
                    <a:lumMod val="50000"/>
                    <a:lumOff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2" name="标题 1"/>
          <p:cNvSpPr>
            <a:spLocks noGrp="1"/>
          </p:cNvSpPr>
          <p:nvPr>
            <p:ph type="title"/>
          </p:nvPr>
        </p:nvSpPr>
        <p:spPr>
          <a:xfrm>
            <a:off x="7350125" y="457200"/>
            <a:ext cx="4392295" cy="1055370"/>
          </a:xfrm>
        </p:spPr>
        <p:txBody>
          <a:bodyPr anchor="b" anchorCtr="0"/>
          <a:lstStyle>
            <a:lvl1pPr>
              <a:defRPr sz="3200"/>
            </a:lvl1pPr>
          </a:lstStyle>
          <a:p>
            <a:r>
              <a:rPr lang="zh-CN" altLang="en-US"/>
              <a:t>单击此处编辑母版标题样式</a:t>
            </a:r>
            <a:endParaRPr lang="zh-CN" altLang="en-US"/>
          </a:p>
        </p:txBody>
      </p:sp>
      <p:sp>
        <p:nvSpPr>
          <p:cNvPr id="4" name="文本占位符 3"/>
          <p:cNvSpPr>
            <a:spLocks noGrp="1"/>
          </p:cNvSpPr>
          <p:nvPr>
            <p:ph type="body" sz="half" idx="2"/>
          </p:nvPr>
        </p:nvSpPr>
        <p:spPr>
          <a:xfrm>
            <a:off x="7349490" y="1694180"/>
            <a:ext cx="4393565" cy="4480560"/>
          </a:xfrm>
        </p:spPr>
        <p:txBody>
          <a:bodyPr/>
          <a:lstStyle>
            <a:lvl1pPr marL="0" indent="0">
              <a:buNone/>
              <a:defRPr sz="28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文本 + 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505" y="-7620"/>
            <a:ext cx="7017385" cy="6861810"/>
          </a:xfrm>
          <a:noFill/>
        </p:spPr>
        <p:txBody>
          <a:bodyPr lIns="252095" tIns="144145"/>
          <a:lstStyle>
            <a:lvl1pPr marL="0" indent="0" algn="ctr">
              <a:buNone/>
              <a:defRPr sz="1800">
                <a:solidFill>
                  <a:schemeClr val="tx1">
                    <a:lumMod val="50000"/>
                    <a:lumOff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2" name="标题 1"/>
          <p:cNvSpPr>
            <a:spLocks noGrp="1"/>
          </p:cNvSpPr>
          <p:nvPr>
            <p:ph type="title"/>
          </p:nvPr>
        </p:nvSpPr>
        <p:spPr>
          <a:xfrm>
            <a:off x="409575" y="457200"/>
            <a:ext cx="4279900" cy="1055370"/>
          </a:xfrm>
        </p:spPr>
        <p:txBody>
          <a:bodyPr anchor="t" anchorCtr="0"/>
          <a:lstStyle>
            <a:lvl1pPr>
              <a:defRPr sz="3200"/>
            </a:lvl1pPr>
          </a:lstStyle>
          <a:p>
            <a:r>
              <a:rPr lang="zh-CN" altLang="en-US"/>
              <a:t>单击此处编辑母版标题样式</a:t>
            </a:r>
            <a:endParaRPr lang="zh-CN" altLang="en-US"/>
          </a:p>
        </p:txBody>
      </p:sp>
      <p:sp>
        <p:nvSpPr>
          <p:cNvPr id="4" name="文本占位符 3"/>
          <p:cNvSpPr>
            <a:spLocks noGrp="1"/>
          </p:cNvSpPr>
          <p:nvPr>
            <p:ph type="body" sz="half" idx="2"/>
          </p:nvPr>
        </p:nvSpPr>
        <p:spPr>
          <a:xfrm>
            <a:off x="409575" y="1694180"/>
            <a:ext cx="4280535" cy="4480560"/>
          </a:xfrm>
        </p:spPr>
        <p:txBody>
          <a:bodyPr/>
          <a:lstStyle>
            <a:lvl1pPr marL="0" indent="0">
              <a:buNone/>
              <a:defRPr sz="28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sp>
        <p:nvSpPr>
          <p:cNvPr id="3"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7"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27025"/>
            <a:ext cx="10515600" cy="5850255"/>
          </a:xfrm>
        </p:spPr>
        <p:txBody>
          <a:bodyPr/>
          <a:lstStyle>
            <a:lvl2pPr>
              <a:defRPr/>
            </a:lvl2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9D9C70D-B7C8-466D-B87C-22D855EF72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045BA-9AC9-4435-A9A0-D822685BA71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7" Type="http://schemas.openxmlformats.org/officeDocument/2006/relationships/slideLayout" Target="../slideLayouts/slideLayout2.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hyperlink" Target="https://zhida.zhihu.com/search?content_id=232471539&amp;content_type=Article&amp;match_order=1&amp;q=KV%E5%BC%A0%E9%87%8F&amp;zhida_source=entity" TargetMode="External"/><Relationship Id="rId1" Type="http://schemas.openxmlformats.org/officeDocument/2006/relationships/hyperlink" Target="https://zhida.zhihu.com/search?content_id=232471539&amp;content_type=Article&amp;match_order=1&amp;q=%E8%99%9A%E6%8B%9F%E5%86%85%E5%AD%98&amp;zhida_source=entit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050"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035"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8" name="组合 377"/>
          <p:cNvGrpSpPr/>
          <p:nvPr/>
        </p:nvGrpSpPr>
        <p:grpSpPr>
          <a:xfrm>
            <a:off x="4351020" y="1804035"/>
            <a:ext cx="3350895" cy="739775"/>
            <a:chOff x="-4413546" y="1548861"/>
            <a:chExt cx="16208484" cy="3574391"/>
          </a:xfrm>
        </p:grpSpPr>
        <p:grpSp>
          <p:nvGrpSpPr>
            <p:cNvPr id="379" name="组合 378"/>
            <p:cNvGrpSpPr/>
            <p:nvPr/>
          </p:nvGrpSpPr>
          <p:grpSpPr>
            <a:xfrm>
              <a:off x="-4413546" y="1548861"/>
              <a:ext cx="3616325" cy="3574391"/>
              <a:chOff x="1393825" y="0"/>
              <a:chExt cx="9720263" cy="9607550"/>
            </a:xfrm>
            <a:solidFill>
              <a:srgbClr val="2159A5"/>
            </a:solidFill>
          </p:grpSpPr>
          <p:sp>
            <p:nvSpPr>
              <p:cNvPr id="42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3"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4"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5"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6"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7"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8"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9"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0"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1"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2"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3"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4"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5"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6"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7"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8"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9"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0"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1"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2"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3"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4"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5"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6"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7"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8"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9"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0"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1"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2"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3"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4"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5"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6"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7"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8"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9"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0"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1"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2"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3"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4"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80" name="组合 379"/>
            <p:cNvGrpSpPr/>
            <p:nvPr/>
          </p:nvGrpSpPr>
          <p:grpSpPr>
            <a:xfrm>
              <a:off x="-144004" y="1927523"/>
              <a:ext cx="11938942" cy="2817067"/>
              <a:chOff x="-89842" y="1364187"/>
              <a:chExt cx="16362362" cy="3860800"/>
            </a:xfrm>
            <a:solidFill>
              <a:srgbClr val="2159A5"/>
            </a:solidFill>
          </p:grpSpPr>
          <p:sp>
            <p:nvSpPr>
              <p:cNvPr id="381"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2"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3"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4"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5"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6"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7"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8"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9"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0"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1"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2"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3"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4"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5"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6"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7"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8"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9"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0"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1"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2"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3"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4"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5"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6"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7"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8"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9"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0"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1"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2"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3"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4"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5"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6"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7"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8"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9"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0"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1"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9" name="文本框 8"/>
          <p:cNvSpPr txBox="1"/>
          <p:nvPr/>
        </p:nvSpPr>
        <p:spPr>
          <a:xfrm>
            <a:off x="2293620" y="2715260"/>
            <a:ext cx="7604760" cy="1938020"/>
          </a:xfrm>
          <a:prstGeom prst="rect">
            <a:avLst/>
          </a:prstGeom>
          <a:noFill/>
        </p:spPr>
        <p:txBody>
          <a:bodyPr wrap="square" rtlCol="0" anchor="t">
            <a:spAutoFit/>
          </a:bodyPr>
          <a:lstStyle/>
          <a:p>
            <a:pPr algn="ctr"/>
            <a:r>
              <a:rPr lang="zh-CN" altLang="en-US" sz="6000">
                <a:solidFill>
                  <a:srgbClr val="2159A5"/>
                </a:solidFill>
                <a:latin typeface="思源黑体 CN Bold" panose="020B0800000000000000" charset="-122"/>
                <a:ea typeface="思源黑体 CN Bold" panose="020B0800000000000000" charset="-122"/>
                <a:sym typeface="+mn-ea"/>
              </a:rPr>
              <a:t>大模型推理加速框架</a:t>
            </a:r>
            <a:r>
              <a:rPr lang="en-US" altLang="zh-CN" sz="6000">
                <a:solidFill>
                  <a:srgbClr val="2159A5"/>
                </a:solidFill>
                <a:latin typeface="思源黑体 CN Bold" panose="020B0800000000000000" charset="-122"/>
                <a:ea typeface="思源黑体 CN Bold" panose="020B0800000000000000" charset="-122"/>
                <a:sym typeface="+mn-ea"/>
              </a:rPr>
              <a:t>——vLLM</a:t>
            </a:r>
            <a:endParaRPr lang="en-US" altLang="zh-CN" sz="6000">
              <a:solidFill>
                <a:srgbClr val="2159A5"/>
              </a:solidFill>
              <a:latin typeface="思源黑体 CN Bold" panose="020B0800000000000000" charset="-122"/>
              <a:ea typeface="思源黑体 CN Bold" panose="020B0800000000000000" charset="-122"/>
              <a:sym typeface="+mn-ea"/>
            </a:endParaRPr>
          </a:p>
        </p:txBody>
      </p:sp>
      <p:sp>
        <p:nvSpPr>
          <p:cNvPr id="10" name="文本框 9"/>
          <p:cNvSpPr txBox="1"/>
          <p:nvPr/>
        </p:nvSpPr>
        <p:spPr>
          <a:xfrm>
            <a:off x="3928745" y="4768850"/>
            <a:ext cx="2621280" cy="583565"/>
          </a:xfrm>
          <a:prstGeom prst="rect">
            <a:avLst/>
          </a:prstGeom>
          <a:noFill/>
        </p:spPr>
        <p:txBody>
          <a:bodyPr wrap="none" rtlCol="0" anchor="t">
            <a:spAutoFit/>
          </a:bodyPr>
          <a:lstStyle/>
          <a:p>
            <a:r>
              <a:rPr lang="zh-CN" altLang="en-US" sz="1600">
                <a:solidFill>
                  <a:schemeClr val="tx1">
                    <a:lumMod val="85000"/>
                    <a:lumOff val="15000"/>
                  </a:schemeClr>
                </a:solidFill>
                <a:latin typeface="+mn-ea"/>
                <a:sym typeface="+mn-ea"/>
              </a:rPr>
              <a:t>小组成员：</a:t>
            </a:r>
            <a:r>
              <a:rPr lang="zh-CN" altLang="en-US" sz="1600">
                <a:solidFill>
                  <a:schemeClr val="tx1">
                    <a:lumMod val="85000"/>
                    <a:lumOff val="15000"/>
                  </a:schemeClr>
                </a:solidFill>
                <a:latin typeface="+mn-ea"/>
                <a:sym typeface="+mn-ea"/>
              </a:rPr>
              <a:t>刘源、侯超杰、</a:t>
            </a:r>
            <a:endParaRPr lang="zh-CN" altLang="en-US" sz="1600">
              <a:solidFill>
                <a:schemeClr val="tx1">
                  <a:lumMod val="85000"/>
                  <a:lumOff val="15000"/>
                </a:schemeClr>
              </a:solidFill>
              <a:latin typeface="+mn-ea"/>
              <a:sym typeface="+mn-ea"/>
            </a:endParaRPr>
          </a:p>
          <a:p>
            <a:r>
              <a:rPr lang="zh-CN" altLang="en-US" sz="1600">
                <a:solidFill>
                  <a:schemeClr val="tx1">
                    <a:lumMod val="85000"/>
                    <a:lumOff val="15000"/>
                  </a:schemeClr>
                </a:solidFill>
                <a:latin typeface="+mn-ea"/>
                <a:sym typeface="+mn-ea"/>
              </a:rPr>
              <a:t>丁涛、曾强、</a:t>
            </a:r>
            <a:r>
              <a:rPr lang="zh-CN" altLang="en-US" sz="1600">
                <a:solidFill>
                  <a:schemeClr val="tx1">
                    <a:lumMod val="85000"/>
                    <a:lumOff val="15000"/>
                  </a:schemeClr>
                </a:solidFill>
                <a:latin typeface="+mn-ea"/>
                <a:sym typeface="+mn-ea"/>
              </a:rPr>
              <a:t>陈天郗</a:t>
            </a:r>
            <a:endParaRPr lang="zh-CN" altLang="en-US" sz="1600">
              <a:solidFill>
                <a:schemeClr val="tx1">
                  <a:lumMod val="85000"/>
                  <a:lumOff val="15000"/>
                </a:schemeClr>
              </a:solidFill>
              <a:latin typeface="+mn-ea"/>
              <a:sym typeface="+mn-ea"/>
            </a:endParaRPr>
          </a:p>
        </p:txBody>
      </p:sp>
      <p:sp>
        <p:nvSpPr>
          <p:cNvPr id="193" name="文本框 192"/>
          <p:cNvSpPr txBox="1"/>
          <p:nvPr/>
        </p:nvSpPr>
        <p:spPr>
          <a:xfrm>
            <a:off x="6790690" y="4768850"/>
            <a:ext cx="1402080" cy="337185"/>
          </a:xfrm>
          <a:prstGeom prst="rect">
            <a:avLst/>
          </a:prstGeom>
          <a:noFill/>
        </p:spPr>
        <p:txBody>
          <a:bodyPr wrap="none" rtlCol="0" anchor="t">
            <a:spAutoFit/>
          </a:bodyPr>
          <a:lstStyle/>
          <a:p>
            <a:r>
              <a:rPr lang="zh-CN" altLang="en-US" sz="1600">
                <a:solidFill>
                  <a:schemeClr val="tx1">
                    <a:lumMod val="85000"/>
                    <a:lumOff val="15000"/>
                  </a:schemeClr>
                </a:solidFill>
                <a:latin typeface="+mn-ea"/>
                <a:sym typeface="+mn-ea"/>
              </a:rPr>
              <a:t>汇报人：</a:t>
            </a:r>
            <a:r>
              <a:rPr lang="zh-CN" altLang="en-US" sz="1600">
                <a:solidFill>
                  <a:schemeClr val="tx1">
                    <a:lumMod val="85000"/>
                    <a:lumOff val="15000"/>
                  </a:schemeClr>
                </a:solidFill>
                <a:latin typeface="+mn-ea"/>
                <a:sym typeface="+mn-ea"/>
              </a:rPr>
              <a:t>刘源</a:t>
            </a:r>
            <a:endParaRPr lang="zh-CN" altLang="en-US" sz="1600">
              <a:solidFill>
                <a:schemeClr val="tx1">
                  <a:lumMod val="85000"/>
                  <a:lumOff val="15000"/>
                </a:schemeClr>
              </a:solidFill>
              <a:latin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050"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2" name="矩形 1"/>
          <p:cNvSpPr/>
          <p:nvPr/>
        </p:nvSpPr>
        <p:spPr>
          <a:xfrm>
            <a:off x="561340" y="542925"/>
            <a:ext cx="11051540" cy="5778500"/>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612900" y="2673985"/>
            <a:ext cx="2448560" cy="1198880"/>
          </a:xfrm>
          <a:prstGeom prst="rect">
            <a:avLst/>
          </a:prstGeom>
          <a:noFill/>
        </p:spPr>
        <p:txBody>
          <a:bodyPr wrap="square" rtlCol="0" anchor="t">
            <a:spAutoFit/>
          </a:bodyPr>
          <a:lstStyle/>
          <a:p>
            <a:pPr algn="ctr"/>
            <a:r>
              <a:rPr lang="zh-CN" altLang="en-US" sz="7200">
                <a:solidFill>
                  <a:srgbClr val="2159A5"/>
                </a:solidFill>
                <a:latin typeface="+mn-ea"/>
                <a:sym typeface="+mn-ea"/>
              </a:rPr>
              <a:t>目录</a:t>
            </a:r>
            <a:endParaRPr lang="zh-CN" altLang="en-US" sz="7200">
              <a:solidFill>
                <a:srgbClr val="2159A5"/>
              </a:solidFill>
              <a:latin typeface="+mn-ea"/>
              <a:sym typeface="+mn-ea"/>
            </a:endParaRPr>
          </a:p>
        </p:txBody>
      </p:sp>
      <p:sp>
        <p:nvSpPr>
          <p:cNvPr id="5" name="文本框 4"/>
          <p:cNvSpPr txBox="1"/>
          <p:nvPr/>
        </p:nvSpPr>
        <p:spPr>
          <a:xfrm>
            <a:off x="1924050" y="4004310"/>
            <a:ext cx="1826895" cy="245110"/>
          </a:xfrm>
          <a:prstGeom prst="rect">
            <a:avLst/>
          </a:prstGeom>
          <a:noFill/>
        </p:spPr>
        <p:txBody>
          <a:bodyPr wrap="square" rtlCol="0" anchor="t">
            <a:spAutoFit/>
          </a:bodyPr>
          <a:lstStyle/>
          <a:p>
            <a:pPr algn="dist"/>
            <a:r>
              <a:rPr lang="en-US" altLang="zh-CN" sz="1000">
                <a:solidFill>
                  <a:srgbClr val="2159A5"/>
                </a:solidFill>
                <a:latin typeface="+mn-ea"/>
                <a:sym typeface="+mn-ea"/>
              </a:rPr>
              <a:t>CONTENTS</a:t>
            </a:r>
            <a:endParaRPr lang="en-US" altLang="zh-CN" sz="1000">
              <a:solidFill>
                <a:srgbClr val="2159A5"/>
              </a:solidFill>
              <a:latin typeface="+mn-ea"/>
              <a:sym typeface="+mn-ea"/>
            </a:endParaRPr>
          </a:p>
        </p:txBody>
      </p:sp>
      <p:sp>
        <p:nvSpPr>
          <p:cNvPr id="27" name="文本框 26"/>
          <p:cNvSpPr txBox="1"/>
          <p:nvPr/>
        </p:nvSpPr>
        <p:spPr>
          <a:xfrm>
            <a:off x="6751320" y="1459230"/>
            <a:ext cx="2332355" cy="337185"/>
          </a:xfrm>
          <a:prstGeom prst="rect">
            <a:avLst/>
          </a:prstGeom>
          <a:noFill/>
        </p:spPr>
        <p:txBody>
          <a:bodyPr wrap="square" rtlCol="0">
            <a:spAutoFit/>
          </a:bodyPr>
          <a:lstStyle/>
          <a:p>
            <a:pPr algn="l"/>
            <a:r>
              <a:rPr lang="en-US" altLang="zh-CN" sz="1600">
                <a:solidFill>
                  <a:srgbClr val="2E75B6"/>
                </a:solidFill>
                <a:latin typeface="微软雅黑" panose="020B0503020204020204" charset="-122"/>
                <a:ea typeface="微软雅黑" panose="020B0503020204020204" charset="-122"/>
              </a:rPr>
              <a:t>LLM</a:t>
            </a:r>
            <a:r>
              <a:rPr lang="zh-CN" altLang="en-US" sz="1600">
                <a:solidFill>
                  <a:srgbClr val="2E75B6"/>
                </a:solidFill>
                <a:latin typeface="微软雅黑" panose="020B0503020204020204" charset="-122"/>
                <a:ea typeface="微软雅黑" panose="020B0503020204020204" charset="-122"/>
              </a:rPr>
              <a:t>推理的两阶段</a:t>
            </a:r>
            <a:endParaRPr lang="zh-CN" altLang="en-US" sz="1600">
              <a:solidFill>
                <a:srgbClr val="2E75B6"/>
              </a:solidFill>
              <a:latin typeface="微软雅黑" panose="020B0503020204020204" charset="-122"/>
              <a:ea typeface="微软雅黑" panose="020B0503020204020204" charset="-122"/>
            </a:endParaRPr>
          </a:p>
        </p:txBody>
      </p:sp>
      <p:sp>
        <p:nvSpPr>
          <p:cNvPr id="29" name="文本框 28"/>
          <p:cNvSpPr txBox="1"/>
          <p:nvPr/>
        </p:nvSpPr>
        <p:spPr>
          <a:xfrm>
            <a:off x="6751320" y="2103755"/>
            <a:ext cx="2771140" cy="583565"/>
          </a:xfrm>
          <a:prstGeom prst="rect">
            <a:avLst/>
          </a:prstGeom>
          <a:noFill/>
        </p:spPr>
        <p:txBody>
          <a:bodyPr wrap="square" rtlCol="0">
            <a:spAutoFit/>
          </a:bodyPr>
          <a:lstStyle/>
          <a:p>
            <a:pPr algn="l"/>
            <a:r>
              <a:rPr lang="zh-CN" altLang="en-US" sz="1600">
                <a:solidFill>
                  <a:srgbClr val="2E75B6"/>
                </a:solidFill>
                <a:latin typeface="微软雅黑" panose="020B0503020204020204" charset="-122"/>
                <a:ea typeface="微软雅黑" panose="020B0503020204020204" charset="-122"/>
              </a:rPr>
              <a:t>为</a:t>
            </a:r>
            <a:r>
              <a:rPr lang="en-US" altLang="zh-CN" sz="1600">
                <a:solidFill>
                  <a:srgbClr val="2E75B6"/>
                </a:solidFill>
                <a:latin typeface="微软雅黑" panose="020B0503020204020204" charset="-122"/>
                <a:ea typeface="微软雅黑" panose="020B0503020204020204" charset="-122"/>
              </a:rPr>
              <a:t>KV cache</a:t>
            </a:r>
            <a:r>
              <a:rPr lang="zh-CN" altLang="en-US" sz="1600">
                <a:solidFill>
                  <a:srgbClr val="2E75B6"/>
                </a:solidFill>
                <a:latin typeface="微软雅黑" panose="020B0503020204020204" charset="-122"/>
                <a:ea typeface="微软雅黑" panose="020B0503020204020204" charset="-122"/>
              </a:rPr>
              <a:t>分配存储空间的传统方法</a:t>
            </a:r>
            <a:endParaRPr lang="zh-CN" altLang="en-US" sz="1600">
              <a:solidFill>
                <a:srgbClr val="2E75B6"/>
              </a:solidFill>
              <a:latin typeface="微软雅黑" panose="020B0503020204020204" charset="-122"/>
              <a:ea typeface="微软雅黑" panose="020B0503020204020204" charset="-122"/>
            </a:endParaRPr>
          </a:p>
        </p:txBody>
      </p:sp>
      <p:sp>
        <p:nvSpPr>
          <p:cNvPr id="31" name="文本框 30"/>
          <p:cNvSpPr txBox="1"/>
          <p:nvPr/>
        </p:nvSpPr>
        <p:spPr>
          <a:xfrm>
            <a:off x="6751320" y="2922905"/>
            <a:ext cx="2871470" cy="337185"/>
          </a:xfrm>
          <a:prstGeom prst="rect">
            <a:avLst/>
          </a:prstGeom>
          <a:noFill/>
        </p:spPr>
        <p:txBody>
          <a:bodyPr wrap="square" rtlCol="0">
            <a:spAutoFit/>
          </a:bodyPr>
          <a:lstStyle/>
          <a:p>
            <a:pPr algn="l"/>
            <a:r>
              <a:rPr lang="en-US" altLang="zh-CN" sz="1600">
                <a:solidFill>
                  <a:srgbClr val="2E75B6"/>
                </a:solidFill>
                <a:latin typeface="微软雅黑" panose="020B0503020204020204" charset="-122"/>
                <a:ea typeface="微软雅黑" panose="020B0503020204020204" charset="-122"/>
              </a:rPr>
              <a:t>PagedAttention</a:t>
            </a:r>
            <a:r>
              <a:rPr lang="zh-CN" altLang="en-US" sz="1600">
                <a:solidFill>
                  <a:srgbClr val="2E75B6"/>
                </a:solidFill>
                <a:latin typeface="微软雅黑" panose="020B0503020204020204" charset="-122"/>
                <a:ea typeface="微软雅黑" panose="020B0503020204020204" charset="-122"/>
              </a:rPr>
              <a:t>原理</a:t>
            </a:r>
            <a:endParaRPr lang="zh-CN" altLang="en-US" sz="1600">
              <a:solidFill>
                <a:srgbClr val="2E75B6"/>
              </a:solidFill>
              <a:latin typeface="微软雅黑" panose="020B0503020204020204" charset="-122"/>
              <a:ea typeface="微软雅黑" panose="020B0503020204020204" charset="-122"/>
            </a:endParaRPr>
          </a:p>
        </p:txBody>
      </p:sp>
      <p:sp>
        <p:nvSpPr>
          <p:cNvPr id="32" name="文本框 31"/>
          <p:cNvSpPr txBox="1"/>
          <p:nvPr/>
        </p:nvSpPr>
        <p:spPr>
          <a:xfrm>
            <a:off x="6751320" y="3679190"/>
            <a:ext cx="2770505" cy="570230"/>
          </a:xfrm>
          <a:prstGeom prst="rect">
            <a:avLst/>
          </a:prstGeom>
          <a:noFill/>
        </p:spPr>
        <p:txBody>
          <a:bodyPr wrap="square" rtlCol="0">
            <a:noAutofit/>
          </a:bodyPr>
          <a:lstStyle/>
          <a:p>
            <a:pPr algn="l"/>
            <a:r>
              <a:rPr lang="en-US" altLang="zh-CN" sz="1600">
                <a:solidFill>
                  <a:srgbClr val="2E75B6"/>
                </a:solidFill>
                <a:latin typeface="微软雅黑" panose="020B0503020204020204" charset="-122"/>
                <a:ea typeface="微软雅黑" panose="020B0503020204020204" charset="-122"/>
              </a:rPr>
              <a:t>PagedAttention</a:t>
            </a:r>
            <a:r>
              <a:rPr lang="zh-CN" altLang="en-US" sz="1600">
                <a:solidFill>
                  <a:srgbClr val="2E75B6"/>
                </a:solidFill>
                <a:latin typeface="微软雅黑" panose="020B0503020204020204" charset="-122"/>
                <a:ea typeface="微软雅黑" panose="020B0503020204020204" charset="-122"/>
              </a:rPr>
              <a:t>在不同</a:t>
            </a:r>
            <a:r>
              <a:rPr lang="en-US" altLang="zh-CN" sz="1600">
                <a:solidFill>
                  <a:srgbClr val="2E75B6"/>
                </a:solidFill>
                <a:latin typeface="微软雅黑" panose="020B0503020204020204" charset="-122"/>
                <a:ea typeface="微软雅黑" panose="020B0503020204020204" charset="-122"/>
              </a:rPr>
              <a:t>decoding</a:t>
            </a:r>
            <a:r>
              <a:rPr lang="zh-CN" altLang="en-US" sz="1600">
                <a:solidFill>
                  <a:srgbClr val="2E75B6"/>
                </a:solidFill>
                <a:latin typeface="微软雅黑" panose="020B0503020204020204" charset="-122"/>
                <a:ea typeface="微软雅黑" panose="020B0503020204020204" charset="-122"/>
              </a:rPr>
              <a:t>场景下的运作流程和优势</a:t>
            </a:r>
            <a:endParaRPr lang="zh-CN" altLang="en-US" sz="1600">
              <a:solidFill>
                <a:srgbClr val="2E75B6"/>
              </a:solidFill>
              <a:latin typeface="微软雅黑" panose="020B0503020204020204" charset="-122"/>
              <a:ea typeface="微软雅黑" panose="020B0503020204020204" charset="-122"/>
            </a:endParaRPr>
          </a:p>
        </p:txBody>
      </p:sp>
      <p:sp>
        <p:nvSpPr>
          <p:cNvPr id="33" name="文本框 32"/>
          <p:cNvSpPr txBox="1"/>
          <p:nvPr/>
        </p:nvSpPr>
        <p:spPr>
          <a:xfrm>
            <a:off x="6751320" y="4877435"/>
            <a:ext cx="2030095" cy="337185"/>
          </a:xfrm>
          <a:prstGeom prst="rect">
            <a:avLst/>
          </a:prstGeom>
          <a:noFill/>
        </p:spPr>
        <p:txBody>
          <a:bodyPr wrap="square" rtlCol="0">
            <a:spAutoFit/>
          </a:bodyPr>
          <a:lstStyle/>
          <a:p>
            <a:pPr algn="l"/>
            <a:r>
              <a:rPr lang="en-US" altLang="zh-CN" sz="1600">
                <a:solidFill>
                  <a:srgbClr val="2E75B6"/>
                </a:solidFill>
                <a:latin typeface="微软雅黑" panose="020B0503020204020204" charset="-122"/>
                <a:ea typeface="微软雅黑" panose="020B0503020204020204" charset="-122"/>
              </a:rPr>
              <a:t>vLLM</a:t>
            </a:r>
            <a:r>
              <a:rPr lang="zh-CN" altLang="en-US" sz="1600">
                <a:solidFill>
                  <a:srgbClr val="2E75B6"/>
                </a:solidFill>
                <a:latin typeface="微软雅黑" panose="020B0503020204020204" charset="-122"/>
                <a:ea typeface="微软雅黑" panose="020B0503020204020204" charset="-122"/>
              </a:rPr>
              <a:t>的调度与抢占</a:t>
            </a:r>
            <a:endParaRPr lang="zh-CN" altLang="en-US" sz="1600">
              <a:solidFill>
                <a:srgbClr val="2E75B6"/>
              </a:solidFill>
              <a:latin typeface="微软雅黑" panose="020B0503020204020204" charset="-122"/>
              <a:ea typeface="微软雅黑" panose="020B0503020204020204" charset="-122"/>
            </a:endParaRPr>
          </a:p>
        </p:txBody>
      </p:sp>
      <p:grpSp>
        <p:nvGrpSpPr>
          <p:cNvPr id="16" name="组合 15"/>
          <p:cNvGrpSpPr/>
          <p:nvPr>
            <p:custDataLst>
              <p:tags r:id="rId1"/>
            </p:custDataLst>
          </p:nvPr>
        </p:nvGrpSpPr>
        <p:grpSpPr>
          <a:xfrm>
            <a:off x="5944235" y="1423670"/>
            <a:ext cx="3740785" cy="440055"/>
            <a:chOff x="6155" y="3070"/>
            <a:chExt cx="5818" cy="1140"/>
          </a:xfrm>
        </p:grpSpPr>
        <p:sp>
          <p:nvSpPr>
            <p:cNvPr id="14" name="矩形 13"/>
            <p:cNvSpPr/>
            <p:nvPr>
              <p:custDataLst>
                <p:tags r:id="rId2"/>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01</a:t>
              </a:r>
              <a:endParaRPr lang="en-US" altLang="zh-CN" sz="2400">
                <a:latin typeface="Impact" panose="020B0806030902050204" charset="0"/>
                <a:cs typeface="Impact" panose="020B0806030902050204" charset="0"/>
              </a:endParaRPr>
            </a:p>
          </p:txBody>
        </p:sp>
        <p:sp>
          <p:nvSpPr>
            <p:cNvPr id="15" name="矩形 14"/>
            <p:cNvSpPr/>
            <p:nvPr>
              <p:custDataLst>
                <p:tags r:id="rId3"/>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17" name="组合 16"/>
          <p:cNvGrpSpPr/>
          <p:nvPr>
            <p:custDataLst>
              <p:tags r:id="rId4"/>
            </p:custDataLst>
          </p:nvPr>
        </p:nvGrpSpPr>
        <p:grpSpPr>
          <a:xfrm>
            <a:off x="5932170" y="2085975"/>
            <a:ext cx="3740785" cy="588010"/>
            <a:chOff x="6155" y="3070"/>
            <a:chExt cx="5818" cy="1140"/>
          </a:xfrm>
        </p:grpSpPr>
        <p:sp>
          <p:nvSpPr>
            <p:cNvPr id="18" name="矩形 17"/>
            <p:cNvSpPr/>
            <p:nvPr>
              <p:custDataLst>
                <p:tags r:id="rId5"/>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02</a:t>
              </a:r>
              <a:endParaRPr lang="en-US" altLang="zh-CN" sz="2400">
                <a:latin typeface="Impact" panose="020B0806030902050204" charset="0"/>
                <a:cs typeface="Impact" panose="020B0806030902050204" charset="0"/>
              </a:endParaRPr>
            </a:p>
          </p:txBody>
        </p:sp>
        <p:sp>
          <p:nvSpPr>
            <p:cNvPr id="19" name="矩形 18"/>
            <p:cNvSpPr/>
            <p:nvPr>
              <p:custDataLst>
                <p:tags r:id="rId6"/>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20" name="组合 19"/>
          <p:cNvGrpSpPr/>
          <p:nvPr>
            <p:custDataLst>
              <p:tags r:id="rId7"/>
            </p:custDataLst>
          </p:nvPr>
        </p:nvGrpSpPr>
        <p:grpSpPr>
          <a:xfrm>
            <a:off x="5932170" y="2865755"/>
            <a:ext cx="3752850" cy="485140"/>
            <a:chOff x="6155" y="3070"/>
            <a:chExt cx="5936" cy="1140"/>
          </a:xfrm>
        </p:grpSpPr>
        <p:sp>
          <p:nvSpPr>
            <p:cNvPr id="22" name="矩形 21"/>
            <p:cNvSpPr/>
            <p:nvPr>
              <p:custDataLst>
                <p:tags r:id="rId8"/>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03</a:t>
              </a:r>
              <a:endParaRPr lang="en-US" altLang="zh-CN" sz="2400">
                <a:latin typeface="Impact" panose="020B0806030902050204" charset="0"/>
                <a:cs typeface="Impact" panose="020B0806030902050204" charset="0"/>
              </a:endParaRPr>
            </a:p>
          </p:txBody>
        </p:sp>
        <p:sp>
          <p:nvSpPr>
            <p:cNvPr id="23" name="矩形 22"/>
            <p:cNvSpPr/>
            <p:nvPr>
              <p:custDataLst>
                <p:tags r:id="rId9"/>
              </p:custDataLst>
            </p:nvPr>
          </p:nvSpPr>
          <p:spPr>
            <a:xfrm>
              <a:off x="7295" y="3104"/>
              <a:ext cx="4796" cy="1106"/>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24" name="组合 23"/>
          <p:cNvGrpSpPr/>
          <p:nvPr>
            <p:custDataLst>
              <p:tags r:id="rId10"/>
            </p:custDataLst>
          </p:nvPr>
        </p:nvGrpSpPr>
        <p:grpSpPr>
          <a:xfrm>
            <a:off x="5932170" y="3636645"/>
            <a:ext cx="3752850" cy="835660"/>
            <a:chOff x="6155" y="3070"/>
            <a:chExt cx="5818" cy="1140"/>
          </a:xfrm>
        </p:grpSpPr>
        <p:sp>
          <p:nvSpPr>
            <p:cNvPr id="26" name="矩形 25"/>
            <p:cNvSpPr/>
            <p:nvPr>
              <p:custDataLst>
                <p:tags r:id="rId11"/>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04</a:t>
              </a:r>
              <a:endParaRPr lang="en-US" altLang="zh-CN" sz="2400">
                <a:latin typeface="Impact" panose="020B0806030902050204" charset="0"/>
                <a:cs typeface="Impact" panose="020B0806030902050204" charset="0"/>
              </a:endParaRPr>
            </a:p>
          </p:txBody>
        </p:sp>
        <p:sp>
          <p:nvSpPr>
            <p:cNvPr id="35" name="矩形 34"/>
            <p:cNvSpPr/>
            <p:nvPr>
              <p:custDataLst>
                <p:tags r:id="rId12"/>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36" name="组合 35"/>
          <p:cNvGrpSpPr/>
          <p:nvPr>
            <p:custDataLst>
              <p:tags r:id="rId13"/>
            </p:custDataLst>
          </p:nvPr>
        </p:nvGrpSpPr>
        <p:grpSpPr>
          <a:xfrm>
            <a:off x="5944235" y="4758055"/>
            <a:ext cx="3752215" cy="471170"/>
            <a:chOff x="6155" y="3070"/>
            <a:chExt cx="5818" cy="1140"/>
          </a:xfrm>
        </p:grpSpPr>
        <p:sp>
          <p:nvSpPr>
            <p:cNvPr id="37" name="矩形 36"/>
            <p:cNvSpPr/>
            <p:nvPr>
              <p:custDataLst>
                <p:tags r:id="rId14"/>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05</a:t>
              </a:r>
              <a:endParaRPr lang="en-US" altLang="zh-CN" sz="2400">
                <a:latin typeface="Impact" panose="020B0806030902050204" charset="0"/>
                <a:cs typeface="Impact" panose="020B0806030902050204" charset="0"/>
              </a:endParaRPr>
            </a:p>
          </p:txBody>
        </p:sp>
        <p:sp>
          <p:nvSpPr>
            <p:cNvPr id="38" name="矩形 37"/>
            <p:cNvSpPr/>
            <p:nvPr>
              <p:custDataLst>
                <p:tags r:id="rId15"/>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13" name="组合 12"/>
          <p:cNvGrpSpPr/>
          <p:nvPr/>
        </p:nvGrpSpPr>
        <p:grpSpPr>
          <a:xfrm>
            <a:off x="942340" y="878840"/>
            <a:ext cx="2802890" cy="618490"/>
            <a:chOff x="-4413546" y="1548861"/>
            <a:chExt cx="16208484" cy="3574391"/>
          </a:xfrm>
        </p:grpSpPr>
        <p:grpSp>
          <p:nvGrpSpPr>
            <p:cNvPr id="21" name="组合 20"/>
            <p:cNvGrpSpPr/>
            <p:nvPr/>
          </p:nvGrpSpPr>
          <p:grpSpPr>
            <a:xfrm>
              <a:off x="-4413546" y="1548861"/>
              <a:ext cx="3616325" cy="3574391"/>
              <a:chOff x="1393825" y="0"/>
              <a:chExt cx="9720263" cy="9607550"/>
            </a:xfrm>
            <a:solidFill>
              <a:srgbClr val="2159A5"/>
            </a:solidFill>
          </p:grpSpPr>
          <p:sp>
            <p:nvSpPr>
              <p:cNvPr id="25"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2" name="组合 81"/>
            <p:cNvGrpSpPr/>
            <p:nvPr/>
          </p:nvGrpSpPr>
          <p:grpSpPr>
            <a:xfrm>
              <a:off x="-144004" y="1927523"/>
              <a:ext cx="11938942" cy="2817067"/>
              <a:chOff x="-89842" y="1364187"/>
              <a:chExt cx="16362362" cy="3860800"/>
            </a:xfrm>
            <a:solidFill>
              <a:srgbClr val="2159A5"/>
            </a:solidFill>
          </p:grpSpPr>
          <p:sp>
            <p:nvSpPr>
              <p:cNvPr id="8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 name="组合 6"/>
          <p:cNvGrpSpPr/>
          <p:nvPr>
            <p:custDataLst>
              <p:tags r:id="rId16"/>
            </p:custDataLst>
          </p:nvPr>
        </p:nvGrpSpPr>
        <p:grpSpPr>
          <a:xfrm>
            <a:off x="5920740" y="5436870"/>
            <a:ext cx="3752215" cy="471170"/>
            <a:chOff x="6155" y="3070"/>
            <a:chExt cx="5818" cy="1140"/>
          </a:xfrm>
        </p:grpSpPr>
        <p:sp>
          <p:nvSpPr>
            <p:cNvPr id="8" name="矩形 7"/>
            <p:cNvSpPr/>
            <p:nvPr>
              <p:custDataLst>
                <p:tags r:id="rId17"/>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06</a:t>
              </a:r>
              <a:endParaRPr lang="en-US" altLang="zh-CN" sz="2400">
                <a:latin typeface="Impact" panose="020B0806030902050204" charset="0"/>
                <a:cs typeface="Impact" panose="020B0806030902050204" charset="0"/>
              </a:endParaRPr>
            </a:p>
          </p:txBody>
        </p:sp>
        <p:sp>
          <p:nvSpPr>
            <p:cNvPr id="9" name="矩形 8"/>
            <p:cNvSpPr/>
            <p:nvPr>
              <p:custDataLst>
                <p:tags r:id="rId18"/>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sp>
        <p:nvSpPr>
          <p:cNvPr id="10" name="文本框 9"/>
          <p:cNvSpPr txBox="1"/>
          <p:nvPr/>
        </p:nvSpPr>
        <p:spPr>
          <a:xfrm>
            <a:off x="6751320" y="5523230"/>
            <a:ext cx="2030095" cy="385445"/>
          </a:xfrm>
          <a:prstGeom prst="rect">
            <a:avLst/>
          </a:prstGeom>
          <a:noFill/>
        </p:spPr>
        <p:txBody>
          <a:bodyPr wrap="square" rtlCol="0">
            <a:noAutofit/>
          </a:bodyPr>
          <a:lstStyle/>
          <a:p>
            <a:pPr algn="l"/>
            <a:r>
              <a:rPr lang="zh-CN" altLang="en-US" sz="1600">
                <a:solidFill>
                  <a:srgbClr val="2E75B6"/>
                </a:solidFill>
                <a:latin typeface="微软雅黑" panose="020B0503020204020204" charset="-122"/>
                <a:ea typeface="微软雅黑" panose="020B0503020204020204" charset="-122"/>
              </a:rPr>
              <a:t>分布式管理</a:t>
            </a:r>
            <a:endParaRPr lang="zh-CN" altLang="en-US" sz="1600">
              <a:solidFill>
                <a:srgbClr val="2E75B6"/>
              </a:solidFill>
              <a:latin typeface="微软雅黑" panose="020B0503020204020204" charset="-122"/>
              <a:ea typeface="微软雅黑" panose="020B0503020204020204" charset="-122"/>
            </a:endParaRPr>
          </a:p>
        </p:txBody>
      </p:sp>
      <p:grpSp>
        <p:nvGrpSpPr>
          <p:cNvPr id="11" name="组合 10"/>
          <p:cNvGrpSpPr/>
          <p:nvPr>
            <p:custDataLst>
              <p:tags r:id="rId19"/>
            </p:custDataLst>
          </p:nvPr>
        </p:nvGrpSpPr>
        <p:grpSpPr>
          <a:xfrm>
            <a:off x="5923280" y="1459230"/>
            <a:ext cx="3740785" cy="440055"/>
            <a:chOff x="6155" y="3070"/>
            <a:chExt cx="5818" cy="1140"/>
          </a:xfrm>
        </p:grpSpPr>
        <p:sp>
          <p:nvSpPr>
            <p:cNvPr id="12" name="矩形 11"/>
            <p:cNvSpPr/>
            <p:nvPr>
              <p:custDataLst>
                <p:tags r:id="rId20"/>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01</a:t>
              </a:r>
              <a:endParaRPr lang="en-US" altLang="zh-CN" sz="2400">
                <a:latin typeface="Impact" panose="020B0806030902050204" charset="0"/>
                <a:cs typeface="Impact" panose="020B0806030902050204" charset="0"/>
              </a:endParaRPr>
            </a:p>
          </p:txBody>
        </p:sp>
        <p:sp>
          <p:nvSpPr>
            <p:cNvPr id="39" name="矩形 38"/>
            <p:cNvSpPr/>
            <p:nvPr>
              <p:custDataLst>
                <p:tags r:id="rId21"/>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40" name="组合 39"/>
          <p:cNvGrpSpPr/>
          <p:nvPr>
            <p:custDataLst>
              <p:tags r:id="rId22"/>
            </p:custDataLst>
          </p:nvPr>
        </p:nvGrpSpPr>
        <p:grpSpPr>
          <a:xfrm>
            <a:off x="5923280" y="2121535"/>
            <a:ext cx="3740785" cy="588010"/>
            <a:chOff x="6155" y="3070"/>
            <a:chExt cx="5818" cy="1140"/>
          </a:xfrm>
        </p:grpSpPr>
        <p:sp>
          <p:nvSpPr>
            <p:cNvPr id="41" name="矩形 40"/>
            <p:cNvSpPr/>
            <p:nvPr>
              <p:custDataLst>
                <p:tags r:id="rId23"/>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02</a:t>
              </a:r>
              <a:endParaRPr lang="en-US" altLang="zh-CN" sz="2400">
                <a:latin typeface="Impact" panose="020B0806030902050204" charset="0"/>
                <a:cs typeface="Impact" panose="020B0806030902050204" charset="0"/>
              </a:endParaRPr>
            </a:p>
          </p:txBody>
        </p:sp>
        <p:sp>
          <p:nvSpPr>
            <p:cNvPr id="42" name="矩形 41"/>
            <p:cNvSpPr/>
            <p:nvPr>
              <p:custDataLst>
                <p:tags r:id="rId24"/>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124" name="组合 123"/>
          <p:cNvGrpSpPr/>
          <p:nvPr>
            <p:custDataLst>
              <p:tags r:id="rId25"/>
            </p:custDataLst>
          </p:nvPr>
        </p:nvGrpSpPr>
        <p:grpSpPr>
          <a:xfrm>
            <a:off x="5923280" y="2901315"/>
            <a:ext cx="3752850" cy="485140"/>
            <a:chOff x="6155" y="3070"/>
            <a:chExt cx="5936" cy="1140"/>
          </a:xfrm>
        </p:grpSpPr>
        <p:sp>
          <p:nvSpPr>
            <p:cNvPr id="125" name="矩形 124"/>
            <p:cNvSpPr/>
            <p:nvPr>
              <p:custDataLst>
                <p:tags r:id="rId26"/>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03</a:t>
              </a:r>
              <a:endParaRPr lang="en-US" altLang="zh-CN" sz="2400">
                <a:latin typeface="Impact" panose="020B0806030902050204" charset="0"/>
                <a:cs typeface="Impact" panose="020B0806030902050204" charset="0"/>
              </a:endParaRPr>
            </a:p>
          </p:txBody>
        </p:sp>
        <p:sp>
          <p:nvSpPr>
            <p:cNvPr id="126" name="矩形 125"/>
            <p:cNvSpPr/>
            <p:nvPr>
              <p:custDataLst>
                <p:tags r:id="rId27"/>
              </p:custDataLst>
            </p:nvPr>
          </p:nvSpPr>
          <p:spPr>
            <a:xfrm>
              <a:off x="7295" y="3104"/>
              <a:ext cx="4796" cy="1106"/>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127" name="组合 126"/>
          <p:cNvGrpSpPr/>
          <p:nvPr>
            <p:custDataLst>
              <p:tags r:id="rId28"/>
            </p:custDataLst>
          </p:nvPr>
        </p:nvGrpSpPr>
        <p:grpSpPr>
          <a:xfrm>
            <a:off x="5923280" y="3672205"/>
            <a:ext cx="3752850" cy="835660"/>
            <a:chOff x="6155" y="3070"/>
            <a:chExt cx="5818" cy="1140"/>
          </a:xfrm>
        </p:grpSpPr>
        <p:sp>
          <p:nvSpPr>
            <p:cNvPr id="128" name="矩形 127"/>
            <p:cNvSpPr/>
            <p:nvPr>
              <p:custDataLst>
                <p:tags r:id="rId29"/>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04</a:t>
              </a:r>
              <a:endParaRPr lang="en-US" altLang="zh-CN" sz="2400">
                <a:latin typeface="Impact" panose="020B0806030902050204" charset="0"/>
                <a:cs typeface="Impact" panose="020B0806030902050204" charset="0"/>
              </a:endParaRPr>
            </a:p>
          </p:txBody>
        </p:sp>
        <p:sp>
          <p:nvSpPr>
            <p:cNvPr id="129" name="矩形 128"/>
            <p:cNvSpPr/>
            <p:nvPr>
              <p:custDataLst>
                <p:tags r:id="rId30"/>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130" name="组合 129"/>
          <p:cNvGrpSpPr/>
          <p:nvPr>
            <p:custDataLst>
              <p:tags r:id="rId31"/>
            </p:custDataLst>
          </p:nvPr>
        </p:nvGrpSpPr>
        <p:grpSpPr>
          <a:xfrm>
            <a:off x="5923280" y="4793615"/>
            <a:ext cx="3752215" cy="471170"/>
            <a:chOff x="6155" y="3070"/>
            <a:chExt cx="5818" cy="1140"/>
          </a:xfrm>
        </p:grpSpPr>
        <p:sp>
          <p:nvSpPr>
            <p:cNvPr id="131" name="矩形 130"/>
            <p:cNvSpPr/>
            <p:nvPr>
              <p:custDataLst>
                <p:tags r:id="rId32"/>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05</a:t>
              </a:r>
              <a:endParaRPr lang="en-US" altLang="zh-CN" sz="2400">
                <a:latin typeface="Impact" panose="020B0806030902050204" charset="0"/>
                <a:cs typeface="Impact" panose="020B0806030902050204" charset="0"/>
              </a:endParaRPr>
            </a:p>
          </p:txBody>
        </p:sp>
        <p:sp>
          <p:nvSpPr>
            <p:cNvPr id="132" name="矩形 131"/>
            <p:cNvSpPr/>
            <p:nvPr>
              <p:custDataLst>
                <p:tags r:id="rId33"/>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grpSp>
        <p:nvGrpSpPr>
          <p:cNvPr id="133" name="组合 132"/>
          <p:cNvGrpSpPr/>
          <p:nvPr>
            <p:custDataLst>
              <p:tags r:id="rId34"/>
            </p:custDataLst>
          </p:nvPr>
        </p:nvGrpSpPr>
        <p:grpSpPr>
          <a:xfrm>
            <a:off x="5923280" y="5472430"/>
            <a:ext cx="3752215" cy="471170"/>
            <a:chOff x="6155" y="3070"/>
            <a:chExt cx="5818" cy="1140"/>
          </a:xfrm>
        </p:grpSpPr>
        <p:sp>
          <p:nvSpPr>
            <p:cNvPr id="134" name="矩形 133"/>
            <p:cNvSpPr/>
            <p:nvPr>
              <p:custDataLst>
                <p:tags r:id="rId35"/>
              </p:custDataLst>
            </p:nvPr>
          </p:nvSpPr>
          <p:spPr>
            <a:xfrm>
              <a:off x="6155" y="3070"/>
              <a:ext cx="1140" cy="1140"/>
            </a:xfrm>
            <a:prstGeom prst="rect">
              <a:avLst/>
            </a:prstGeom>
            <a:solidFill>
              <a:srgbClr val="2159A5"/>
            </a:solidFill>
            <a:ln>
              <a:solidFill>
                <a:srgbClr val="2159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Impact" panose="020B0806030902050204" charset="0"/>
                  <a:cs typeface="Impact" panose="020B0806030902050204" charset="0"/>
                </a:rPr>
                <a:t>06</a:t>
              </a:r>
              <a:endParaRPr lang="en-US" altLang="zh-CN" sz="2400">
                <a:latin typeface="Impact" panose="020B0806030902050204" charset="0"/>
                <a:cs typeface="Impact" panose="020B0806030902050204" charset="0"/>
              </a:endParaRPr>
            </a:p>
          </p:txBody>
        </p:sp>
        <p:sp>
          <p:nvSpPr>
            <p:cNvPr id="135" name="矩形 134"/>
            <p:cNvSpPr/>
            <p:nvPr>
              <p:custDataLst>
                <p:tags r:id="rId36"/>
              </p:custDataLst>
            </p:nvPr>
          </p:nvSpPr>
          <p:spPr>
            <a:xfrm>
              <a:off x="7295" y="3104"/>
              <a:ext cx="4678" cy="1105"/>
            </a:xfrm>
            <a:prstGeom prst="rect">
              <a:avLst/>
            </a:prstGeom>
            <a:noFill/>
            <a:ln>
              <a:solidFill>
                <a:srgbClr val="2159A5"/>
              </a:solidFill>
            </a:ln>
            <a:extLst>
              <a:ext uri="{909E8E84-426E-40DD-AFC4-6F175D3DCCD1}">
                <a14:hiddenFill xmlns:a14="http://schemas.microsoft.com/office/drawing/2010/main">
                  <a:solidFill>
                    <a:srgbClr val="2E75B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a:latin typeface="+mn-ea"/>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04"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学士帽"/>
          <p:cNvSpPr/>
          <p:nvPr/>
        </p:nvSpPr>
        <p:spPr bwMode="auto">
          <a:xfrm>
            <a:off x="2665095" y="2100580"/>
            <a:ext cx="2811145" cy="1553845"/>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159A5"/>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cxnSp>
        <p:nvCxnSpPr>
          <p:cNvPr id="6" name="直接连接符 5"/>
          <p:cNvCxnSpPr/>
          <p:nvPr/>
        </p:nvCxnSpPr>
        <p:spPr>
          <a:xfrm>
            <a:off x="6066155" y="2218055"/>
            <a:ext cx="0" cy="2420620"/>
          </a:xfrm>
          <a:prstGeom prst="line">
            <a:avLst/>
          </a:prstGeom>
          <a:ln w="25400">
            <a:solidFill>
              <a:srgbClr val="2159A5"/>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396355" y="2059305"/>
            <a:ext cx="1300480" cy="1568450"/>
          </a:xfrm>
          <a:prstGeom prst="rect">
            <a:avLst/>
          </a:prstGeom>
          <a:noFill/>
        </p:spPr>
        <p:txBody>
          <a:bodyPr wrap="none" rtlCol="0" anchor="t">
            <a:spAutoFit/>
          </a:bodyPr>
          <a:lstStyle/>
          <a:p>
            <a:pPr algn="ctr"/>
            <a:r>
              <a:rPr lang="en-US" altLang="zh-CN" sz="9600">
                <a:solidFill>
                  <a:srgbClr val="2159A5"/>
                </a:solidFill>
                <a:latin typeface="Impact" panose="020B0806030902050204" charset="0"/>
                <a:cs typeface="Impact" panose="020B0806030902050204" charset="0"/>
                <a:sym typeface="+mn-ea"/>
              </a:rPr>
              <a:t>01</a:t>
            </a:r>
            <a:endParaRPr lang="en-US" altLang="zh-CN" sz="9600">
              <a:solidFill>
                <a:srgbClr val="2159A5"/>
              </a:solidFill>
              <a:latin typeface="Impact" panose="020B0806030902050204" charset="0"/>
              <a:cs typeface="Impact" panose="020B0806030902050204" charset="0"/>
              <a:sym typeface="+mn-ea"/>
            </a:endParaRPr>
          </a:p>
        </p:txBody>
      </p:sp>
      <p:sp>
        <p:nvSpPr>
          <p:cNvPr id="8" name="文本框 7"/>
          <p:cNvSpPr txBox="1"/>
          <p:nvPr/>
        </p:nvSpPr>
        <p:spPr>
          <a:xfrm>
            <a:off x="6396355" y="3522345"/>
            <a:ext cx="3204845" cy="521970"/>
          </a:xfrm>
          <a:prstGeom prst="rect">
            <a:avLst/>
          </a:prstGeom>
          <a:noFill/>
        </p:spPr>
        <p:txBody>
          <a:bodyPr wrap="square" rtlCol="0">
            <a:spAutoFit/>
          </a:bodyPr>
          <a:lstStyle/>
          <a:p>
            <a:pPr algn="l"/>
            <a:r>
              <a:rPr lang="en-US" altLang="zh-CN" sz="2800">
                <a:solidFill>
                  <a:srgbClr val="2E75B6"/>
                </a:solidFill>
                <a:latin typeface="微软雅黑" panose="020B0503020204020204" charset="-122"/>
                <a:ea typeface="微软雅黑" panose="020B0503020204020204" charset="-122"/>
                <a:sym typeface="+mn-ea"/>
              </a:rPr>
              <a:t>LLM</a:t>
            </a:r>
            <a:r>
              <a:rPr lang="zh-CN" altLang="en-US" sz="2800">
                <a:solidFill>
                  <a:srgbClr val="2E75B6"/>
                </a:solidFill>
                <a:latin typeface="微软雅黑" panose="020B0503020204020204" charset="-122"/>
                <a:ea typeface="微软雅黑" panose="020B0503020204020204" charset="-122"/>
                <a:sym typeface="+mn-ea"/>
              </a:rPr>
              <a:t>推理的两阶段</a:t>
            </a:r>
            <a:endParaRPr lang="zh-CN" altLang="en-US" sz="2800">
              <a:solidFill>
                <a:srgbClr val="2159A5"/>
              </a:solidFill>
              <a:latin typeface="微软雅黑" panose="020B0503020204020204" charset="-122"/>
              <a:ea typeface="微软雅黑" panose="020B0503020204020204" charset="-122"/>
            </a:endParaRPr>
          </a:p>
        </p:txBody>
      </p:sp>
      <p:grpSp>
        <p:nvGrpSpPr>
          <p:cNvPr id="10" name="组合 9"/>
          <p:cNvGrpSpPr/>
          <p:nvPr/>
        </p:nvGrpSpPr>
        <p:grpSpPr>
          <a:xfrm>
            <a:off x="2539365" y="388175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2743200" cy="460375"/>
          </a:xfrm>
          <a:prstGeom prst="rect">
            <a:avLst/>
          </a:prstGeom>
          <a:noFill/>
        </p:spPr>
        <p:txBody>
          <a:bodyPr wrap="square" rtlCol="0">
            <a:spAutoFit/>
          </a:bodyPr>
          <a:lstStyle/>
          <a:p>
            <a:pPr algn="l"/>
            <a:r>
              <a:rPr lang="en-US" altLang="zh-CN" sz="2400">
                <a:solidFill>
                  <a:schemeClr val="bg1"/>
                </a:solidFill>
                <a:latin typeface="微软雅黑" panose="020B0503020204020204" charset="-122"/>
                <a:ea typeface="微软雅黑" panose="020B0503020204020204" charset="-122"/>
                <a:sym typeface="+mn-ea"/>
              </a:rPr>
              <a:t>LLM</a:t>
            </a:r>
            <a:r>
              <a:rPr lang="zh-CN" altLang="en-US" sz="2400">
                <a:solidFill>
                  <a:schemeClr val="bg1"/>
                </a:solidFill>
                <a:latin typeface="微软雅黑" panose="020B0503020204020204" charset="-122"/>
                <a:ea typeface="微软雅黑" panose="020B0503020204020204" charset="-122"/>
                <a:sym typeface="+mn-ea"/>
              </a:rPr>
              <a:t>推理的两阶段</a:t>
            </a:r>
            <a:endParaRPr lang="zh-CN" altLang="en-US" sz="2400">
              <a:solidFill>
                <a:schemeClr val="bg1"/>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a:solidFill>
                  <a:schemeClr val="bg1"/>
                </a:solidFill>
                <a:latin typeface="Impact" panose="020B0806030902050204" charset="0"/>
                <a:cs typeface="Impact" panose="020B0806030902050204" charset="0"/>
                <a:sym typeface="+mn-ea"/>
              </a:rPr>
              <a:t>01</a:t>
            </a:r>
            <a:endParaRPr lang="en-US" altLang="zh-CN" sz="360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798830" y="1457960"/>
            <a:ext cx="1038987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cs typeface="微软雅黑" panose="020B0503020204020204" charset="-122"/>
              </a:rPr>
              <a:t>一个常规的</a:t>
            </a:r>
            <a:r>
              <a:rPr lang="en-US" altLang="zh-CN">
                <a:latin typeface="微软雅黑" panose="020B0503020204020204" charset="-122"/>
                <a:ea typeface="微软雅黑" panose="020B0503020204020204" charset="-122"/>
                <a:cs typeface="微软雅黑" panose="020B0503020204020204" charset="-122"/>
              </a:rPr>
              <a:t>LLM</a:t>
            </a:r>
            <a:r>
              <a:rPr lang="zh-CN" altLang="en-US">
                <a:latin typeface="微软雅黑" panose="020B0503020204020204" charset="-122"/>
                <a:ea typeface="微软雅黑" panose="020B0503020204020204" charset="-122"/>
                <a:cs typeface="微软雅黑" panose="020B0503020204020204" charset="-122"/>
              </a:rPr>
              <a:t>推理过程通常分为两个阶段：</a:t>
            </a:r>
            <a:r>
              <a:rPr lang="en-US" altLang="zh-CN" b="1">
                <a:latin typeface="微软雅黑" panose="020B0503020204020204" charset="-122"/>
                <a:ea typeface="微软雅黑" panose="020B0503020204020204" charset="-122"/>
                <a:cs typeface="微软雅黑" panose="020B0503020204020204" charset="-122"/>
              </a:rPr>
              <a:t>prefill</a:t>
            </a:r>
            <a:r>
              <a:rPr lang="zh-CN" altLang="en-US" b="1">
                <a:latin typeface="微软雅黑" panose="020B0503020204020204" charset="-122"/>
                <a:ea typeface="微软雅黑" panose="020B0503020204020204" charset="-122"/>
                <a:cs typeface="微软雅黑" panose="020B0503020204020204" charset="-122"/>
              </a:rPr>
              <a:t>和</a:t>
            </a:r>
            <a:r>
              <a:rPr lang="en-US" altLang="zh-CN" b="1">
                <a:latin typeface="微软雅黑" panose="020B0503020204020204" charset="-122"/>
                <a:ea typeface="微软雅黑" panose="020B0503020204020204" charset="-122"/>
                <a:cs typeface="微软雅黑" panose="020B0503020204020204" charset="-122"/>
              </a:rPr>
              <a:t>decode</a:t>
            </a:r>
            <a:r>
              <a:rPr lang="zh-CN" altLang="en-US" b="1">
                <a:latin typeface="微软雅黑" panose="020B0503020204020204" charset="-122"/>
                <a:ea typeface="微软雅黑" panose="020B0503020204020204" charset="-122"/>
                <a:cs typeface="微软雅黑" panose="020B0503020204020204" charset="-122"/>
              </a:rPr>
              <a:t>。通常会使用</a:t>
            </a:r>
            <a:r>
              <a:rPr lang="en-US" altLang="zh-CN" b="1">
                <a:latin typeface="微软雅黑" panose="020B0503020204020204" charset="-122"/>
                <a:ea typeface="微软雅黑" panose="020B0503020204020204" charset="-122"/>
                <a:cs typeface="微软雅黑" panose="020B0503020204020204" charset="-122"/>
              </a:rPr>
              <a:t>KV cache</a:t>
            </a:r>
            <a:r>
              <a:rPr lang="zh-CN" altLang="en-US" b="1">
                <a:latin typeface="微软雅黑" panose="020B0503020204020204" charset="-122"/>
                <a:ea typeface="微软雅黑" panose="020B0503020204020204" charset="-122"/>
                <a:cs typeface="微软雅黑" panose="020B0503020204020204" charset="-122"/>
              </a:rPr>
              <a:t>技术加速推理。</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798830" y="2209800"/>
            <a:ext cx="5556250" cy="2824480"/>
          </a:xfrm>
          <a:prstGeom prst="rect">
            <a:avLst/>
          </a:prstGeom>
        </p:spPr>
      </p:pic>
      <p:sp>
        <p:nvSpPr>
          <p:cNvPr id="4" name="文本框 3"/>
          <p:cNvSpPr txBox="1"/>
          <p:nvPr/>
        </p:nvSpPr>
        <p:spPr>
          <a:xfrm>
            <a:off x="6406515" y="2209800"/>
            <a:ext cx="5039995" cy="3138170"/>
          </a:xfrm>
          <a:prstGeom prst="rect">
            <a:avLst/>
          </a:prstGeom>
          <a:noFill/>
        </p:spPr>
        <p:txBody>
          <a:bodyPr wrap="square" rtlCol="0">
            <a:spAutoFit/>
          </a:bodyPr>
          <a:lstStyle/>
          <a:p>
            <a:pPr marL="285750" indent="-285750">
              <a:buFont typeface="Wingdings" panose="05000000000000000000" charset="0"/>
              <a:buChar char="Ø"/>
            </a:pPr>
            <a:r>
              <a:rPr lang="zh-CN" altLang="en-US" b="1" dirty="0"/>
              <a:t>预填充阶段</a:t>
            </a:r>
            <a:r>
              <a:rPr lang="en-US" altLang="zh-CN" b="1" dirty="0"/>
              <a:t>:</a:t>
            </a:r>
            <a:r>
              <a:rPr lang="zh-CN" altLang="en-US" b="1" dirty="0"/>
              <a:t>在这个阶段中，我们把整段</a:t>
            </a:r>
            <a:r>
              <a:rPr lang="en-US" altLang="zh-CN" b="1" dirty="0"/>
              <a:t>prompt</a:t>
            </a:r>
            <a:r>
              <a:rPr lang="zh-CN" altLang="en-US" b="1" dirty="0"/>
              <a:t>输入模型做</a:t>
            </a:r>
            <a:r>
              <a:rPr lang="en-US" altLang="zh-CN" b="1" dirty="0"/>
              <a:t>forward</a:t>
            </a:r>
            <a:r>
              <a:rPr lang="zh-CN" altLang="en-US" b="1" dirty="0"/>
              <a:t>计算</a:t>
            </a:r>
            <a:r>
              <a:rPr lang="zh-CN" altLang="en-US" dirty="0"/>
              <a:t>。如果采用</a:t>
            </a:r>
            <a:r>
              <a:rPr lang="en-US" altLang="zh-CN" dirty="0"/>
              <a:t>KV cache</a:t>
            </a:r>
            <a:r>
              <a:rPr lang="zh-CN" altLang="en-US" dirty="0"/>
              <a:t>技术，在这个阶段中我们会把</a:t>
            </a:r>
            <a:r>
              <a:rPr lang="en-US" altLang="zh-CN" dirty="0"/>
              <a:t>prompt</a:t>
            </a:r>
            <a:r>
              <a:rPr lang="zh-CN" altLang="en-US" dirty="0"/>
              <a:t>经过</a:t>
            </a:r>
            <a:r>
              <a:rPr lang="en-US" altLang="zh-CN" dirty="0" err="1"/>
              <a:t>W</a:t>
            </a:r>
            <a:r>
              <a:rPr lang="en-US" altLang="zh-CN" baseline="-25000" dirty="0" err="1"/>
              <a:t>k</a:t>
            </a:r>
            <a:r>
              <a:rPr lang="en-US" altLang="zh-CN" dirty="0" err="1"/>
              <a:t>,W</a:t>
            </a:r>
            <a:r>
              <a:rPr lang="en-US" altLang="zh-CN" baseline="-25000" dirty="0" err="1"/>
              <a:t>v</a:t>
            </a:r>
            <a:r>
              <a:rPr lang="zh-CN" altLang="en-US" dirty="0"/>
              <a:t>后得到的</a:t>
            </a:r>
            <a:r>
              <a:rPr lang="en-US" altLang="zh-CN" dirty="0" err="1"/>
              <a:t>X</a:t>
            </a:r>
            <a:r>
              <a:rPr lang="en-US" altLang="zh-CN" baseline="-25000" dirty="0" err="1"/>
              <a:t>k</a:t>
            </a:r>
            <a:r>
              <a:rPr lang="en-US" altLang="zh-CN" dirty="0" err="1"/>
              <a:t>,X</a:t>
            </a:r>
            <a:r>
              <a:rPr lang="en-US" altLang="zh-CN" baseline="-25000" dirty="0" err="1"/>
              <a:t>v</a:t>
            </a:r>
            <a:r>
              <a:rPr lang="zh-CN" altLang="en-US" dirty="0"/>
              <a:t>保存在</a:t>
            </a:r>
            <a:r>
              <a:rPr lang="en-US" altLang="zh-CN" dirty="0" err="1"/>
              <a:t>cache_k</a:t>
            </a:r>
            <a:r>
              <a:rPr lang="zh-CN" altLang="en-US" dirty="0"/>
              <a:t>和</a:t>
            </a:r>
            <a:r>
              <a:rPr lang="en-US" altLang="zh-CN" dirty="0" err="1"/>
              <a:t>cache_v</a:t>
            </a:r>
            <a:r>
              <a:rPr lang="zh-CN" altLang="en-US" dirty="0"/>
              <a:t>中。</a:t>
            </a:r>
            <a:endParaRPr lang="zh-CN" altLang="en-US" dirty="0"/>
          </a:p>
          <a:p>
            <a:pPr marL="285750" indent="-285750">
              <a:buFont typeface="Wingdings" panose="05000000000000000000" charset="0"/>
              <a:buChar char="Ø"/>
            </a:pPr>
            <a:r>
              <a:rPr lang="zh-CN" altLang="en-US" b="1" dirty="0"/>
              <a:t>解码阶段</a:t>
            </a:r>
            <a:r>
              <a:rPr lang="zh-CN" altLang="en-US" dirty="0"/>
              <a:t>：这个阶段中，我们根据</a:t>
            </a:r>
            <a:r>
              <a:rPr lang="en-US" altLang="zh-CN" dirty="0"/>
              <a:t>prompt</a:t>
            </a:r>
            <a:r>
              <a:rPr lang="zh-CN" altLang="en-US" dirty="0"/>
              <a:t>的</a:t>
            </a:r>
            <a:r>
              <a:rPr lang="en-US" altLang="zh-CN" dirty="0"/>
              <a:t>prefill</a:t>
            </a:r>
            <a:r>
              <a:rPr lang="zh-CN" altLang="en-US" dirty="0"/>
              <a:t>结果，一个</a:t>
            </a:r>
            <a:r>
              <a:rPr lang="en-US" altLang="zh-CN" dirty="0"/>
              <a:t>token</a:t>
            </a:r>
            <a:r>
              <a:rPr lang="zh-CN" altLang="en-US" dirty="0"/>
              <a:t>一个</a:t>
            </a:r>
            <a:r>
              <a:rPr lang="en-US" altLang="zh-CN" dirty="0"/>
              <a:t>token</a:t>
            </a:r>
            <a:r>
              <a:rPr lang="zh-CN" altLang="en-US" dirty="0"/>
              <a:t>地生成</a:t>
            </a:r>
            <a:r>
              <a:rPr lang="en-US" altLang="zh-CN" dirty="0"/>
              <a:t>response</a:t>
            </a:r>
            <a:r>
              <a:rPr lang="zh-CN" altLang="en-US" dirty="0"/>
              <a:t>。同样，如果采用了</a:t>
            </a:r>
            <a:r>
              <a:rPr lang="en-US" altLang="zh-CN" dirty="0"/>
              <a:t>KV cache</a:t>
            </a:r>
            <a:r>
              <a:rPr lang="zh-CN" altLang="en-US" dirty="0"/>
              <a:t>，则每走完一个</a:t>
            </a:r>
            <a:r>
              <a:rPr lang="en-US" altLang="zh-CN" dirty="0"/>
              <a:t>decode</a:t>
            </a:r>
            <a:r>
              <a:rPr lang="zh-CN" altLang="en-US" dirty="0"/>
              <a:t>过程，我们就把对应</a:t>
            </a:r>
            <a:r>
              <a:rPr lang="en-US" altLang="zh-CN" dirty="0"/>
              <a:t>response token</a:t>
            </a:r>
            <a:r>
              <a:rPr lang="zh-CN" altLang="en-US" dirty="0"/>
              <a:t>的</a:t>
            </a:r>
            <a:r>
              <a:rPr lang="en-US" altLang="zh-CN" dirty="0"/>
              <a:t>KV</a:t>
            </a:r>
            <a:r>
              <a:rPr lang="zh-CN" altLang="en-US" dirty="0"/>
              <a:t>值存入</a:t>
            </a:r>
            <a:r>
              <a:rPr lang="en-US" altLang="zh-CN" dirty="0"/>
              <a:t>cache</a:t>
            </a:r>
            <a:r>
              <a:rPr lang="zh-CN" altLang="en-US" dirty="0"/>
              <a:t>中，以便能加速计算。</a:t>
            </a:r>
            <a:endParaRPr lang="zh-CN" altLang="en-US" dirty="0"/>
          </a:p>
        </p:txBody>
      </p:sp>
      <p:sp>
        <p:nvSpPr>
          <p:cNvPr id="8" name="文本框 7"/>
          <p:cNvSpPr txBox="1"/>
          <p:nvPr/>
        </p:nvSpPr>
        <p:spPr>
          <a:xfrm>
            <a:off x="990600" y="5584190"/>
            <a:ext cx="10389870" cy="92202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cs typeface="微软雅黑" panose="020B0503020204020204" charset="-122"/>
              </a:rPr>
              <a:t>从上述过程中，我们可以发现使用</a:t>
            </a:r>
            <a:r>
              <a:rPr lang="en-US" altLang="zh-CN">
                <a:latin typeface="微软雅黑" panose="020B0503020204020204" charset="-122"/>
                <a:ea typeface="微软雅黑" panose="020B0503020204020204" charset="-122"/>
                <a:cs typeface="微软雅黑" panose="020B0503020204020204" charset="-122"/>
              </a:rPr>
              <a:t>KV cache</a:t>
            </a:r>
            <a:r>
              <a:rPr lang="zh-CN" altLang="en-US">
                <a:latin typeface="微软雅黑" panose="020B0503020204020204" charset="-122"/>
                <a:ea typeface="微软雅黑" panose="020B0503020204020204" charset="-122"/>
                <a:cs typeface="微软雅黑" panose="020B0503020204020204" charset="-122"/>
              </a:rPr>
              <a:t>做推理时的一些特点：</a:t>
            </a:r>
            <a:endParaRPr lang="en-US" altLang="zh-CN" b="1">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b="1">
                <a:latin typeface="微软雅黑" panose="020B0503020204020204" charset="-122"/>
                <a:ea typeface="微软雅黑" panose="020B0503020204020204" charset="-122"/>
                <a:cs typeface="微软雅黑" panose="020B0503020204020204" charset="-122"/>
              </a:rPr>
              <a:t>随着</a:t>
            </a:r>
            <a:r>
              <a:rPr lang="en-US" altLang="zh-CN" b="1">
                <a:latin typeface="微软雅黑" panose="020B0503020204020204" charset="-122"/>
                <a:ea typeface="微软雅黑" panose="020B0503020204020204" charset="-122"/>
                <a:cs typeface="微软雅黑" panose="020B0503020204020204" charset="-122"/>
              </a:rPr>
              <a:t>prompt</a:t>
            </a:r>
            <a:r>
              <a:rPr lang="zh-CN" altLang="en-US" b="1">
                <a:latin typeface="微软雅黑" panose="020B0503020204020204" charset="-122"/>
                <a:ea typeface="微软雅黑" panose="020B0503020204020204" charset="-122"/>
                <a:cs typeface="微软雅黑" panose="020B0503020204020204" charset="-122"/>
              </a:rPr>
              <a:t>数量变多和序列变长，</a:t>
            </a:r>
            <a:r>
              <a:rPr lang="en-US" altLang="zh-CN" b="1">
                <a:latin typeface="微软雅黑" panose="020B0503020204020204" charset="-122"/>
                <a:ea typeface="微软雅黑" panose="020B0503020204020204" charset="-122"/>
                <a:cs typeface="微软雅黑" panose="020B0503020204020204" charset="-122"/>
              </a:rPr>
              <a:t>KV cache</a:t>
            </a:r>
            <a:r>
              <a:rPr lang="zh-CN" altLang="en-US" b="1">
                <a:latin typeface="微软雅黑" panose="020B0503020204020204" charset="-122"/>
                <a:ea typeface="微软雅黑" panose="020B0503020204020204" charset="-122"/>
                <a:cs typeface="微软雅黑" panose="020B0503020204020204" charset="-122"/>
              </a:rPr>
              <a:t>也变大，对</a:t>
            </a:r>
            <a:r>
              <a:rPr lang="en-US" altLang="zh-CN" b="1">
                <a:latin typeface="微软雅黑" panose="020B0503020204020204" charset="-122"/>
                <a:ea typeface="微软雅黑" panose="020B0503020204020204" charset="-122"/>
                <a:cs typeface="微软雅黑" panose="020B0503020204020204" charset="-122"/>
              </a:rPr>
              <a:t>gpu</a:t>
            </a:r>
            <a:r>
              <a:rPr lang="zh-CN" altLang="en-US" b="1">
                <a:latin typeface="微软雅黑" panose="020B0503020204020204" charset="-122"/>
                <a:ea typeface="微软雅黑" panose="020B0503020204020204" charset="-122"/>
                <a:cs typeface="微软雅黑" panose="020B0503020204020204" charset="-122"/>
              </a:rPr>
              <a:t>显存造成压力</a:t>
            </a:r>
            <a:endParaRPr lang="zh-CN" altLang="en-US" b="1">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b="1">
                <a:latin typeface="微软雅黑" panose="020B0503020204020204" charset="-122"/>
                <a:ea typeface="微软雅黑" panose="020B0503020204020204" charset="-122"/>
                <a:cs typeface="微软雅黑" panose="020B0503020204020204" charset="-122"/>
              </a:rPr>
              <a:t>由于输出的序列长度无法预先知道，所以我们很难提前为</a:t>
            </a:r>
            <a:r>
              <a:rPr lang="en-US" altLang="zh-CN" b="1">
                <a:latin typeface="微软雅黑" panose="020B0503020204020204" charset="-122"/>
                <a:ea typeface="微软雅黑" panose="020B0503020204020204" charset="-122"/>
                <a:cs typeface="微软雅黑" panose="020B0503020204020204" charset="-122"/>
              </a:rPr>
              <a:t>KV cache</a:t>
            </a:r>
            <a:r>
              <a:rPr lang="zh-CN" altLang="en-US" b="1">
                <a:latin typeface="微软雅黑" panose="020B0503020204020204" charset="-122"/>
                <a:ea typeface="微软雅黑" panose="020B0503020204020204" charset="-122"/>
                <a:cs typeface="微软雅黑" panose="020B0503020204020204" charset="-122"/>
              </a:rPr>
              <a:t>量身定制存储空间</a:t>
            </a:r>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2743200" cy="460375"/>
          </a:xfrm>
          <a:prstGeom prst="rect">
            <a:avLst/>
          </a:prstGeom>
          <a:noFill/>
        </p:spPr>
        <p:txBody>
          <a:bodyPr wrap="square" rtlCol="0">
            <a:spAutoFit/>
          </a:bodyPr>
          <a:lstStyle/>
          <a:p>
            <a:pPr algn="l"/>
            <a:r>
              <a:rPr lang="en-US" altLang="zh-CN" sz="2400">
                <a:solidFill>
                  <a:schemeClr val="bg1"/>
                </a:solidFill>
                <a:latin typeface="微软雅黑" panose="020B0503020204020204" charset="-122"/>
                <a:ea typeface="微软雅黑" panose="020B0503020204020204" charset="-122"/>
                <a:sym typeface="+mn-ea"/>
              </a:rPr>
              <a:t>LLM</a:t>
            </a:r>
            <a:r>
              <a:rPr lang="zh-CN" altLang="en-US" sz="2400">
                <a:solidFill>
                  <a:schemeClr val="bg1"/>
                </a:solidFill>
                <a:latin typeface="微软雅黑" panose="020B0503020204020204" charset="-122"/>
                <a:ea typeface="微软雅黑" panose="020B0503020204020204" charset="-122"/>
                <a:sym typeface="+mn-ea"/>
              </a:rPr>
              <a:t>推理的两阶段</a:t>
            </a:r>
            <a:endParaRPr lang="zh-CN" altLang="en-US" sz="2400">
              <a:solidFill>
                <a:schemeClr val="bg1"/>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a:solidFill>
                  <a:schemeClr val="bg1"/>
                </a:solidFill>
                <a:latin typeface="Impact" panose="020B0806030902050204" charset="0"/>
                <a:cs typeface="Impact" panose="020B0806030902050204" charset="0"/>
                <a:sym typeface="+mn-ea"/>
              </a:rPr>
              <a:t>01</a:t>
            </a:r>
            <a:endParaRPr lang="en-US" altLang="zh-CN" sz="360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169670" y="1457960"/>
            <a:ext cx="10389870" cy="36830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cs typeface="微软雅黑" panose="020B0503020204020204" charset="-122"/>
              </a:rPr>
              <a:t>如何优化</a:t>
            </a:r>
            <a:r>
              <a:rPr lang="en-US" altLang="zh-CN" b="1">
                <a:latin typeface="微软雅黑" panose="020B0503020204020204" charset="-122"/>
                <a:ea typeface="微软雅黑" panose="020B0503020204020204" charset="-122"/>
                <a:cs typeface="微软雅黑" panose="020B0503020204020204" charset="-122"/>
              </a:rPr>
              <a:t>KV cache</a:t>
            </a:r>
            <a:r>
              <a:rPr lang="zh-CN" altLang="en-US" b="1">
                <a:latin typeface="微软雅黑" panose="020B0503020204020204" charset="-122"/>
                <a:ea typeface="微软雅黑" panose="020B0503020204020204" charset="-122"/>
                <a:cs typeface="微软雅黑" panose="020B0503020204020204" charset="-122"/>
              </a:rPr>
              <a:t>，节省显存，提高推理吞吐量，就成了</a:t>
            </a:r>
            <a:r>
              <a:rPr lang="en-US" altLang="zh-CN" b="1">
                <a:latin typeface="微软雅黑" panose="020B0503020204020204" charset="-122"/>
                <a:ea typeface="微软雅黑" panose="020B0503020204020204" charset="-122"/>
                <a:cs typeface="微软雅黑" panose="020B0503020204020204" charset="-122"/>
              </a:rPr>
              <a:t>LLM</a:t>
            </a:r>
            <a:r>
              <a:rPr lang="zh-CN" altLang="en-US" b="1">
                <a:latin typeface="微软雅黑" panose="020B0503020204020204" charset="-122"/>
                <a:ea typeface="微软雅黑" panose="020B0503020204020204" charset="-122"/>
                <a:cs typeface="微软雅黑" panose="020B0503020204020204" charset="-122"/>
              </a:rPr>
              <a:t>推理框架需要解决的重点问题。</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3458845" y="2221865"/>
            <a:ext cx="4495800" cy="40614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04"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学士帽"/>
          <p:cNvSpPr/>
          <p:nvPr/>
        </p:nvSpPr>
        <p:spPr bwMode="auto">
          <a:xfrm>
            <a:off x="2665095" y="2100580"/>
            <a:ext cx="2811145" cy="1553845"/>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159A5"/>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cxnSp>
        <p:nvCxnSpPr>
          <p:cNvPr id="6" name="直接连接符 5"/>
          <p:cNvCxnSpPr/>
          <p:nvPr/>
        </p:nvCxnSpPr>
        <p:spPr>
          <a:xfrm>
            <a:off x="6066155" y="2218055"/>
            <a:ext cx="0" cy="2420620"/>
          </a:xfrm>
          <a:prstGeom prst="line">
            <a:avLst/>
          </a:prstGeom>
          <a:ln w="25400">
            <a:solidFill>
              <a:srgbClr val="2159A5"/>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322378" y="2059305"/>
            <a:ext cx="1448435" cy="1568450"/>
          </a:xfrm>
          <a:prstGeom prst="rect">
            <a:avLst/>
          </a:prstGeom>
          <a:noFill/>
        </p:spPr>
        <p:txBody>
          <a:bodyPr wrap="none" rtlCol="0" anchor="t">
            <a:spAutoFit/>
          </a:bodyPr>
          <a:lstStyle/>
          <a:p>
            <a:pPr algn="ctr"/>
            <a:r>
              <a:rPr lang="en-US" altLang="zh-CN" sz="9600">
                <a:solidFill>
                  <a:srgbClr val="2159A5"/>
                </a:solidFill>
                <a:latin typeface="Impact" panose="020B0806030902050204" charset="0"/>
                <a:cs typeface="Impact" panose="020B0806030902050204" charset="0"/>
                <a:sym typeface="+mn-ea"/>
              </a:rPr>
              <a:t>02</a:t>
            </a:r>
            <a:endParaRPr lang="en-US" altLang="zh-CN" sz="9600">
              <a:solidFill>
                <a:srgbClr val="2159A5"/>
              </a:solidFill>
              <a:latin typeface="Impact" panose="020B0806030902050204" charset="0"/>
              <a:cs typeface="Impact" panose="020B0806030902050204" charset="0"/>
              <a:sym typeface="+mn-ea"/>
            </a:endParaRPr>
          </a:p>
        </p:txBody>
      </p:sp>
      <p:sp>
        <p:nvSpPr>
          <p:cNvPr id="8" name="文本框 7"/>
          <p:cNvSpPr txBox="1"/>
          <p:nvPr/>
        </p:nvSpPr>
        <p:spPr>
          <a:xfrm>
            <a:off x="6396355" y="3522345"/>
            <a:ext cx="3204845" cy="953135"/>
          </a:xfrm>
          <a:prstGeom prst="rect">
            <a:avLst/>
          </a:prstGeom>
          <a:noFill/>
        </p:spPr>
        <p:txBody>
          <a:bodyPr wrap="square" rtlCol="0">
            <a:spAutoFit/>
          </a:bodyPr>
          <a:lstStyle/>
          <a:p>
            <a:pPr algn="l"/>
            <a:r>
              <a:rPr lang="zh-CN" altLang="en-US" sz="2800">
                <a:solidFill>
                  <a:srgbClr val="2159A5"/>
                </a:solidFill>
                <a:latin typeface="微软雅黑" panose="020B0503020204020204" charset="-122"/>
                <a:ea typeface="微软雅黑" panose="020B0503020204020204" charset="-122"/>
              </a:rPr>
              <a:t>为</a:t>
            </a:r>
            <a:r>
              <a:rPr lang="en-US" altLang="zh-CN" sz="2800">
                <a:solidFill>
                  <a:srgbClr val="2159A5"/>
                </a:solidFill>
                <a:latin typeface="微软雅黑" panose="020B0503020204020204" charset="-122"/>
                <a:ea typeface="微软雅黑" panose="020B0503020204020204" charset="-122"/>
              </a:rPr>
              <a:t>KV cache</a:t>
            </a:r>
            <a:r>
              <a:rPr lang="zh-CN" altLang="en-US" sz="2800">
                <a:solidFill>
                  <a:srgbClr val="2159A5"/>
                </a:solidFill>
                <a:latin typeface="微软雅黑" panose="020B0503020204020204" charset="-122"/>
                <a:ea typeface="微软雅黑" panose="020B0503020204020204" charset="-122"/>
              </a:rPr>
              <a:t>分配存储空间的常规方式</a:t>
            </a:r>
            <a:endParaRPr lang="zh-CN" altLang="en-US" sz="2800">
              <a:solidFill>
                <a:srgbClr val="2159A5"/>
              </a:solidFill>
              <a:latin typeface="微软雅黑" panose="020B0503020204020204" charset="-122"/>
              <a:ea typeface="微软雅黑" panose="020B0503020204020204" charset="-122"/>
            </a:endParaRPr>
          </a:p>
        </p:txBody>
      </p:sp>
      <p:grpSp>
        <p:nvGrpSpPr>
          <p:cNvPr id="10" name="组合 9"/>
          <p:cNvGrpSpPr/>
          <p:nvPr/>
        </p:nvGrpSpPr>
        <p:grpSpPr>
          <a:xfrm>
            <a:off x="2539365" y="388175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5482590" cy="460375"/>
          </a:xfrm>
          <a:prstGeom prst="rect">
            <a:avLst/>
          </a:prstGeom>
          <a:noFill/>
        </p:spPr>
        <p:txBody>
          <a:bodyPr wrap="square" rtlCol="0">
            <a:spAutoFit/>
          </a:bodyPr>
          <a:lstStyle/>
          <a:p>
            <a:pPr algn="l"/>
            <a:r>
              <a:rPr lang="zh-CN" altLang="en-US" sz="2400">
                <a:solidFill>
                  <a:schemeClr val="bg1"/>
                </a:solidFill>
                <a:latin typeface="微软雅黑" panose="020B0503020204020204" charset="-122"/>
                <a:ea typeface="微软雅黑" panose="020B0503020204020204" charset="-122"/>
                <a:sym typeface="+mn-ea"/>
              </a:rPr>
              <a:t>为</a:t>
            </a:r>
            <a:r>
              <a:rPr lang="en-US" altLang="zh-CN" sz="2400">
                <a:solidFill>
                  <a:schemeClr val="bg1"/>
                </a:solidFill>
                <a:latin typeface="微软雅黑" panose="020B0503020204020204" charset="-122"/>
                <a:ea typeface="微软雅黑" panose="020B0503020204020204" charset="-122"/>
                <a:sym typeface="+mn-ea"/>
              </a:rPr>
              <a:t>KV cache</a:t>
            </a:r>
            <a:r>
              <a:rPr lang="zh-CN" altLang="en-US" sz="2400">
                <a:solidFill>
                  <a:schemeClr val="bg1"/>
                </a:solidFill>
                <a:latin typeface="微软雅黑" panose="020B0503020204020204" charset="-122"/>
                <a:ea typeface="微软雅黑" panose="020B0503020204020204" charset="-122"/>
                <a:sym typeface="+mn-ea"/>
              </a:rPr>
              <a:t>分配存储空间的常规方式</a:t>
            </a:r>
            <a:endParaRPr lang="zh-CN" altLang="en-US" sz="2400">
              <a:solidFill>
                <a:schemeClr val="bg1"/>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a:solidFill>
                  <a:schemeClr val="bg1"/>
                </a:solidFill>
                <a:latin typeface="Impact" panose="020B0806030902050204" charset="0"/>
                <a:cs typeface="Impact" panose="020B0806030902050204" charset="0"/>
                <a:sym typeface="+mn-ea"/>
              </a:rPr>
              <a:t>02</a:t>
            </a:r>
            <a:endParaRPr lang="en-US" altLang="zh-CN" sz="360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6340475" y="1623060"/>
            <a:ext cx="5379085" cy="3969385"/>
          </a:xfrm>
          <a:prstGeom prst="rect">
            <a:avLst/>
          </a:prstGeom>
          <a:noFill/>
        </p:spPr>
        <p:txBody>
          <a:bodyPr wrap="square" rtlCol="0">
            <a:spAutoFit/>
          </a:bodyPr>
          <a:lstStyle/>
          <a:p>
            <a:pPr marL="285750" indent="-285750">
              <a:buFont typeface="Wingdings" panose="05000000000000000000" charset="0"/>
              <a:buChar char="Ø"/>
            </a:pPr>
            <a:r>
              <a:rPr lang="zh-CN" altLang="en-US" dirty="0"/>
              <a:t>对于训练好的模型，一种常用的部署方式是将其打包成一个推理服务（</a:t>
            </a:r>
            <a:r>
              <a:rPr lang="en-US" altLang="zh-CN" dirty="0"/>
              <a:t>server</a:t>
            </a:r>
            <a:r>
              <a:rPr lang="zh-CN" altLang="en-US" dirty="0"/>
              <a:t>），它接收客户端发送来的请求（</a:t>
            </a:r>
            <a:r>
              <a:rPr lang="en-US" altLang="zh-CN" dirty="0"/>
              <a:t>request</a:t>
            </a:r>
            <a:r>
              <a:rPr lang="zh-CN" altLang="en-US" dirty="0"/>
              <a:t>），读取请求中的数据（</a:t>
            </a:r>
            <a:r>
              <a:rPr lang="en-US" altLang="zh-CN" dirty="0"/>
              <a:t>prompt</a:t>
            </a:r>
            <a:r>
              <a:rPr lang="zh-CN" altLang="en-US" dirty="0"/>
              <a:t>）来做推理。一个请求中可以只有</a:t>
            </a:r>
            <a:r>
              <a:rPr lang="en-US" altLang="zh-CN" dirty="0"/>
              <a:t>1</a:t>
            </a:r>
            <a:r>
              <a:rPr lang="zh-CN" altLang="en-US" dirty="0"/>
              <a:t>个</a:t>
            </a:r>
            <a:r>
              <a:rPr lang="en-US" altLang="zh-CN" dirty="0"/>
              <a:t>prompt</a:t>
            </a:r>
            <a:r>
              <a:rPr lang="zh-CN" altLang="en-US" dirty="0"/>
              <a:t>，也可以包含多个</a:t>
            </a:r>
            <a:r>
              <a:rPr lang="en-US" altLang="zh-CN" dirty="0"/>
              <a:t>prompt</a:t>
            </a:r>
            <a:r>
              <a:rPr lang="zh-CN" altLang="en-US" dirty="0"/>
              <a:t>。</a:t>
            </a:r>
            <a:endParaRPr lang="zh-CN" altLang="en-US" dirty="0"/>
          </a:p>
          <a:p>
            <a:pPr marL="285750" indent="-285750">
              <a:buFont typeface="Wingdings" panose="05000000000000000000" charset="0"/>
              <a:buChar char="Ø"/>
            </a:pPr>
            <a:r>
              <a:rPr lang="zh-CN" altLang="en-US" dirty="0"/>
              <a:t>在常规的推理框架中，当我们的服务接收到一条请求时，它会为这条请求中的</a:t>
            </a:r>
            <a:r>
              <a:rPr lang="en-US" altLang="zh-CN" dirty="0"/>
              <a:t>prompts</a:t>
            </a:r>
            <a:r>
              <a:rPr lang="zh-CN" altLang="en-US" dirty="0"/>
              <a:t>分配</a:t>
            </a:r>
            <a:r>
              <a:rPr lang="en-US" altLang="zh-CN" dirty="0" err="1"/>
              <a:t>gpu</a:t>
            </a:r>
            <a:r>
              <a:rPr lang="zh-CN" altLang="en-US" dirty="0"/>
              <a:t>显存空间，其中就包括对</a:t>
            </a:r>
            <a:r>
              <a:rPr lang="en-US" altLang="zh-CN" dirty="0"/>
              <a:t>KV cache</a:t>
            </a:r>
            <a:r>
              <a:rPr lang="zh-CN" altLang="en-US" dirty="0"/>
              <a:t>的分配。由于推理所生成的序列长度大小是无法事先预知的，所以大部分框架会按照</a:t>
            </a:r>
            <a:r>
              <a:rPr lang="en-US" altLang="zh-CN" dirty="0"/>
              <a:t>(</a:t>
            </a:r>
            <a:r>
              <a:rPr lang="en-US" altLang="zh-CN" dirty="0" err="1"/>
              <a:t>batch_size</a:t>
            </a:r>
            <a:r>
              <a:rPr lang="en-US" altLang="zh-CN" dirty="0"/>
              <a:t>, </a:t>
            </a:r>
            <a:r>
              <a:rPr lang="en-US" altLang="zh-CN" dirty="0" err="1"/>
              <a:t>max_seq_len</a:t>
            </a:r>
            <a:r>
              <a:rPr lang="en-US" altLang="zh-CN" dirty="0"/>
              <a:t>)</a:t>
            </a:r>
            <a:r>
              <a:rPr lang="zh-CN" altLang="en-US" dirty="0"/>
              <a:t>这样的固定尺寸，在</a:t>
            </a:r>
            <a:r>
              <a:rPr lang="en-US" altLang="zh-CN" dirty="0" err="1"/>
              <a:t>gpu</a:t>
            </a:r>
            <a:r>
              <a:rPr lang="zh-CN" altLang="en-US" dirty="0"/>
              <a:t>显存上预先为一条请求开辟一块连续的矩形存储空间。</a:t>
            </a:r>
            <a:r>
              <a:rPr lang="zh-CN" altLang="en-US" b="1" dirty="0"/>
              <a:t>然而，这样的分配方法很容易引起</a:t>
            </a:r>
            <a:r>
              <a:rPr lang="en-US" altLang="zh-CN" b="1" dirty="0"/>
              <a:t>“</a:t>
            </a:r>
            <a:r>
              <a:rPr lang="en-US" altLang="zh-CN" b="1" dirty="0" err="1"/>
              <a:t>gpu</a:t>
            </a:r>
            <a:r>
              <a:rPr lang="zh-CN" altLang="en-US" b="1" dirty="0"/>
              <a:t>显存利用不足</a:t>
            </a:r>
            <a:r>
              <a:rPr lang="en-US" altLang="zh-CN" b="1" dirty="0"/>
              <a:t>”</a:t>
            </a:r>
            <a:r>
              <a:rPr lang="zh-CN" altLang="en-US" b="1" dirty="0"/>
              <a:t>的问题，进而影响模型推理时的吞吐量。</a:t>
            </a:r>
            <a:endParaRPr lang="zh-CN" altLang="en-US" b="1" dirty="0"/>
          </a:p>
        </p:txBody>
      </p:sp>
      <p:pic>
        <p:nvPicPr>
          <p:cNvPr id="9" name="图片 8"/>
          <p:cNvPicPr>
            <a:picLocks noChangeAspect="1"/>
          </p:cNvPicPr>
          <p:nvPr/>
        </p:nvPicPr>
        <p:blipFill>
          <a:blip r:embed="rId1"/>
          <a:stretch>
            <a:fillRect/>
          </a:stretch>
        </p:blipFill>
        <p:spPr>
          <a:xfrm>
            <a:off x="295275" y="2075180"/>
            <a:ext cx="5915660" cy="2707640"/>
          </a:xfrm>
          <a:prstGeom prst="rect">
            <a:avLst/>
          </a:prstGeom>
        </p:spPr>
      </p:pic>
      <p:sp>
        <p:nvSpPr>
          <p:cNvPr id="10" name="文本框 9"/>
          <p:cNvSpPr txBox="1"/>
          <p:nvPr/>
        </p:nvSpPr>
        <p:spPr>
          <a:xfrm>
            <a:off x="1096645" y="5831205"/>
            <a:ext cx="10389870" cy="64516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cs typeface="微软雅黑" panose="020B0503020204020204" charset="-122"/>
              </a:rPr>
              <a:t>为什么不能做得更动态化一些，即</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用多少占多少</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呢？这样我们就能减少上述这些存储碎片，使得每一时刻推理服务能处理的请求更多，提高吞吐量</a:t>
            </a:r>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04"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学士帽"/>
          <p:cNvSpPr/>
          <p:nvPr/>
        </p:nvSpPr>
        <p:spPr bwMode="auto">
          <a:xfrm>
            <a:off x="2665095" y="2100580"/>
            <a:ext cx="2811145" cy="1553845"/>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159A5"/>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cxnSp>
        <p:nvCxnSpPr>
          <p:cNvPr id="6" name="直接连接符 5"/>
          <p:cNvCxnSpPr/>
          <p:nvPr/>
        </p:nvCxnSpPr>
        <p:spPr>
          <a:xfrm>
            <a:off x="6066155" y="2218055"/>
            <a:ext cx="0" cy="2420620"/>
          </a:xfrm>
          <a:prstGeom prst="line">
            <a:avLst/>
          </a:prstGeom>
          <a:ln w="25400">
            <a:solidFill>
              <a:srgbClr val="2159A5"/>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305233" y="2059305"/>
            <a:ext cx="1482725" cy="1568450"/>
          </a:xfrm>
          <a:prstGeom prst="rect">
            <a:avLst/>
          </a:prstGeom>
          <a:noFill/>
        </p:spPr>
        <p:txBody>
          <a:bodyPr wrap="none" rtlCol="0" anchor="t">
            <a:spAutoFit/>
          </a:bodyPr>
          <a:lstStyle/>
          <a:p>
            <a:pPr algn="ctr"/>
            <a:r>
              <a:rPr lang="en-US" altLang="zh-CN" sz="9600">
                <a:solidFill>
                  <a:srgbClr val="2159A5"/>
                </a:solidFill>
                <a:latin typeface="Impact" panose="020B0806030902050204" charset="0"/>
                <a:cs typeface="Impact" panose="020B0806030902050204" charset="0"/>
                <a:sym typeface="+mn-ea"/>
              </a:rPr>
              <a:t>03</a:t>
            </a:r>
            <a:endParaRPr lang="en-US" altLang="zh-CN" sz="9600">
              <a:solidFill>
                <a:srgbClr val="2159A5"/>
              </a:solidFill>
              <a:latin typeface="Impact" panose="020B0806030902050204" charset="0"/>
              <a:cs typeface="Impact" panose="020B0806030902050204" charset="0"/>
              <a:sym typeface="+mn-ea"/>
            </a:endParaRPr>
          </a:p>
        </p:txBody>
      </p:sp>
      <p:sp>
        <p:nvSpPr>
          <p:cNvPr id="8" name="文本框 7"/>
          <p:cNvSpPr txBox="1"/>
          <p:nvPr/>
        </p:nvSpPr>
        <p:spPr>
          <a:xfrm>
            <a:off x="6396355" y="3798570"/>
            <a:ext cx="3688080" cy="521970"/>
          </a:xfrm>
          <a:prstGeom prst="rect">
            <a:avLst/>
          </a:prstGeom>
          <a:noFill/>
        </p:spPr>
        <p:txBody>
          <a:bodyPr wrap="square" rtlCol="0">
            <a:spAutoFit/>
          </a:bodyPr>
          <a:lstStyle/>
          <a:p>
            <a:pPr algn="l"/>
            <a:r>
              <a:rPr lang="en-US" altLang="zh-CN" sz="2800">
                <a:solidFill>
                  <a:srgbClr val="2159A5"/>
                </a:solidFill>
                <a:latin typeface="微软雅黑" panose="020B0503020204020204" charset="-122"/>
                <a:ea typeface="微软雅黑" panose="020B0503020204020204" charset="-122"/>
              </a:rPr>
              <a:t>PagedAttention</a:t>
            </a:r>
            <a:r>
              <a:rPr lang="zh-CN" altLang="en-US" sz="2800">
                <a:solidFill>
                  <a:srgbClr val="2159A5"/>
                </a:solidFill>
                <a:latin typeface="微软雅黑" panose="020B0503020204020204" charset="-122"/>
                <a:ea typeface="微软雅黑" panose="020B0503020204020204" charset="-122"/>
              </a:rPr>
              <a:t>原理</a:t>
            </a:r>
            <a:endParaRPr lang="zh-CN" altLang="en-US" sz="2800">
              <a:solidFill>
                <a:srgbClr val="2159A5"/>
              </a:solidFill>
              <a:latin typeface="微软雅黑" panose="020B0503020204020204" charset="-122"/>
              <a:ea typeface="微软雅黑" panose="020B0503020204020204" charset="-122"/>
            </a:endParaRPr>
          </a:p>
        </p:txBody>
      </p:sp>
      <p:grpSp>
        <p:nvGrpSpPr>
          <p:cNvPr id="10" name="组合 9"/>
          <p:cNvGrpSpPr/>
          <p:nvPr/>
        </p:nvGrpSpPr>
        <p:grpSpPr>
          <a:xfrm>
            <a:off x="2539365" y="388175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3236595" cy="460375"/>
          </a:xfrm>
          <a:prstGeom prst="rect">
            <a:avLst/>
          </a:prstGeom>
          <a:noFill/>
        </p:spPr>
        <p:txBody>
          <a:bodyPr wrap="square" rtlCol="0">
            <a:spAutoFit/>
          </a:bodyPr>
          <a:lstStyle/>
          <a:p>
            <a:pPr algn="l"/>
            <a:r>
              <a:rPr lang="en-US" altLang="zh-CN" sz="2400" b="1">
                <a:solidFill>
                  <a:schemeClr val="bg1"/>
                </a:solidFill>
                <a:latin typeface="微软雅黑" panose="020B0503020204020204" charset="-122"/>
                <a:ea typeface="微软雅黑" panose="020B0503020204020204" charset="-122"/>
                <a:sym typeface="+mn-ea"/>
              </a:rPr>
              <a:t>PagedAttention</a:t>
            </a:r>
            <a:r>
              <a:rPr lang="zh-CN" altLang="en-US" sz="2400" b="1">
                <a:solidFill>
                  <a:schemeClr val="bg1"/>
                </a:solidFill>
                <a:latin typeface="微软雅黑" panose="020B0503020204020204" charset="-122"/>
                <a:ea typeface="微软雅黑" panose="020B0503020204020204" charset="-122"/>
                <a:sym typeface="+mn-ea"/>
              </a:rPr>
              <a:t>原理</a:t>
            </a:r>
            <a:r>
              <a:rPr lang="en-US" altLang="zh-CN" sz="2400" b="1">
                <a:solidFill>
                  <a:schemeClr val="bg1"/>
                </a:solidFill>
                <a:latin typeface="微软雅黑" panose="020B0503020204020204" charset="-122"/>
                <a:ea typeface="微软雅黑" panose="020B0503020204020204" charset="-122"/>
                <a:sym typeface="+mn-ea"/>
              </a:rPr>
              <a:t> </a:t>
            </a:r>
            <a:endParaRPr lang="en-US" altLang="zh-CN" sz="2400" b="1">
              <a:solidFill>
                <a:schemeClr val="bg1"/>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a:solidFill>
                  <a:schemeClr val="bg1"/>
                </a:solidFill>
                <a:latin typeface="Impact" panose="020B0806030902050204" charset="0"/>
                <a:cs typeface="Impact" panose="020B0806030902050204" charset="0"/>
                <a:sym typeface="+mn-ea"/>
              </a:rPr>
              <a:t>03</a:t>
            </a:r>
            <a:endParaRPr lang="en-US" altLang="zh-CN" sz="360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096645" y="1189355"/>
            <a:ext cx="10097770" cy="2112010"/>
          </a:xfrm>
          <a:prstGeom prst="rect">
            <a:avLst/>
          </a:prstGeom>
        </p:spPr>
        <p:txBody>
          <a:bodyPr wrap="square">
            <a:spAutoFit/>
          </a:bodyPr>
          <a:p>
            <a:pPr marL="0" indent="457200" algn="just">
              <a:spcBef>
                <a:spcPts val="1400"/>
              </a:spcBef>
              <a:spcAft>
                <a:spcPts val="1400"/>
              </a:spcAft>
            </a:pPr>
            <a:r>
              <a:rPr lang="zh-CN" altLang="en-US" dirty="0">
                <a:sym typeface="+mn-ea"/>
              </a:rPr>
              <a:t>PagedAttention是一种用于处理长文本或序列的注意力机制，旨在解决传统自注意力机制在处理大规模输入时面临的计算和内存限制问题。</a:t>
            </a:r>
            <a:r>
              <a:rPr lang="zh-CN" altLang="en-US">
                <a:solidFill>
                  <a:srgbClr val="191B1F"/>
                </a:solidFill>
                <a:latin typeface="+mn-ea"/>
                <a:cs typeface="+mn-ea"/>
              </a:rPr>
              <a:t>其灵感来自于操作系统中</a:t>
            </a:r>
            <a:r>
              <a:rPr lang="zh-CN" altLang="en-US" b="0">
                <a:solidFill>
                  <a:srgbClr val="191B1F"/>
                </a:solidFill>
                <a:latin typeface="+mn-ea"/>
                <a:cs typeface="+mn-ea"/>
                <a:hlinkClick r:id="rId1"/>
              </a:rPr>
              <a:t>虚拟内存</a:t>
            </a:r>
            <a:r>
              <a:rPr lang="zh-CN" altLang="en-US">
                <a:solidFill>
                  <a:srgbClr val="191B1F"/>
                </a:solidFill>
                <a:latin typeface="+mn-ea"/>
                <a:cs typeface="+mn-ea"/>
              </a:rPr>
              <a:t>和</a:t>
            </a:r>
            <a:r>
              <a:rPr lang="zh-CN" altLang="en-US" b="0">
                <a:solidFill>
                  <a:srgbClr val="191B1F"/>
                </a:solidFill>
                <a:latin typeface="+mn-ea"/>
                <a:cs typeface="+mn-ea"/>
              </a:rPr>
              <a:t>分页</a:t>
            </a:r>
            <a:r>
              <a:rPr lang="zh-CN" altLang="en-US">
                <a:solidFill>
                  <a:srgbClr val="191B1F"/>
                </a:solidFill>
                <a:latin typeface="+mn-ea"/>
                <a:cs typeface="+mn-ea"/>
              </a:rPr>
              <a:t>的经典思想，它可以允许在非连续空间立存储连续的</a:t>
            </a:r>
            <a:r>
              <a:rPr lang="zh-CN" altLang="en-US">
                <a:solidFill>
                  <a:srgbClr val="191B1F"/>
                </a:solidFill>
                <a:latin typeface="+mn-ea"/>
                <a:cs typeface="+mn-ea"/>
                <a:hlinkClick r:id="rId2"/>
              </a:rPr>
              <a:t>KV张量</a:t>
            </a:r>
            <a:r>
              <a:rPr lang="zh-CN" altLang="en-US">
                <a:solidFill>
                  <a:srgbClr val="191B1F"/>
                </a:solidFill>
                <a:latin typeface="+mn-ea"/>
                <a:cs typeface="+mn-ea"/>
              </a:rPr>
              <a:t>。具体来说，</a:t>
            </a:r>
            <a:r>
              <a:rPr lang="zh-CN" altLang="en-US" b="0">
                <a:solidFill>
                  <a:srgbClr val="191B1F"/>
                </a:solidFill>
                <a:latin typeface="+mn-ea"/>
                <a:cs typeface="+mn-ea"/>
              </a:rPr>
              <a:t>PagedAttention把每个序列的KV缓存进行了分块，每个块包含固定长度的token</a:t>
            </a:r>
            <a:r>
              <a:rPr lang="zh-CN" altLang="en-US">
                <a:solidFill>
                  <a:srgbClr val="191B1F"/>
                </a:solidFill>
                <a:latin typeface="+mn-ea"/>
                <a:cs typeface="+mn-ea"/>
              </a:rPr>
              <a:t>，而在计算attention时可以高效地找到并获取那些块。</a:t>
            </a:r>
            <a:r>
              <a:rPr lang="zh-CN" altLang="en-US" dirty="0">
                <a:sym typeface="+mn-ea"/>
              </a:rPr>
              <a:t>KV缓存分片的具体过程</a:t>
            </a:r>
            <a:r>
              <a:rPr lang="zh-CN" altLang="en-US">
                <a:solidFill>
                  <a:srgbClr val="191B1F"/>
                </a:solidFill>
                <a:latin typeface="+mn-ea"/>
                <a:cs typeface="+mn-ea"/>
              </a:rPr>
              <a:t>如图所</a:t>
            </a:r>
            <a:r>
              <a:rPr lang="zh-CN" altLang="en-US">
                <a:solidFill>
                  <a:srgbClr val="191B1F"/>
                </a:solidFill>
                <a:latin typeface="+mn-ea"/>
                <a:cs typeface="+mn-ea"/>
              </a:rPr>
              <a:t>示。</a:t>
            </a:r>
            <a:endParaRPr lang="zh-CN" altLang="en-US">
              <a:solidFill>
                <a:srgbClr val="191B1F"/>
              </a:solidFill>
              <a:latin typeface="+mn-ea"/>
              <a:cs typeface="+mn-ea"/>
            </a:endParaRPr>
          </a:p>
          <a:p>
            <a:pPr marL="0" indent="457200" algn="just">
              <a:spcBef>
                <a:spcPts val="1400"/>
              </a:spcBef>
              <a:spcAft>
                <a:spcPts val="1400"/>
              </a:spcAft>
            </a:pPr>
            <a:endParaRPr lang="zh-CN" altLang="en-US">
              <a:latin typeface="+mn-ea"/>
              <a:cs typeface="+mn-ea"/>
            </a:endParaRPr>
          </a:p>
        </p:txBody>
      </p:sp>
      <p:pic>
        <p:nvPicPr>
          <p:cNvPr id="3" name="图片 2"/>
          <p:cNvPicPr>
            <a:picLocks noChangeAspect="1"/>
          </p:cNvPicPr>
          <p:nvPr/>
        </p:nvPicPr>
        <p:blipFill>
          <a:blip r:embed="rId3"/>
          <a:stretch>
            <a:fillRect/>
          </a:stretch>
        </p:blipFill>
        <p:spPr>
          <a:xfrm>
            <a:off x="8502650" y="2644140"/>
            <a:ext cx="3261360" cy="1736725"/>
          </a:xfrm>
          <a:prstGeom prst="rect">
            <a:avLst/>
          </a:prstGeom>
          <a:ln w="12700" cmpd="sng">
            <a:solidFill>
              <a:schemeClr val="accent1">
                <a:shade val="50000"/>
              </a:schemeClr>
            </a:solidFill>
            <a:prstDash val="solid"/>
          </a:ln>
        </p:spPr>
      </p:pic>
      <p:pic>
        <p:nvPicPr>
          <p:cNvPr id="4" name="图片 3"/>
          <p:cNvPicPr>
            <a:picLocks noChangeAspect="1"/>
          </p:cNvPicPr>
          <p:nvPr/>
        </p:nvPicPr>
        <p:blipFill>
          <a:blip r:embed="rId4"/>
          <a:stretch>
            <a:fillRect/>
          </a:stretch>
        </p:blipFill>
        <p:spPr>
          <a:xfrm>
            <a:off x="8563610" y="4808220"/>
            <a:ext cx="3140075" cy="1724025"/>
          </a:xfrm>
          <a:prstGeom prst="rect">
            <a:avLst/>
          </a:prstGeom>
          <a:ln w="12700" cmpd="sng">
            <a:solidFill>
              <a:schemeClr val="accent1">
                <a:shade val="50000"/>
              </a:schemeClr>
            </a:solidFill>
            <a:prstDash val="solid"/>
          </a:ln>
        </p:spPr>
      </p:pic>
      <p:pic>
        <p:nvPicPr>
          <p:cNvPr id="8" name="图片 7"/>
          <p:cNvPicPr>
            <a:picLocks noChangeAspect="1"/>
          </p:cNvPicPr>
          <p:nvPr/>
        </p:nvPicPr>
        <p:blipFill>
          <a:blip r:embed="rId5"/>
          <a:srcRect l="8938"/>
          <a:stretch>
            <a:fillRect/>
          </a:stretch>
        </p:blipFill>
        <p:spPr>
          <a:xfrm>
            <a:off x="907415" y="2743835"/>
            <a:ext cx="3234055" cy="1604010"/>
          </a:xfrm>
          <a:prstGeom prst="rect">
            <a:avLst/>
          </a:prstGeom>
          <a:ln w="12700" cmpd="sng">
            <a:solidFill>
              <a:schemeClr val="accent1">
                <a:shade val="50000"/>
              </a:schemeClr>
            </a:solidFill>
            <a:prstDash val="solid"/>
          </a:ln>
        </p:spPr>
      </p:pic>
      <p:pic>
        <p:nvPicPr>
          <p:cNvPr id="9" name="图片 8"/>
          <p:cNvPicPr>
            <a:picLocks noChangeAspect="1"/>
          </p:cNvPicPr>
          <p:nvPr/>
        </p:nvPicPr>
        <p:blipFill>
          <a:blip r:embed="rId6"/>
          <a:srcRect t="6095"/>
          <a:stretch>
            <a:fillRect/>
          </a:stretch>
        </p:blipFill>
        <p:spPr>
          <a:xfrm>
            <a:off x="4714240" y="2687955"/>
            <a:ext cx="3215640" cy="1659890"/>
          </a:xfrm>
          <a:prstGeom prst="rect">
            <a:avLst/>
          </a:prstGeom>
          <a:ln w="12700" cmpd="sng">
            <a:solidFill>
              <a:schemeClr val="accent1">
                <a:shade val="50000"/>
              </a:schemeClr>
            </a:solidFill>
            <a:prstDash val="solid"/>
          </a:ln>
        </p:spPr>
      </p:pic>
      <p:sp>
        <p:nvSpPr>
          <p:cNvPr id="10" name="文本框 9"/>
          <p:cNvSpPr txBox="1"/>
          <p:nvPr/>
        </p:nvSpPr>
        <p:spPr>
          <a:xfrm>
            <a:off x="1096645" y="4608830"/>
            <a:ext cx="6892925" cy="1780540"/>
          </a:xfrm>
          <a:prstGeom prst="rect">
            <a:avLst/>
          </a:prstGeom>
        </p:spPr>
        <p:txBody>
          <a:bodyPr wrap="square">
            <a:noAutofit/>
          </a:bodyPr>
          <a:p>
            <a:pPr marL="0" indent="457200" algn="just"/>
            <a:r>
              <a:rPr lang="zh-CN" altLang="en-US" b="0" i="0">
                <a:solidFill>
                  <a:srgbClr val="191B1F"/>
                </a:solidFill>
                <a:latin typeface="+mn-ea"/>
                <a:cs typeface="+mn-ea"/>
              </a:rPr>
              <a:t>其中，每个固定长度的块可以看成虚拟内存中的页，token可以看成字节，序列可以看成进程。通过一个块表就可以将连续的逻辑块映射到非连续的物理块，而物理块可以根据新生成的token按需分配。因此，序列在分块之后，只有最后一个块可能会浪费内存（</a:t>
            </a:r>
            <a:r>
              <a:rPr lang="zh-CN" altLang="en-US" b="0" i="0">
                <a:solidFill>
                  <a:srgbClr val="191B1F"/>
                </a:solidFill>
                <a:latin typeface="+mn-ea"/>
                <a:cs typeface="+mn-ea"/>
              </a:rPr>
              <a:t>在实际中浪费的内存低于4%）。从而可以解决</a:t>
            </a:r>
            <a:r>
              <a:rPr lang="zh-CN" altLang="en-US" dirty="0">
                <a:sym typeface="+mn-ea"/>
              </a:rPr>
              <a:t>传统的自注意力机制在处理长序列时，会导致效率低下和内存消耗过大的</a:t>
            </a:r>
            <a:r>
              <a:rPr lang="zh-CN" altLang="en-US" dirty="0">
                <a:sym typeface="+mn-ea"/>
              </a:rPr>
              <a:t>问题。</a:t>
            </a:r>
            <a:endParaRPr lang="zh-CN" altLang="en-US" dirty="0"/>
          </a:p>
          <a:p>
            <a:pPr marL="0" indent="0" algn="just"/>
            <a:endParaRPr lang="zh-CN" altLang="en-US" b="0" i="0">
              <a:solidFill>
                <a:srgbClr val="191B1F"/>
              </a:solidFill>
              <a:latin typeface="+mn-ea"/>
              <a:cs typeface="+mn-ea"/>
            </a:endParaRPr>
          </a:p>
        </p:txBody>
      </p:sp>
      <p:sp>
        <p:nvSpPr>
          <p:cNvPr id="13" name="右箭头 12"/>
          <p:cNvSpPr/>
          <p:nvPr/>
        </p:nvSpPr>
        <p:spPr>
          <a:xfrm>
            <a:off x="4249420" y="3442970"/>
            <a:ext cx="386080" cy="2425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右箭头 13"/>
          <p:cNvSpPr/>
          <p:nvPr/>
        </p:nvSpPr>
        <p:spPr>
          <a:xfrm>
            <a:off x="8007985" y="3442970"/>
            <a:ext cx="435610" cy="2425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下箭头 14"/>
          <p:cNvSpPr/>
          <p:nvPr/>
        </p:nvSpPr>
        <p:spPr>
          <a:xfrm>
            <a:off x="10079990" y="4406900"/>
            <a:ext cx="235585" cy="3752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04"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学士帽"/>
          <p:cNvSpPr/>
          <p:nvPr/>
        </p:nvSpPr>
        <p:spPr bwMode="auto">
          <a:xfrm>
            <a:off x="2665095" y="2100580"/>
            <a:ext cx="2811145" cy="1553845"/>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159A5"/>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cxnSp>
        <p:nvCxnSpPr>
          <p:cNvPr id="6" name="直接连接符 5"/>
          <p:cNvCxnSpPr/>
          <p:nvPr/>
        </p:nvCxnSpPr>
        <p:spPr>
          <a:xfrm>
            <a:off x="6066155" y="2218055"/>
            <a:ext cx="0" cy="2420620"/>
          </a:xfrm>
          <a:prstGeom prst="line">
            <a:avLst/>
          </a:prstGeom>
          <a:ln w="25400">
            <a:solidFill>
              <a:srgbClr val="2159A5"/>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323966" y="2059305"/>
            <a:ext cx="1445260" cy="1568450"/>
          </a:xfrm>
          <a:prstGeom prst="rect">
            <a:avLst/>
          </a:prstGeom>
          <a:noFill/>
        </p:spPr>
        <p:txBody>
          <a:bodyPr wrap="none" rtlCol="0" anchor="t">
            <a:spAutoFit/>
          </a:bodyPr>
          <a:lstStyle/>
          <a:p>
            <a:pPr algn="ctr"/>
            <a:r>
              <a:rPr lang="en-US" altLang="zh-CN" sz="9600">
                <a:solidFill>
                  <a:srgbClr val="2159A5"/>
                </a:solidFill>
                <a:latin typeface="Impact" panose="020B0806030902050204" charset="0"/>
                <a:cs typeface="Impact" panose="020B0806030902050204" charset="0"/>
                <a:sym typeface="+mn-ea"/>
              </a:rPr>
              <a:t>04</a:t>
            </a:r>
            <a:endParaRPr lang="en-US" altLang="zh-CN" sz="9600">
              <a:solidFill>
                <a:srgbClr val="2159A5"/>
              </a:solidFill>
              <a:latin typeface="Impact" panose="020B0806030902050204" charset="0"/>
              <a:cs typeface="Impact" panose="020B0806030902050204" charset="0"/>
              <a:sym typeface="+mn-ea"/>
            </a:endParaRPr>
          </a:p>
        </p:txBody>
      </p:sp>
      <p:sp>
        <p:nvSpPr>
          <p:cNvPr id="8" name="文本框 7"/>
          <p:cNvSpPr txBox="1"/>
          <p:nvPr/>
        </p:nvSpPr>
        <p:spPr>
          <a:xfrm>
            <a:off x="6396355" y="3522345"/>
            <a:ext cx="3697605" cy="1383665"/>
          </a:xfrm>
          <a:prstGeom prst="rect">
            <a:avLst/>
          </a:prstGeom>
          <a:noFill/>
        </p:spPr>
        <p:txBody>
          <a:bodyPr wrap="square" rtlCol="0">
            <a:spAutoFit/>
          </a:bodyPr>
          <a:lstStyle/>
          <a:p>
            <a:pPr algn="l"/>
            <a:r>
              <a:rPr lang="en-US" altLang="zh-CN" sz="2800">
                <a:solidFill>
                  <a:srgbClr val="2E75B6"/>
                </a:solidFill>
                <a:latin typeface="微软雅黑" panose="020B0503020204020204" charset="-122"/>
                <a:ea typeface="微软雅黑" panose="020B0503020204020204" charset="-122"/>
                <a:sym typeface="+mn-ea"/>
              </a:rPr>
              <a:t>PagedAttention</a:t>
            </a:r>
            <a:r>
              <a:rPr lang="zh-CN" altLang="en-US" sz="2800">
                <a:solidFill>
                  <a:srgbClr val="2E75B6"/>
                </a:solidFill>
                <a:latin typeface="微软雅黑" panose="020B0503020204020204" charset="-122"/>
                <a:ea typeface="微软雅黑" panose="020B0503020204020204" charset="-122"/>
                <a:sym typeface="+mn-ea"/>
              </a:rPr>
              <a:t>在不同</a:t>
            </a:r>
            <a:r>
              <a:rPr lang="en-US" altLang="zh-CN" sz="2800">
                <a:solidFill>
                  <a:srgbClr val="2E75B6"/>
                </a:solidFill>
                <a:latin typeface="微软雅黑" panose="020B0503020204020204" charset="-122"/>
                <a:ea typeface="微软雅黑" panose="020B0503020204020204" charset="-122"/>
                <a:sym typeface="+mn-ea"/>
              </a:rPr>
              <a:t>decoding</a:t>
            </a:r>
            <a:r>
              <a:rPr lang="zh-CN" altLang="en-US" sz="2800">
                <a:solidFill>
                  <a:srgbClr val="2E75B6"/>
                </a:solidFill>
                <a:latin typeface="微软雅黑" panose="020B0503020204020204" charset="-122"/>
                <a:ea typeface="微软雅黑" panose="020B0503020204020204" charset="-122"/>
                <a:sym typeface="+mn-ea"/>
              </a:rPr>
              <a:t>场景下的运作流程和优势</a:t>
            </a:r>
            <a:endParaRPr lang="zh-CN" altLang="en-US" sz="2800">
              <a:solidFill>
                <a:srgbClr val="2159A5"/>
              </a:solidFill>
              <a:latin typeface="微软雅黑" panose="020B0503020204020204" charset="-122"/>
              <a:ea typeface="微软雅黑" panose="020B0503020204020204" charset="-122"/>
            </a:endParaRPr>
          </a:p>
        </p:txBody>
      </p:sp>
      <p:grpSp>
        <p:nvGrpSpPr>
          <p:cNvPr id="10" name="组合 9"/>
          <p:cNvGrpSpPr/>
          <p:nvPr/>
        </p:nvGrpSpPr>
        <p:grpSpPr>
          <a:xfrm>
            <a:off x="2539365" y="388175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8893175" cy="398780"/>
          </a:xfrm>
          <a:prstGeom prst="rect">
            <a:avLst/>
          </a:prstGeom>
          <a:noFill/>
        </p:spPr>
        <p:txBody>
          <a:bodyPr wrap="square" rtlCol="0">
            <a:spAutoFit/>
          </a:bodyPr>
          <a:lstStyle/>
          <a:p>
            <a:pPr algn="l"/>
            <a:r>
              <a:rPr lang="en-US" altLang="zh-CN" sz="2000">
                <a:solidFill>
                  <a:schemeClr val="bg1">
                    <a:lumMod val="95000"/>
                  </a:schemeClr>
                </a:solidFill>
                <a:latin typeface="微软雅黑" panose="020B0503020204020204" charset="-122"/>
                <a:ea typeface="微软雅黑" panose="020B0503020204020204" charset="-122"/>
                <a:sym typeface="+mn-ea"/>
              </a:rPr>
              <a:t>PagedAttention</a:t>
            </a:r>
            <a:r>
              <a:rPr lang="zh-CN" altLang="en-US" sz="2000">
                <a:solidFill>
                  <a:schemeClr val="bg1">
                    <a:lumMod val="95000"/>
                  </a:schemeClr>
                </a:solidFill>
                <a:latin typeface="微软雅黑" panose="020B0503020204020204" charset="-122"/>
                <a:ea typeface="微软雅黑" panose="020B0503020204020204" charset="-122"/>
                <a:sym typeface="+mn-ea"/>
              </a:rPr>
              <a:t>在不同</a:t>
            </a:r>
            <a:r>
              <a:rPr lang="en-US" altLang="zh-CN" sz="2000">
                <a:solidFill>
                  <a:schemeClr val="bg1">
                    <a:lumMod val="95000"/>
                  </a:schemeClr>
                </a:solidFill>
                <a:latin typeface="微软雅黑" panose="020B0503020204020204" charset="-122"/>
                <a:ea typeface="微软雅黑" panose="020B0503020204020204" charset="-122"/>
                <a:sym typeface="+mn-ea"/>
              </a:rPr>
              <a:t>decoding</a:t>
            </a:r>
            <a:r>
              <a:rPr lang="zh-CN" altLang="en-US" sz="2000">
                <a:solidFill>
                  <a:schemeClr val="bg1">
                    <a:lumMod val="95000"/>
                  </a:schemeClr>
                </a:solidFill>
                <a:latin typeface="微软雅黑" panose="020B0503020204020204" charset="-122"/>
                <a:ea typeface="微软雅黑" panose="020B0503020204020204" charset="-122"/>
                <a:sym typeface="+mn-ea"/>
              </a:rPr>
              <a:t>场景下的运作流程和优势</a:t>
            </a:r>
            <a:endParaRPr lang="zh-CN" altLang="en-US" sz="2000" b="1">
              <a:solidFill>
                <a:schemeClr val="bg1">
                  <a:lumMod val="95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dirty="0">
                <a:solidFill>
                  <a:schemeClr val="bg1"/>
                </a:solidFill>
                <a:latin typeface="Impact" panose="020B0806030902050204" charset="0"/>
                <a:cs typeface="Impact" panose="020B0806030902050204" charset="0"/>
                <a:sym typeface="+mn-ea"/>
              </a:rPr>
              <a:t>04</a:t>
            </a:r>
            <a:endParaRPr lang="en-US" altLang="zh-CN" sz="3600" dirty="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0" y="1895261"/>
            <a:ext cx="7201905" cy="3067478"/>
          </a:xfrm>
          <a:prstGeom prst="rect">
            <a:avLst/>
          </a:prstGeom>
        </p:spPr>
      </p:pic>
      <p:sp>
        <p:nvSpPr>
          <p:cNvPr id="3" name="矩形 2"/>
          <p:cNvSpPr/>
          <p:nvPr/>
        </p:nvSpPr>
        <p:spPr>
          <a:xfrm>
            <a:off x="8147538" y="1154723"/>
            <a:ext cx="4044462" cy="45485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a:t>
            </a:r>
            <a:r>
              <a:rPr lang="en-US" altLang="zh-CN" dirty="0">
                <a:solidFill>
                  <a:schemeClr val="tx1"/>
                </a:solidFill>
              </a:rPr>
              <a:t>1</a:t>
            </a:r>
            <a:r>
              <a:rPr lang="zh-CN" altLang="en-US" dirty="0">
                <a:solidFill>
                  <a:schemeClr val="tx1"/>
                </a:solidFill>
              </a:rPr>
              <a:t>）首先，</a:t>
            </a:r>
            <a:r>
              <a:rPr lang="en-US" altLang="zh-CN" dirty="0">
                <a:solidFill>
                  <a:schemeClr val="tx1"/>
                </a:solidFill>
              </a:rPr>
              <a:t>Prefill</a:t>
            </a:r>
            <a:r>
              <a:rPr lang="zh-CN" altLang="en-US" dirty="0">
                <a:solidFill>
                  <a:schemeClr val="tx1"/>
                </a:solidFill>
              </a:rPr>
              <a:t>阶段，</a:t>
            </a:r>
            <a:r>
              <a:rPr lang="en-US" altLang="zh-CN" dirty="0" err="1">
                <a:solidFill>
                  <a:schemeClr val="tx1"/>
                </a:solidFill>
              </a:rPr>
              <a:t>vLLM</a:t>
            </a:r>
            <a:r>
              <a:rPr lang="zh-CN" altLang="en-US" dirty="0">
                <a:solidFill>
                  <a:schemeClr val="tx1"/>
                </a:solidFill>
              </a:rPr>
              <a:t>拿到</a:t>
            </a:r>
            <a:r>
              <a:rPr lang="en-US" altLang="zh-CN" dirty="0">
                <a:solidFill>
                  <a:schemeClr val="tx1"/>
                </a:solidFill>
              </a:rPr>
              <a:t>Sample A1</a:t>
            </a:r>
            <a:r>
              <a:rPr lang="zh-CN" altLang="en-US" dirty="0">
                <a:solidFill>
                  <a:schemeClr val="tx1"/>
                </a:solidFill>
              </a:rPr>
              <a:t>和</a:t>
            </a:r>
            <a:r>
              <a:rPr lang="en-US" altLang="zh-CN" dirty="0">
                <a:solidFill>
                  <a:schemeClr val="tx1"/>
                </a:solidFill>
              </a:rPr>
              <a:t>Sample A2</a:t>
            </a:r>
            <a:r>
              <a:rPr lang="zh-CN" altLang="en-US" dirty="0">
                <a:solidFill>
                  <a:schemeClr val="tx1"/>
                </a:solidFill>
              </a:rPr>
              <a:t>，根据其中的文字内容，为其分配逻辑块和物理块。</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a:t>
            </a:r>
            <a:r>
              <a:rPr lang="en-US" altLang="zh-CN" dirty="0">
                <a:solidFill>
                  <a:schemeClr val="tx1"/>
                </a:solidFill>
              </a:rPr>
              <a:t>2</a:t>
            </a:r>
            <a:r>
              <a:rPr lang="zh-CN" altLang="en-US" dirty="0">
                <a:solidFill>
                  <a:schemeClr val="tx1"/>
                </a:solidFill>
              </a:rPr>
              <a:t>）然后，进入</a:t>
            </a:r>
            <a:r>
              <a:rPr lang="en-US" altLang="zh-CN" dirty="0">
                <a:solidFill>
                  <a:schemeClr val="tx1"/>
                </a:solidFill>
              </a:rPr>
              <a:t>decode</a:t>
            </a:r>
            <a:r>
              <a:rPr lang="zh-CN" altLang="en-US" dirty="0">
                <a:solidFill>
                  <a:schemeClr val="tx1"/>
                </a:solidFill>
              </a:rPr>
              <a:t>阶段，</a:t>
            </a:r>
            <a:r>
              <a:rPr lang="en-US" altLang="zh-CN" dirty="0">
                <a:solidFill>
                  <a:schemeClr val="tx1"/>
                </a:solidFill>
              </a:rPr>
              <a:t>A1</a:t>
            </a:r>
            <a:r>
              <a:rPr lang="zh-CN" altLang="en-US" dirty="0">
                <a:solidFill>
                  <a:schemeClr val="tx1"/>
                </a:solidFill>
              </a:rPr>
              <a:t>和</a:t>
            </a:r>
            <a:r>
              <a:rPr lang="en-US" altLang="zh-CN" dirty="0">
                <a:solidFill>
                  <a:schemeClr val="tx1"/>
                </a:solidFill>
              </a:rPr>
              <a:t>A2</a:t>
            </a:r>
            <a:r>
              <a:rPr lang="zh-CN" altLang="en-US" dirty="0">
                <a:solidFill>
                  <a:schemeClr val="tx1"/>
                </a:solidFill>
              </a:rPr>
              <a:t>各自做推理，得到第一个</a:t>
            </a:r>
            <a:r>
              <a:rPr lang="en-US" altLang="zh-CN" dirty="0">
                <a:solidFill>
                  <a:schemeClr val="tx1"/>
                </a:solidFill>
              </a:rPr>
              <a:t>token</a:t>
            </a:r>
            <a:r>
              <a:rPr lang="zh-CN" altLang="en-US" dirty="0">
                <a:solidFill>
                  <a:schemeClr val="tx1"/>
                </a:solidFill>
              </a:rPr>
              <a:t>，分别为</a:t>
            </a:r>
            <a:r>
              <a:rPr lang="en-US" altLang="zh-CN" dirty="0">
                <a:solidFill>
                  <a:schemeClr val="tx1"/>
                </a:solidFill>
              </a:rPr>
              <a:t>fathers</a:t>
            </a:r>
            <a:r>
              <a:rPr lang="zh-CN" altLang="en-US" dirty="0">
                <a:solidFill>
                  <a:schemeClr val="tx1"/>
                </a:solidFill>
              </a:rPr>
              <a:t>和</a:t>
            </a:r>
            <a:r>
              <a:rPr lang="en-US" altLang="zh-CN" dirty="0">
                <a:solidFill>
                  <a:schemeClr val="tx1"/>
                </a:solidFill>
              </a:rPr>
              <a:t>mothers</a:t>
            </a:r>
            <a:r>
              <a:rPr lang="zh-CN" altLang="en-US" dirty="0">
                <a:solidFill>
                  <a:schemeClr val="tx1"/>
                </a:solidFill>
              </a:rPr>
              <a:t>。</a:t>
            </a:r>
            <a:endParaRPr lang="zh-CN" altLang="en-US"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8893175" cy="398780"/>
          </a:xfrm>
          <a:prstGeom prst="rect">
            <a:avLst/>
          </a:prstGeom>
          <a:noFill/>
        </p:spPr>
        <p:txBody>
          <a:bodyPr wrap="square" rtlCol="0">
            <a:spAutoFit/>
          </a:bodyPr>
          <a:lstStyle/>
          <a:p>
            <a:pPr algn="l"/>
            <a:r>
              <a:rPr lang="en-US" altLang="zh-CN" sz="2000">
                <a:solidFill>
                  <a:schemeClr val="bg1">
                    <a:lumMod val="95000"/>
                  </a:schemeClr>
                </a:solidFill>
                <a:latin typeface="微软雅黑" panose="020B0503020204020204" charset="-122"/>
                <a:ea typeface="微软雅黑" panose="020B0503020204020204" charset="-122"/>
                <a:sym typeface="+mn-ea"/>
              </a:rPr>
              <a:t>PagedAttention</a:t>
            </a:r>
            <a:r>
              <a:rPr lang="zh-CN" altLang="en-US" sz="2000">
                <a:solidFill>
                  <a:schemeClr val="bg1">
                    <a:lumMod val="95000"/>
                  </a:schemeClr>
                </a:solidFill>
                <a:latin typeface="微软雅黑" panose="020B0503020204020204" charset="-122"/>
                <a:ea typeface="微软雅黑" panose="020B0503020204020204" charset="-122"/>
                <a:sym typeface="+mn-ea"/>
              </a:rPr>
              <a:t>在不同</a:t>
            </a:r>
            <a:r>
              <a:rPr lang="en-US" altLang="zh-CN" sz="2000">
                <a:solidFill>
                  <a:schemeClr val="bg1">
                    <a:lumMod val="95000"/>
                  </a:schemeClr>
                </a:solidFill>
                <a:latin typeface="微软雅黑" panose="020B0503020204020204" charset="-122"/>
                <a:ea typeface="微软雅黑" panose="020B0503020204020204" charset="-122"/>
                <a:sym typeface="+mn-ea"/>
              </a:rPr>
              <a:t>decoding</a:t>
            </a:r>
            <a:r>
              <a:rPr lang="zh-CN" altLang="en-US" sz="2000">
                <a:solidFill>
                  <a:schemeClr val="bg1">
                    <a:lumMod val="95000"/>
                  </a:schemeClr>
                </a:solidFill>
                <a:latin typeface="微软雅黑" panose="020B0503020204020204" charset="-122"/>
                <a:ea typeface="微软雅黑" panose="020B0503020204020204" charset="-122"/>
                <a:sym typeface="+mn-ea"/>
              </a:rPr>
              <a:t>场景下的运作流程和优势</a:t>
            </a:r>
            <a:endParaRPr lang="zh-CN" altLang="en-US" sz="2000" b="1">
              <a:solidFill>
                <a:schemeClr val="bg1">
                  <a:lumMod val="95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dirty="0">
                <a:solidFill>
                  <a:schemeClr val="bg1"/>
                </a:solidFill>
                <a:latin typeface="Impact" panose="020B0806030902050204" charset="0"/>
                <a:cs typeface="Impact" panose="020B0806030902050204" charset="0"/>
                <a:sym typeface="+mn-ea"/>
              </a:rPr>
              <a:t>04</a:t>
            </a:r>
            <a:endParaRPr lang="en-US" altLang="zh-CN" sz="3600" dirty="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0" y="1922780"/>
            <a:ext cx="6982799" cy="2829320"/>
          </a:xfrm>
          <a:prstGeom prst="rect">
            <a:avLst/>
          </a:prstGeom>
        </p:spPr>
      </p:pic>
      <p:sp>
        <p:nvSpPr>
          <p:cNvPr id="3" name="矩形 2"/>
          <p:cNvSpPr/>
          <p:nvPr/>
        </p:nvSpPr>
        <p:spPr>
          <a:xfrm>
            <a:off x="7666892" y="1348154"/>
            <a:ext cx="4525108" cy="44313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1.</a:t>
            </a:r>
            <a:r>
              <a:rPr lang="zh-CN" altLang="en-US" dirty="0">
                <a:solidFill>
                  <a:schemeClr val="tx1"/>
                </a:solidFill>
              </a:rPr>
              <a:t>我们从右往左来看这张图。虚线位置表示“当前</a:t>
            </a:r>
            <a:r>
              <a:rPr lang="en-US" altLang="zh-CN" dirty="0">
                <a:solidFill>
                  <a:schemeClr val="tx1"/>
                </a:solidFill>
              </a:rPr>
              <a:t>decoding</a:t>
            </a:r>
            <a:r>
              <a:rPr lang="zh-CN" altLang="en-US" dirty="0">
                <a:solidFill>
                  <a:schemeClr val="tx1"/>
                </a:solidFill>
              </a:rPr>
              <a:t>时刻”，</a:t>
            </a:r>
            <a:r>
              <a:rPr lang="en-US" altLang="zh-CN" dirty="0">
                <a:solidFill>
                  <a:schemeClr val="tx1"/>
                </a:solidFill>
              </a:rPr>
              <a:t>beam width = 4</a:t>
            </a:r>
            <a:r>
              <a:rPr lang="zh-CN" altLang="en-US" dirty="0">
                <a:solidFill>
                  <a:schemeClr val="tx1"/>
                </a:solidFill>
              </a:rPr>
              <a:t>。图中所有的</a:t>
            </a:r>
            <a:r>
              <a:rPr lang="en-US" altLang="zh-CN" dirty="0">
                <a:solidFill>
                  <a:schemeClr val="tx1"/>
                </a:solidFill>
              </a:rPr>
              <a:t>block</a:t>
            </a:r>
            <a:r>
              <a:rPr lang="zh-CN" altLang="en-US" dirty="0">
                <a:solidFill>
                  <a:schemeClr val="tx1"/>
                </a:solidFill>
              </a:rPr>
              <a:t>皆为逻辑块。</a:t>
            </a:r>
            <a:endParaRPr lang="en-US" altLang="zh-CN" dirty="0">
              <a:solidFill>
                <a:schemeClr val="tx1"/>
              </a:solidFill>
            </a:endParaRPr>
          </a:p>
          <a:p>
            <a:endParaRPr lang="en-US" altLang="zh-CN" dirty="0">
              <a:solidFill>
                <a:schemeClr val="tx1"/>
              </a:solidFill>
            </a:endParaRPr>
          </a:p>
          <a:p>
            <a:r>
              <a:rPr lang="en-US" altLang="zh-CN" dirty="0">
                <a:solidFill>
                  <a:schemeClr val="tx1"/>
                </a:solidFill>
              </a:rPr>
              <a:t>2.</a:t>
            </a:r>
            <a:r>
              <a:rPr lang="zh-CN" altLang="en-US" dirty="0">
                <a:solidFill>
                  <a:schemeClr val="tx1"/>
                </a:solidFill>
              </a:rPr>
              <a:t>由此往左一路推，直到</a:t>
            </a:r>
            <a:r>
              <a:rPr lang="en-US" altLang="zh-CN" dirty="0">
                <a:solidFill>
                  <a:schemeClr val="tx1"/>
                </a:solidFill>
              </a:rPr>
              <a:t>block0</a:t>
            </a:r>
            <a:r>
              <a:rPr lang="zh-CN" altLang="en-US" dirty="0">
                <a:solidFill>
                  <a:schemeClr val="tx1"/>
                </a:solidFill>
              </a:rPr>
              <a:t>为止（</a:t>
            </a:r>
            <a:r>
              <a:rPr lang="en-US" altLang="zh-CN" dirty="0">
                <a:solidFill>
                  <a:schemeClr val="tx1"/>
                </a:solidFill>
              </a:rPr>
              <a:t>block0</a:t>
            </a:r>
            <a:r>
              <a:rPr lang="zh-CN" altLang="en-US" dirty="0">
                <a:solidFill>
                  <a:schemeClr val="tx1"/>
                </a:solidFill>
              </a:rPr>
              <a:t>代表着</a:t>
            </a:r>
            <a:r>
              <a:rPr lang="en-US" altLang="zh-CN" dirty="0">
                <a:solidFill>
                  <a:schemeClr val="tx1"/>
                </a:solidFill>
              </a:rPr>
              <a:t>prompt</a:t>
            </a:r>
            <a:r>
              <a:rPr lang="zh-CN" altLang="en-US" dirty="0">
                <a:solidFill>
                  <a:schemeClr val="tx1"/>
                </a:solidFill>
              </a:rPr>
              <a:t>，因此被</a:t>
            </a:r>
            <a:r>
              <a:rPr lang="en-US" altLang="zh-CN" dirty="0">
                <a:solidFill>
                  <a:schemeClr val="tx1"/>
                </a:solidFill>
              </a:rPr>
              <a:t>beam </a:t>
            </a:r>
            <a:r>
              <a:rPr lang="en-US" altLang="zh-CN" dirty="0" err="1">
                <a:solidFill>
                  <a:schemeClr val="tx1"/>
                </a:solidFill>
              </a:rPr>
              <a:t>seach</a:t>
            </a:r>
            <a:r>
              <a:rPr lang="zh-CN" altLang="en-US" dirty="0">
                <a:solidFill>
                  <a:schemeClr val="tx1"/>
                </a:solidFill>
              </a:rPr>
              <a:t>中所有的序列共享）。这一路上，我们都根据最新时刻的</a:t>
            </a:r>
            <a:r>
              <a:rPr lang="en-US" altLang="zh-CN" dirty="0">
                <a:solidFill>
                  <a:schemeClr val="tx1"/>
                </a:solidFill>
              </a:rPr>
              <a:t>beam search decoding</a:t>
            </a:r>
            <a:r>
              <a:rPr lang="zh-CN" altLang="en-US" dirty="0">
                <a:solidFill>
                  <a:schemeClr val="tx1"/>
                </a:solidFill>
              </a:rPr>
              <a:t>结果，释放掉不再被需要的逻辑块和对应的物理内存空间，达到节省显存的目的。</a:t>
            </a:r>
            <a:endParaRPr lang="zh-CN" altLang="en-US"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学士帽"/>
          <p:cNvSpPr/>
          <p:nvPr/>
        </p:nvSpPr>
        <p:spPr bwMode="auto">
          <a:xfrm>
            <a:off x="2665095" y="2100580"/>
            <a:ext cx="2811145" cy="1553845"/>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159A5"/>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cxnSp>
        <p:nvCxnSpPr>
          <p:cNvPr id="6" name="直接连接符 5"/>
          <p:cNvCxnSpPr/>
          <p:nvPr/>
        </p:nvCxnSpPr>
        <p:spPr>
          <a:xfrm>
            <a:off x="6066155" y="2218055"/>
            <a:ext cx="0" cy="2420620"/>
          </a:xfrm>
          <a:prstGeom prst="line">
            <a:avLst/>
          </a:prstGeom>
          <a:ln w="25400">
            <a:solidFill>
              <a:srgbClr val="2159A5"/>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301424" y="2059305"/>
            <a:ext cx="1490345" cy="1568450"/>
          </a:xfrm>
          <a:prstGeom prst="rect">
            <a:avLst/>
          </a:prstGeom>
          <a:noFill/>
        </p:spPr>
        <p:txBody>
          <a:bodyPr wrap="none" rtlCol="0" anchor="t">
            <a:spAutoFit/>
          </a:bodyPr>
          <a:lstStyle/>
          <a:p>
            <a:pPr algn="ctr"/>
            <a:r>
              <a:rPr lang="en-US" altLang="zh-CN" sz="9600">
                <a:solidFill>
                  <a:srgbClr val="2159A5"/>
                </a:solidFill>
                <a:latin typeface="Impact" panose="020B0806030902050204" charset="0"/>
                <a:cs typeface="Impact" panose="020B0806030902050204" charset="0"/>
                <a:sym typeface="+mn-ea"/>
              </a:rPr>
              <a:t>05</a:t>
            </a:r>
            <a:endParaRPr lang="en-US" altLang="zh-CN" sz="9600">
              <a:solidFill>
                <a:srgbClr val="2159A5"/>
              </a:solidFill>
              <a:latin typeface="Impact" panose="020B0806030902050204" charset="0"/>
              <a:cs typeface="Impact" panose="020B0806030902050204" charset="0"/>
              <a:sym typeface="+mn-ea"/>
            </a:endParaRPr>
          </a:p>
        </p:txBody>
      </p:sp>
      <p:sp>
        <p:nvSpPr>
          <p:cNvPr id="8" name="文本框 7"/>
          <p:cNvSpPr txBox="1"/>
          <p:nvPr/>
        </p:nvSpPr>
        <p:spPr>
          <a:xfrm>
            <a:off x="6396355" y="3522345"/>
            <a:ext cx="3549015" cy="521970"/>
          </a:xfrm>
          <a:prstGeom prst="rect">
            <a:avLst/>
          </a:prstGeom>
          <a:noFill/>
        </p:spPr>
        <p:txBody>
          <a:bodyPr wrap="square" rtlCol="0">
            <a:spAutoFit/>
          </a:bodyPr>
          <a:lstStyle/>
          <a:p>
            <a:pPr algn="l"/>
            <a:r>
              <a:rPr lang="zh-CN" altLang="en-US" sz="2800">
                <a:solidFill>
                  <a:srgbClr val="2159A5"/>
                </a:solidFill>
                <a:latin typeface="微软雅黑" panose="020B0503020204020204" charset="-122"/>
                <a:ea typeface="微软雅黑" panose="020B0503020204020204" charset="-122"/>
                <a:sym typeface="+mn-ea"/>
              </a:rPr>
              <a:t>调度和抢占</a:t>
            </a:r>
            <a:endParaRPr lang="zh-CN" altLang="en-US" sz="2800">
              <a:solidFill>
                <a:srgbClr val="2159A5"/>
              </a:solidFill>
              <a:latin typeface="微软雅黑" panose="020B0503020204020204" charset="-122"/>
              <a:ea typeface="微软雅黑" panose="020B0503020204020204" charset="-122"/>
              <a:sym typeface="+mn-ea"/>
            </a:endParaRPr>
          </a:p>
        </p:txBody>
      </p:sp>
      <p:grpSp>
        <p:nvGrpSpPr>
          <p:cNvPr id="10" name="组合 9"/>
          <p:cNvGrpSpPr/>
          <p:nvPr/>
        </p:nvGrpSpPr>
        <p:grpSpPr>
          <a:xfrm>
            <a:off x="2539365" y="388175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8893175" cy="460375"/>
          </a:xfrm>
          <a:prstGeom prst="rect">
            <a:avLst/>
          </a:prstGeom>
          <a:noFill/>
        </p:spPr>
        <p:txBody>
          <a:bodyPr wrap="square" rtlCol="0">
            <a:spAutoFit/>
          </a:bodyPr>
          <a:lstStyle/>
          <a:p>
            <a:pPr algn="l"/>
            <a:r>
              <a:rPr lang="zh-CN" altLang="en-US" sz="2400">
                <a:solidFill>
                  <a:schemeClr val="bg1">
                    <a:lumMod val="95000"/>
                  </a:schemeClr>
                </a:solidFill>
                <a:latin typeface="微软雅黑" panose="020B0503020204020204" charset="-122"/>
                <a:ea typeface="微软雅黑" panose="020B0503020204020204" charset="-122"/>
                <a:sym typeface="+mn-ea"/>
              </a:rPr>
              <a:t>调度和抢占</a:t>
            </a:r>
            <a:endParaRPr lang="zh-CN" altLang="en-US" sz="2400" b="1">
              <a:solidFill>
                <a:schemeClr val="bg1">
                  <a:lumMod val="95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dirty="0">
                <a:solidFill>
                  <a:schemeClr val="bg1"/>
                </a:solidFill>
                <a:latin typeface="Impact" panose="020B0806030902050204" charset="0"/>
                <a:cs typeface="Impact" panose="020B0806030902050204" charset="0"/>
                <a:sym typeface="+mn-ea"/>
              </a:rPr>
              <a:t>05</a:t>
            </a:r>
            <a:endParaRPr lang="en-US" altLang="zh-CN" sz="3600" dirty="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48544" y="2292112"/>
            <a:ext cx="8214433" cy="2862322"/>
          </a:xfrm>
          <a:prstGeom prst="rect">
            <a:avLst/>
          </a:prstGeom>
          <a:noFill/>
        </p:spPr>
        <p:txBody>
          <a:bodyPr wrap="square" rtlCol="0">
            <a:spAutoFit/>
          </a:bodyPr>
          <a:lstStyle/>
          <a:p>
            <a:pPr algn="l">
              <a:lnSpc>
                <a:spcPts val="1950"/>
              </a:lnSpc>
              <a:spcBef>
                <a:spcPts val="600"/>
              </a:spcBef>
              <a:spcAft>
                <a:spcPts val="600"/>
              </a:spcAft>
              <a:buFont typeface="Arial" panose="020B0604020202020204" pitchFamily="34" charset="0"/>
              <a:buChar char="•"/>
            </a:pPr>
            <a:r>
              <a:rPr lang="zh-CN" altLang="en-US" b="0" i="0" dirty="0">
                <a:solidFill>
                  <a:srgbClr val="000000"/>
                </a:solidFill>
                <a:effectLst/>
                <a:latin typeface="+mn-ea"/>
              </a:rPr>
              <a:t>当一堆请求来到</a:t>
            </a:r>
            <a:r>
              <a:rPr lang="en-US" altLang="zh-CN" b="0" i="0" dirty="0" err="1">
                <a:solidFill>
                  <a:srgbClr val="000000"/>
                </a:solidFill>
                <a:effectLst/>
                <a:latin typeface="+mn-ea"/>
              </a:rPr>
              <a:t>vLLM</a:t>
            </a:r>
            <a:r>
              <a:rPr lang="zh-CN" altLang="en-US" b="0" i="0" dirty="0">
                <a:solidFill>
                  <a:srgbClr val="000000"/>
                </a:solidFill>
                <a:effectLst/>
                <a:latin typeface="+mn-ea"/>
              </a:rPr>
              <a:t>服务器上时，按照</a:t>
            </a:r>
            <a:r>
              <a:rPr lang="en-US" altLang="zh-CN" b="1" i="0" dirty="0">
                <a:solidFill>
                  <a:srgbClr val="000000"/>
                </a:solidFill>
                <a:effectLst/>
                <a:latin typeface="+mn-ea"/>
              </a:rPr>
              <a:t>First-Come-First-Serve</a:t>
            </a:r>
            <a:r>
              <a:rPr lang="zh-CN" altLang="en-US" b="1" i="0" dirty="0">
                <a:solidFill>
                  <a:srgbClr val="000000"/>
                </a:solidFill>
                <a:effectLst/>
                <a:latin typeface="+mn-ea"/>
              </a:rPr>
              <a:t>（</a:t>
            </a:r>
            <a:r>
              <a:rPr lang="en-US" altLang="zh-CN" b="1" i="0" dirty="0">
                <a:solidFill>
                  <a:srgbClr val="000000"/>
                </a:solidFill>
                <a:effectLst/>
                <a:latin typeface="+mn-ea"/>
              </a:rPr>
              <a:t>FCFS</a:t>
            </a:r>
            <a:r>
              <a:rPr lang="zh-CN" altLang="en-US" b="1" i="0" dirty="0">
                <a:solidFill>
                  <a:srgbClr val="000000"/>
                </a:solidFill>
                <a:effectLst/>
                <a:latin typeface="+mn-ea"/>
              </a:rPr>
              <a:t>）</a:t>
            </a:r>
            <a:r>
              <a:rPr lang="zh-CN" altLang="en-US" b="0" i="0" dirty="0">
                <a:solidFill>
                  <a:srgbClr val="000000"/>
                </a:solidFill>
                <a:effectLst/>
                <a:latin typeface="+mn-ea"/>
              </a:rPr>
              <a:t>原则，优先处理那些最早到来的请求。</a:t>
            </a:r>
            <a:endParaRPr lang="zh-CN" altLang="en-US" b="0" i="0" dirty="0">
              <a:solidFill>
                <a:srgbClr val="000000"/>
              </a:solidFill>
              <a:effectLst/>
              <a:latin typeface="+mn-ea"/>
            </a:endParaRPr>
          </a:p>
          <a:p>
            <a:pPr algn="l">
              <a:lnSpc>
                <a:spcPts val="1950"/>
              </a:lnSpc>
              <a:spcBef>
                <a:spcPts val="600"/>
              </a:spcBef>
              <a:spcAft>
                <a:spcPts val="600"/>
              </a:spcAft>
              <a:buFont typeface="Arial" panose="020B0604020202020204" pitchFamily="34" charset="0"/>
              <a:buChar char="•"/>
            </a:pPr>
            <a:r>
              <a:rPr lang="zh-CN" altLang="en-US" b="0" i="0" dirty="0">
                <a:solidFill>
                  <a:srgbClr val="000000"/>
                </a:solidFill>
                <a:effectLst/>
                <a:latin typeface="+mn-ea"/>
              </a:rPr>
              <a:t>当</a:t>
            </a:r>
            <a:r>
              <a:rPr lang="en-US" altLang="zh-CN" b="0" i="0" dirty="0" err="1">
                <a:solidFill>
                  <a:srgbClr val="000000"/>
                </a:solidFill>
                <a:effectLst/>
                <a:latin typeface="+mn-ea"/>
              </a:rPr>
              <a:t>gpu</a:t>
            </a:r>
            <a:r>
              <a:rPr lang="zh-CN" altLang="en-US" b="0" i="0" dirty="0">
                <a:solidFill>
                  <a:srgbClr val="000000"/>
                </a:solidFill>
                <a:effectLst/>
                <a:latin typeface="+mn-ea"/>
              </a:rPr>
              <a:t>资源不足时，为了让先来的请求能尽快做完推理，</a:t>
            </a:r>
            <a:r>
              <a:rPr lang="en-US" altLang="zh-CN" b="1" i="0" dirty="0" err="1">
                <a:solidFill>
                  <a:srgbClr val="000000"/>
                </a:solidFill>
                <a:effectLst/>
                <a:latin typeface="+mn-ea"/>
              </a:rPr>
              <a:t>vLLM</a:t>
            </a:r>
            <a:r>
              <a:rPr lang="zh-CN" altLang="en-US" b="1" i="0" dirty="0">
                <a:solidFill>
                  <a:srgbClr val="000000"/>
                </a:solidFill>
                <a:effectLst/>
                <a:latin typeface="+mn-ea"/>
              </a:rPr>
              <a:t>会对那些后到来的请求执行“抢占”</a:t>
            </a:r>
            <a:r>
              <a:rPr lang="zh-CN" altLang="en-US" b="0" i="0" dirty="0">
                <a:solidFill>
                  <a:srgbClr val="000000"/>
                </a:solidFill>
                <a:effectLst/>
                <a:latin typeface="+mn-ea"/>
              </a:rPr>
              <a:t>，即暂时终止它们的执行。</a:t>
            </a:r>
            <a:endParaRPr lang="zh-CN" altLang="en-US" b="0" i="0" dirty="0">
              <a:solidFill>
                <a:srgbClr val="000000"/>
              </a:solidFill>
              <a:effectLst/>
              <a:latin typeface="+mn-ea"/>
            </a:endParaRPr>
          </a:p>
          <a:p>
            <a:pPr algn="l">
              <a:lnSpc>
                <a:spcPts val="1950"/>
              </a:lnSpc>
              <a:spcBef>
                <a:spcPts val="600"/>
              </a:spcBef>
              <a:spcAft>
                <a:spcPts val="600"/>
              </a:spcAft>
              <a:buFont typeface="Arial" panose="020B0604020202020204" pitchFamily="34" charset="0"/>
              <a:buChar char="•"/>
            </a:pPr>
            <a:r>
              <a:rPr lang="zh-CN" altLang="en-US" b="1" i="0" dirty="0">
                <a:solidFill>
                  <a:srgbClr val="000000"/>
                </a:solidFill>
                <a:effectLst/>
                <a:latin typeface="+mn-ea"/>
              </a:rPr>
              <a:t>一旦</a:t>
            </a:r>
            <a:r>
              <a:rPr lang="en-US" altLang="zh-CN" b="1" i="0" dirty="0" err="1">
                <a:solidFill>
                  <a:srgbClr val="000000"/>
                </a:solidFill>
                <a:effectLst/>
                <a:latin typeface="+mn-ea"/>
              </a:rPr>
              <a:t>vLLM</a:t>
            </a:r>
            <a:r>
              <a:rPr lang="zh-CN" altLang="en-US" b="1" i="0" dirty="0">
                <a:solidFill>
                  <a:srgbClr val="000000"/>
                </a:solidFill>
                <a:effectLst/>
                <a:latin typeface="+mn-ea"/>
              </a:rPr>
              <a:t>决定执行抢占操作，它会暂停处理新到来的请求。</a:t>
            </a:r>
            <a:r>
              <a:rPr lang="zh-CN" altLang="en-US" b="0" i="0" dirty="0">
                <a:solidFill>
                  <a:srgbClr val="000000"/>
                </a:solidFill>
                <a:effectLst/>
                <a:latin typeface="+mn-ea"/>
              </a:rPr>
              <a:t>在此期间，它会将被抢占的请求相关的</a:t>
            </a:r>
            <a:r>
              <a:rPr lang="en-US" altLang="zh-CN" b="0" i="0" dirty="0">
                <a:solidFill>
                  <a:srgbClr val="000000"/>
                </a:solidFill>
                <a:effectLst/>
                <a:latin typeface="+mn-ea"/>
              </a:rPr>
              <a:t>KV block</a:t>
            </a:r>
            <a:r>
              <a:rPr lang="zh-CN" altLang="en-US" b="0" i="0" dirty="0">
                <a:solidFill>
                  <a:srgbClr val="000000"/>
                </a:solidFill>
                <a:effectLst/>
                <a:latin typeface="+mn-ea"/>
              </a:rPr>
              <a:t>全部交换（</a:t>
            </a:r>
            <a:r>
              <a:rPr lang="en-US" altLang="zh-CN" b="0" i="0" dirty="0">
                <a:solidFill>
                  <a:srgbClr val="000000"/>
                </a:solidFill>
                <a:effectLst/>
                <a:latin typeface="+mn-ea"/>
              </a:rPr>
              <a:t>swap</a:t>
            </a:r>
            <a:r>
              <a:rPr lang="zh-CN" altLang="en-US" b="0" i="0" dirty="0">
                <a:solidFill>
                  <a:srgbClr val="000000"/>
                </a:solidFill>
                <a:effectLst/>
                <a:latin typeface="+mn-ea"/>
              </a:rPr>
              <a:t>）至</a:t>
            </a:r>
            <a:r>
              <a:rPr lang="en-US" altLang="zh-CN" b="0" i="0" dirty="0" err="1">
                <a:solidFill>
                  <a:srgbClr val="000000"/>
                </a:solidFill>
                <a:effectLst/>
                <a:latin typeface="+mn-ea"/>
              </a:rPr>
              <a:t>cpu</a:t>
            </a:r>
            <a:r>
              <a:rPr lang="zh-CN" altLang="en-US" b="0" i="0" dirty="0">
                <a:solidFill>
                  <a:srgbClr val="000000"/>
                </a:solidFill>
                <a:effectLst/>
                <a:latin typeface="+mn-ea"/>
              </a:rPr>
              <a:t>上。</a:t>
            </a:r>
            <a:r>
              <a:rPr lang="zh-CN" altLang="en-US" b="1" i="0" dirty="0">
                <a:solidFill>
                  <a:srgbClr val="000000"/>
                </a:solidFill>
                <a:effectLst/>
                <a:latin typeface="+mn-ea"/>
              </a:rPr>
              <a:t>等交换完成后，</a:t>
            </a:r>
            <a:r>
              <a:rPr lang="en-US" altLang="zh-CN" b="1" i="0" dirty="0" err="1">
                <a:solidFill>
                  <a:srgbClr val="000000"/>
                </a:solidFill>
                <a:effectLst/>
                <a:latin typeface="+mn-ea"/>
              </a:rPr>
              <a:t>vLLM</a:t>
            </a:r>
            <a:r>
              <a:rPr lang="zh-CN" altLang="en-US" b="1" i="0" dirty="0">
                <a:solidFill>
                  <a:srgbClr val="000000"/>
                </a:solidFill>
                <a:effectLst/>
                <a:latin typeface="+mn-ea"/>
              </a:rPr>
              <a:t>才会继续处理新到来的请求。</a:t>
            </a:r>
            <a:endParaRPr lang="zh-CN" altLang="en-US" b="0" i="0" dirty="0">
              <a:solidFill>
                <a:srgbClr val="000000"/>
              </a:solidFill>
              <a:effectLst/>
              <a:latin typeface="+mn-ea"/>
            </a:endParaRPr>
          </a:p>
          <a:p>
            <a:pPr algn="l">
              <a:lnSpc>
                <a:spcPts val="1950"/>
              </a:lnSpc>
              <a:spcBef>
                <a:spcPts val="600"/>
              </a:spcBef>
              <a:spcAft>
                <a:spcPts val="600"/>
              </a:spcAft>
              <a:buFont typeface="Arial" panose="020B0604020202020204" pitchFamily="34" charset="0"/>
              <a:buChar char="•"/>
            </a:pPr>
            <a:r>
              <a:rPr lang="zh-CN" altLang="en-US" b="0" i="0" dirty="0">
                <a:solidFill>
                  <a:srgbClr val="000000"/>
                </a:solidFill>
                <a:effectLst/>
                <a:latin typeface="+mn-ea"/>
              </a:rPr>
              <a:t>当</a:t>
            </a:r>
            <a:r>
              <a:rPr lang="en-US" altLang="zh-CN" b="0" i="0" dirty="0" err="1">
                <a:solidFill>
                  <a:srgbClr val="000000"/>
                </a:solidFill>
                <a:effectLst/>
                <a:latin typeface="+mn-ea"/>
              </a:rPr>
              <a:t>vLLM</a:t>
            </a:r>
            <a:r>
              <a:rPr lang="zh-CN" altLang="en-US" b="0" i="0" dirty="0">
                <a:solidFill>
                  <a:srgbClr val="000000"/>
                </a:solidFill>
                <a:effectLst/>
                <a:latin typeface="+mn-ea"/>
              </a:rPr>
              <a:t>认为</a:t>
            </a:r>
            <a:r>
              <a:rPr lang="en-US" altLang="zh-CN" b="0" i="0" dirty="0" err="1">
                <a:solidFill>
                  <a:srgbClr val="000000"/>
                </a:solidFill>
                <a:effectLst/>
                <a:latin typeface="+mn-ea"/>
              </a:rPr>
              <a:t>gpu</a:t>
            </a:r>
            <a:r>
              <a:rPr lang="zh-CN" altLang="en-US" b="0" i="0" dirty="0">
                <a:solidFill>
                  <a:srgbClr val="000000"/>
                </a:solidFill>
                <a:effectLst/>
                <a:latin typeface="+mn-ea"/>
              </a:rPr>
              <a:t>有足够资源时，它会将</a:t>
            </a:r>
            <a:r>
              <a:rPr lang="en-US" altLang="zh-CN" b="0" i="0" dirty="0" err="1">
                <a:solidFill>
                  <a:srgbClr val="000000"/>
                </a:solidFill>
                <a:effectLst/>
                <a:latin typeface="+mn-ea"/>
              </a:rPr>
              <a:t>cpu</a:t>
            </a:r>
            <a:r>
              <a:rPr lang="zh-CN" altLang="en-US" b="0" i="0" dirty="0">
                <a:solidFill>
                  <a:srgbClr val="000000"/>
                </a:solidFill>
                <a:effectLst/>
                <a:latin typeface="+mn-ea"/>
              </a:rPr>
              <a:t>上的</a:t>
            </a:r>
            <a:r>
              <a:rPr lang="en-US" altLang="zh-CN" b="0" i="0" dirty="0">
                <a:solidFill>
                  <a:srgbClr val="000000"/>
                </a:solidFill>
                <a:effectLst/>
                <a:latin typeface="+mn-ea"/>
              </a:rPr>
              <a:t>KV block</a:t>
            </a:r>
            <a:r>
              <a:rPr lang="zh-CN" altLang="en-US" b="0" i="0" dirty="0">
                <a:solidFill>
                  <a:srgbClr val="000000"/>
                </a:solidFill>
                <a:effectLst/>
                <a:latin typeface="+mn-ea"/>
              </a:rPr>
              <a:t>重新加载回</a:t>
            </a:r>
            <a:r>
              <a:rPr lang="en-US" altLang="zh-CN" b="0" i="0" dirty="0" err="1">
                <a:solidFill>
                  <a:srgbClr val="000000"/>
                </a:solidFill>
                <a:effectLst/>
                <a:latin typeface="+mn-ea"/>
              </a:rPr>
              <a:t>gpu</a:t>
            </a:r>
            <a:r>
              <a:rPr lang="zh-CN" altLang="en-US" b="0" i="0" dirty="0">
                <a:solidFill>
                  <a:srgbClr val="000000"/>
                </a:solidFill>
                <a:effectLst/>
                <a:latin typeface="+mn-ea"/>
              </a:rPr>
              <a:t>，恢复被抢占请求的执行（</a:t>
            </a:r>
            <a:r>
              <a:rPr lang="en-US" altLang="zh-CN" b="0" i="0" dirty="0" err="1">
                <a:solidFill>
                  <a:srgbClr val="000000"/>
                </a:solidFill>
                <a:effectLst/>
                <a:latin typeface="+mn-ea"/>
              </a:rPr>
              <a:t>recomputation</a:t>
            </a:r>
            <a:r>
              <a:rPr lang="zh-CN" altLang="en-US" b="0" i="0" dirty="0">
                <a:solidFill>
                  <a:srgbClr val="000000"/>
                </a:solidFill>
                <a:effectLst/>
                <a:latin typeface="+mn-ea"/>
              </a:rPr>
              <a:t>）</a:t>
            </a:r>
            <a:endParaRPr lang="zh-CN" altLang="en-US" b="0" i="0" dirty="0">
              <a:solidFill>
                <a:srgbClr val="000000"/>
              </a:solidFill>
              <a:effectLst/>
              <a:latin typeface="+mn-ea"/>
            </a:endParaRPr>
          </a:p>
        </p:txBody>
      </p:sp>
      <p:sp>
        <p:nvSpPr>
          <p:cNvPr id="3" name="文本框 2"/>
          <p:cNvSpPr txBox="1"/>
          <p:nvPr/>
        </p:nvSpPr>
        <p:spPr>
          <a:xfrm>
            <a:off x="738181" y="1553448"/>
            <a:ext cx="3270294" cy="369332"/>
          </a:xfrm>
          <a:prstGeom prst="rect">
            <a:avLst/>
          </a:prstGeom>
          <a:noFill/>
        </p:spPr>
        <p:txBody>
          <a:bodyPr wrap="square" rtlCol="0">
            <a:spAutoFit/>
          </a:bodyPr>
          <a:lstStyle/>
          <a:p>
            <a:pPr indent="0">
              <a:buFont typeface="Wingdings" panose="05000000000000000000" charset="0"/>
              <a:buNone/>
            </a:pPr>
            <a:r>
              <a:rPr lang="en-US" altLang="zh-CN" b="1" i="0" dirty="0" err="1">
                <a:solidFill>
                  <a:srgbClr val="000000"/>
                </a:solidFill>
                <a:effectLst/>
                <a:latin typeface="+mn-ea"/>
              </a:rPr>
              <a:t>vLLM</a:t>
            </a:r>
            <a:r>
              <a:rPr lang="zh-CN" altLang="en-US" b="1" i="0" dirty="0">
                <a:solidFill>
                  <a:srgbClr val="000000"/>
                </a:solidFill>
                <a:effectLst/>
                <a:latin typeface="+mn-ea"/>
              </a:rPr>
              <a:t>对请求的调度处理流程</a:t>
            </a:r>
            <a:endParaRPr lang="en-US" altLang="zh-CN" b="1"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2"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 name="学士帽"/>
          <p:cNvSpPr/>
          <p:nvPr/>
        </p:nvSpPr>
        <p:spPr bwMode="auto">
          <a:xfrm>
            <a:off x="2665095" y="2100580"/>
            <a:ext cx="2811145" cy="1553845"/>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159A5"/>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cxnSp>
        <p:nvCxnSpPr>
          <p:cNvPr id="6" name="直接连接符 5"/>
          <p:cNvCxnSpPr/>
          <p:nvPr/>
        </p:nvCxnSpPr>
        <p:spPr>
          <a:xfrm>
            <a:off x="6066155" y="2218055"/>
            <a:ext cx="0" cy="2420620"/>
          </a:xfrm>
          <a:prstGeom prst="line">
            <a:avLst/>
          </a:prstGeom>
          <a:ln w="25400">
            <a:solidFill>
              <a:srgbClr val="2159A5"/>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298249" y="2059305"/>
            <a:ext cx="1496695" cy="1568450"/>
          </a:xfrm>
          <a:prstGeom prst="rect">
            <a:avLst/>
          </a:prstGeom>
          <a:noFill/>
        </p:spPr>
        <p:txBody>
          <a:bodyPr wrap="none" rtlCol="0" anchor="t">
            <a:spAutoFit/>
          </a:bodyPr>
          <a:lstStyle/>
          <a:p>
            <a:pPr algn="ctr"/>
            <a:r>
              <a:rPr lang="en-US" altLang="zh-CN" sz="9600">
                <a:solidFill>
                  <a:srgbClr val="2159A5"/>
                </a:solidFill>
                <a:latin typeface="Impact" panose="020B0806030902050204" charset="0"/>
                <a:cs typeface="Impact" panose="020B0806030902050204" charset="0"/>
                <a:sym typeface="+mn-ea"/>
              </a:rPr>
              <a:t>06</a:t>
            </a:r>
            <a:endParaRPr lang="en-US" altLang="zh-CN" sz="9600">
              <a:solidFill>
                <a:srgbClr val="2159A5"/>
              </a:solidFill>
              <a:latin typeface="Impact" panose="020B0806030902050204" charset="0"/>
              <a:cs typeface="Impact" panose="020B0806030902050204" charset="0"/>
              <a:sym typeface="+mn-ea"/>
            </a:endParaRPr>
          </a:p>
        </p:txBody>
      </p:sp>
      <p:sp>
        <p:nvSpPr>
          <p:cNvPr id="8" name="文本框 7"/>
          <p:cNvSpPr txBox="1"/>
          <p:nvPr/>
        </p:nvSpPr>
        <p:spPr>
          <a:xfrm>
            <a:off x="6396355" y="3522345"/>
            <a:ext cx="3549015" cy="521970"/>
          </a:xfrm>
          <a:prstGeom prst="rect">
            <a:avLst/>
          </a:prstGeom>
          <a:noFill/>
        </p:spPr>
        <p:txBody>
          <a:bodyPr wrap="square" rtlCol="0">
            <a:spAutoFit/>
          </a:bodyPr>
          <a:lstStyle/>
          <a:p>
            <a:pPr algn="l"/>
            <a:r>
              <a:rPr lang="zh-CN" altLang="en-US" sz="2800">
                <a:solidFill>
                  <a:srgbClr val="2159A5"/>
                </a:solidFill>
                <a:latin typeface="微软雅黑" panose="020B0503020204020204" charset="-122"/>
                <a:ea typeface="微软雅黑" panose="020B0503020204020204" charset="-122"/>
                <a:sym typeface="+mn-ea"/>
              </a:rPr>
              <a:t>分布式管理</a:t>
            </a:r>
            <a:endParaRPr lang="zh-CN" altLang="en-US" sz="2800">
              <a:solidFill>
                <a:srgbClr val="2159A5"/>
              </a:solidFill>
              <a:latin typeface="微软雅黑" panose="020B0503020204020204" charset="-122"/>
              <a:ea typeface="微软雅黑" panose="020B0503020204020204" charset="-122"/>
              <a:sym typeface="+mn-ea"/>
            </a:endParaRPr>
          </a:p>
        </p:txBody>
      </p:sp>
      <p:grpSp>
        <p:nvGrpSpPr>
          <p:cNvPr id="10" name="组合 9"/>
          <p:cNvGrpSpPr/>
          <p:nvPr/>
        </p:nvGrpSpPr>
        <p:grpSpPr>
          <a:xfrm>
            <a:off x="2539365" y="388175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64340" y="325755"/>
            <a:ext cx="329565" cy="696595"/>
          </a:xfrm>
          <a:prstGeom prst="rect">
            <a:avLst/>
          </a:prstGeom>
          <a:solidFill>
            <a:srgbClr val="2159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096645" y="427990"/>
            <a:ext cx="5482590" cy="460375"/>
          </a:xfrm>
          <a:prstGeom prst="rect">
            <a:avLst/>
          </a:prstGeom>
          <a:noFill/>
        </p:spPr>
        <p:txBody>
          <a:bodyPr wrap="square" rtlCol="0">
            <a:spAutoFit/>
          </a:bodyPr>
          <a:lstStyle/>
          <a:p>
            <a:pPr algn="l"/>
            <a:r>
              <a:rPr lang="zh-CN" altLang="en-US" sz="2400">
                <a:solidFill>
                  <a:schemeClr val="bg1"/>
                </a:solidFill>
                <a:latin typeface="微软雅黑" panose="020B0503020204020204" charset="-122"/>
                <a:ea typeface="微软雅黑" panose="020B0503020204020204" charset="-122"/>
                <a:sym typeface="+mn-ea"/>
              </a:rPr>
              <a:t>分布式管理</a:t>
            </a:r>
            <a:endParaRPr lang="zh-CN" altLang="en-US" sz="2400">
              <a:solidFill>
                <a:schemeClr val="bg1"/>
              </a:solidFill>
              <a:latin typeface="微软雅黑" panose="020B0503020204020204" charset="-122"/>
              <a:ea typeface="微软雅黑" panose="020B0503020204020204" charset="-122"/>
              <a:sym typeface="+mn-ea"/>
            </a:endParaRPr>
          </a:p>
        </p:txBody>
      </p:sp>
      <p:sp>
        <p:nvSpPr>
          <p:cNvPr id="7" name="文本框 6"/>
          <p:cNvSpPr txBox="1"/>
          <p:nvPr/>
        </p:nvSpPr>
        <p:spPr>
          <a:xfrm>
            <a:off x="294958" y="339725"/>
            <a:ext cx="695325" cy="645160"/>
          </a:xfrm>
          <a:prstGeom prst="rect">
            <a:avLst/>
          </a:prstGeom>
          <a:noFill/>
        </p:spPr>
        <p:txBody>
          <a:bodyPr wrap="square" rtlCol="0" anchor="t">
            <a:spAutoFit/>
          </a:bodyPr>
          <a:lstStyle/>
          <a:p>
            <a:pPr algn="ctr"/>
            <a:r>
              <a:rPr lang="en-US" altLang="zh-CN" sz="3600">
                <a:solidFill>
                  <a:schemeClr val="bg1"/>
                </a:solidFill>
                <a:latin typeface="Impact" panose="020B0806030902050204" charset="0"/>
                <a:cs typeface="Impact" panose="020B0806030902050204" charset="0"/>
                <a:sym typeface="+mn-ea"/>
              </a:rPr>
              <a:t>06</a:t>
            </a:r>
            <a:endParaRPr lang="en-US" altLang="zh-CN" sz="3600">
              <a:solidFill>
                <a:schemeClr val="bg1"/>
              </a:solidFill>
              <a:latin typeface="Impact" panose="020B0806030902050204" charset="0"/>
              <a:cs typeface="Impact" panose="020B0806030902050204" charset="0"/>
              <a:sym typeface="+mn-ea"/>
            </a:endParaRPr>
          </a:p>
        </p:txBody>
      </p:sp>
      <p:sp>
        <p:nvSpPr>
          <p:cNvPr id="11" name="文本框 10"/>
          <p:cNvSpPr txBox="1"/>
          <p:nvPr/>
        </p:nvSpPr>
        <p:spPr>
          <a:xfrm>
            <a:off x="3699510" y="1922780"/>
            <a:ext cx="2816860" cy="645160"/>
          </a:xfrm>
          <a:prstGeom prst="rect">
            <a:avLst/>
          </a:prstGeom>
          <a:noFill/>
        </p:spPr>
        <p:txBody>
          <a:bodyPr wrap="square" rtlCol="0">
            <a:spAutoFit/>
          </a:bodyPr>
          <a:lstStyle/>
          <a:p>
            <a:pPr algn="ctr"/>
            <a:r>
              <a:rPr lang="zh-CN" altLang="en-US" sz="3600">
                <a:solidFill>
                  <a:schemeClr val="bg1"/>
                </a:solidFill>
                <a:latin typeface="微软雅黑" panose="020B0503020204020204" charset="-122"/>
                <a:ea typeface="微软雅黑" panose="020B0503020204020204" charset="-122"/>
              </a:rPr>
              <a:t>选题背景</a:t>
            </a:r>
            <a:endParaRPr lang="zh-CN" altLang="en-US" sz="360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6340475" y="2326005"/>
            <a:ext cx="5379085" cy="2306955"/>
          </a:xfrm>
          <a:prstGeom prst="rect">
            <a:avLst/>
          </a:prstGeom>
          <a:noFill/>
        </p:spPr>
        <p:txBody>
          <a:bodyPr wrap="square" rtlCol="0">
            <a:spAutoFit/>
          </a:bodyPr>
          <a:lstStyle/>
          <a:p>
            <a:pPr indent="0">
              <a:buFont typeface="Wingdings" panose="05000000000000000000" charset="0"/>
              <a:buNone/>
            </a:pPr>
            <a:r>
              <a:rPr lang="en-US" altLang="zh-CN" b="1" dirty="0" err="1"/>
              <a:t>vLLM</a:t>
            </a:r>
            <a:r>
              <a:rPr lang="zh-CN" altLang="en-US" b="1" dirty="0"/>
              <a:t>的整体运作流程：</a:t>
            </a:r>
            <a:endParaRPr lang="zh-CN" altLang="en-US" b="1" dirty="0"/>
          </a:p>
          <a:p>
            <a:pPr marL="285750" indent="-285750">
              <a:buFont typeface="Wingdings" panose="05000000000000000000" charset="0"/>
              <a:buChar char="Ø"/>
            </a:pPr>
            <a:endParaRPr lang="en-US" altLang="zh-CN" b="1" dirty="0"/>
          </a:p>
          <a:p>
            <a:pPr marL="285750" indent="-285750">
              <a:buFont typeface="Wingdings" panose="05000000000000000000" charset="0"/>
              <a:buChar char="Ø"/>
            </a:pPr>
            <a:r>
              <a:rPr lang="zh-CN" altLang="en-US" b="1" dirty="0"/>
              <a:t>首先，</a:t>
            </a:r>
            <a:r>
              <a:rPr lang="en-US" altLang="zh-CN" b="1" dirty="0" err="1"/>
              <a:t>vLLM</a:t>
            </a:r>
            <a:r>
              <a:rPr lang="zh-CN" altLang="en-US" b="1" dirty="0"/>
              <a:t>有一个中央调度器（</a:t>
            </a:r>
            <a:r>
              <a:rPr lang="en-US" altLang="zh-CN" b="1" dirty="0"/>
              <a:t>Scheduler</a:t>
            </a:r>
            <a:r>
              <a:rPr lang="zh-CN" altLang="en-US" b="1" dirty="0"/>
              <a:t>），它负责计算和管理每张卡上</a:t>
            </a:r>
            <a:r>
              <a:rPr lang="en-US" altLang="zh-CN" b="1" dirty="0"/>
              <a:t>KV cache</a:t>
            </a:r>
            <a:r>
              <a:rPr lang="zh-CN" altLang="en-US" b="1" dirty="0"/>
              <a:t>从逻辑块到物理块的映射表</a:t>
            </a:r>
            <a:r>
              <a:rPr lang="en-US" altLang="zh-CN" b="1" dirty="0"/>
              <a:t>(block tables)</a:t>
            </a:r>
            <a:endParaRPr lang="en-US" altLang="zh-CN" b="1" dirty="0"/>
          </a:p>
          <a:p>
            <a:pPr marL="285750" indent="-285750">
              <a:buFont typeface="Wingdings" panose="05000000000000000000" charset="0"/>
              <a:buChar char="Ø"/>
            </a:pPr>
            <a:r>
              <a:rPr lang="zh-CN" altLang="en-US" b="1" dirty="0"/>
              <a:t>在做分布式计算时，</a:t>
            </a:r>
            <a:r>
              <a:rPr lang="en-US" altLang="zh-CN" b="1" dirty="0"/>
              <a:t>Schedular</a:t>
            </a:r>
            <a:r>
              <a:rPr lang="zh-CN" altLang="en-US" b="1" dirty="0"/>
              <a:t>会将映射表广播到各张卡上，每张卡上的</a:t>
            </a:r>
            <a:r>
              <a:rPr lang="en-US" altLang="zh-CN" b="1" dirty="0"/>
              <a:t>Cache engine</a:t>
            </a:r>
            <a:r>
              <a:rPr lang="zh-CN" altLang="en-US" b="1" dirty="0"/>
              <a:t>接收到相关信息后，负责管理各卡上的</a:t>
            </a:r>
            <a:r>
              <a:rPr lang="en-US" altLang="zh-CN" b="1" dirty="0"/>
              <a:t>KV block</a:t>
            </a:r>
            <a:endParaRPr lang="en-US" altLang="zh-CN" b="1" dirty="0"/>
          </a:p>
        </p:txBody>
      </p:sp>
      <p:sp>
        <p:nvSpPr>
          <p:cNvPr id="10" name="文本框 9"/>
          <p:cNvSpPr txBox="1"/>
          <p:nvPr/>
        </p:nvSpPr>
        <p:spPr>
          <a:xfrm>
            <a:off x="1096645" y="5512435"/>
            <a:ext cx="10389870" cy="1198880"/>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cs typeface="微软雅黑" panose="020B0503020204020204" charset="-122"/>
              </a:rPr>
              <a:t>上图中给出的例子，是用张量模型并行（</a:t>
            </a:r>
            <a:r>
              <a:rPr lang="en-US" altLang="zh-CN" dirty="0" err="1">
                <a:latin typeface="微软雅黑" panose="020B0503020204020204" charset="-122"/>
                <a:ea typeface="微软雅黑" panose="020B0503020204020204" charset="-122"/>
                <a:cs typeface="微软雅黑" panose="020B0503020204020204" charset="-122"/>
              </a:rPr>
              <a:t>megatron-lm</a:t>
            </a:r>
            <a:r>
              <a:rPr lang="zh-CN" altLang="en-US" dirty="0">
                <a:latin typeface="微软雅黑" panose="020B0503020204020204" charset="-122"/>
                <a:ea typeface="微软雅黑" panose="020B0503020204020204" charset="-122"/>
                <a:cs typeface="微软雅黑" panose="020B0503020204020204" charset="-122"/>
              </a:rPr>
              <a:t>）做分布式推理时的情况，所以图中每个</a:t>
            </a:r>
            <a:r>
              <a:rPr lang="en-US" altLang="zh-CN" dirty="0">
                <a:latin typeface="微软雅黑" panose="020B0503020204020204" charset="-122"/>
                <a:ea typeface="微软雅黑" panose="020B0503020204020204" charset="-122"/>
                <a:cs typeface="微软雅黑" panose="020B0503020204020204" charset="-122"/>
              </a:rPr>
              <a:t>worker</a:t>
            </a:r>
            <a:r>
              <a:rPr lang="zh-CN" altLang="en-US" dirty="0">
                <a:latin typeface="微软雅黑" panose="020B0503020204020204" charset="-122"/>
                <a:ea typeface="微软雅黑" panose="020B0503020204020204" charset="-122"/>
                <a:cs typeface="微软雅黑" panose="020B0503020204020204" charset="-122"/>
              </a:rPr>
              <a:t>上写的是</a:t>
            </a:r>
            <a:r>
              <a:rPr lang="en-US" altLang="zh-CN" dirty="0">
                <a:latin typeface="微软雅黑" panose="020B0503020204020204" charset="-122"/>
                <a:ea typeface="微软雅黑" panose="020B0503020204020204" charset="-122"/>
                <a:cs typeface="微软雅黑" panose="020B0503020204020204" charset="-122"/>
              </a:rPr>
              <a:t>model shard</a:t>
            </a:r>
            <a:r>
              <a:rPr lang="zh-CN" altLang="en-US" dirty="0">
                <a:latin typeface="微软雅黑" panose="020B0503020204020204" charset="-122"/>
                <a:ea typeface="微软雅黑" panose="020B0503020204020204" charset="-122"/>
                <a:cs typeface="微软雅黑" panose="020B0503020204020204" charset="-122"/>
              </a:rPr>
              <a:t>。</a:t>
            </a:r>
            <a:r>
              <a:rPr lang="zh-CN" altLang="en-US" b="1" dirty="0">
                <a:latin typeface="微软雅黑" panose="020B0503020204020204" charset="-122"/>
                <a:ea typeface="微软雅黑" panose="020B0503020204020204" charset="-122"/>
                <a:cs typeface="微软雅黑" panose="020B0503020204020204" charset="-122"/>
              </a:rPr>
              <a:t>在张量并行中，各卡上的输入数据相同，只是各卡负责计算不同</a:t>
            </a:r>
            <a:r>
              <a:rPr lang="en-US" altLang="zh-CN" b="1" dirty="0">
                <a:latin typeface="微软雅黑" panose="020B0503020204020204" charset="-122"/>
                <a:ea typeface="微软雅黑" panose="020B0503020204020204" charset="-122"/>
                <a:cs typeface="微软雅黑" panose="020B0503020204020204" charset="-122"/>
              </a:rPr>
              <a:t>head</a:t>
            </a:r>
            <a:r>
              <a:rPr lang="zh-CN" altLang="en-US" b="1" dirty="0">
                <a:latin typeface="微软雅黑" panose="020B0503020204020204" charset="-122"/>
                <a:ea typeface="微软雅黑" panose="020B0503020204020204" charset="-122"/>
                <a:cs typeface="微软雅黑" panose="020B0503020204020204" charset="-122"/>
              </a:rPr>
              <a:t>的</a:t>
            </a:r>
            <a:r>
              <a:rPr lang="en-US" altLang="zh-CN" b="1" dirty="0">
                <a:latin typeface="微软雅黑" panose="020B0503020204020204" charset="-122"/>
                <a:ea typeface="微软雅黑" panose="020B0503020204020204" charset="-122"/>
                <a:cs typeface="微软雅黑" panose="020B0503020204020204" charset="-122"/>
              </a:rPr>
              <a:t>KV cache</a:t>
            </a:r>
            <a:r>
              <a:rPr lang="zh-CN" altLang="en-US" b="1" dirty="0">
                <a:latin typeface="微软雅黑" panose="020B0503020204020204" charset="-122"/>
                <a:ea typeface="微软雅黑" panose="020B0503020204020204" charset="-122"/>
                <a:cs typeface="微软雅黑" panose="020B0503020204020204" charset="-122"/>
              </a:rPr>
              <a:t>。所以这种情况下，各卡上的逻辑块</a:t>
            </a:r>
            <a:r>
              <a:rPr lang="en-US" altLang="zh-CN" b="1" dirty="0">
                <a:latin typeface="微软雅黑" panose="020B0503020204020204" charset="-122"/>
                <a:ea typeface="微软雅黑" panose="020B0503020204020204" charset="-122"/>
                <a:cs typeface="微软雅黑" panose="020B0503020204020204" charset="-122"/>
              </a:rPr>
              <a:t>-</a:t>
            </a:r>
            <a:r>
              <a:rPr lang="zh-CN" altLang="en-US" b="1" dirty="0">
                <a:latin typeface="微软雅黑" panose="020B0503020204020204" charset="-122"/>
                <a:ea typeface="微软雅黑" panose="020B0503020204020204" charset="-122"/>
                <a:cs typeface="微软雅黑" panose="020B0503020204020204" charset="-122"/>
              </a:rPr>
              <a:t>物理块的映射关系其实是相同的（用的同一张</a:t>
            </a:r>
            <a:r>
              <a:rPr lang="en-US" altLang="zh-CN" b="1" dirty="0">
                <a:latin typeface="微软雅黑" panose="020B0503020204020204" charset="-122"/>
                <a:ea typeface="微软雅黑" panose="020B0503020204020204" charset="-122"/>
                <a:cs typeface="微软雅黑" panose="020B0503020204020204" charset="-122"/>
              </a:rPr>
              <a:t>block table</a:t>
            </a:r>
            <a:r>
              <a:rPr lang="zh-CN" altLang="en-US" b="1" dirty="0">
                <a:latin typeface="微软雅黑" panose="020B0503020204020204" charset="-122"/>
                <a:ea typeface="微软雅黑" panose="020B0503020204020204" charset="-122"/>
                <a:cs typeface="微软雅黑" panose="020B0503020204020204" charset="-122"/>
              </a:rPr>
              <a:t>），只是各卡上物理块中实际存储的数据不同而已。</a:t>
            </a:r>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223520" y="1623060"/>
            <a:ext cx="6116955" cy="37122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159A5"/>
        </a:solidFill>
        <a:effectLst/>
      </p:bgPr>
    </p:bg>
    <p:spTree>
      <p:nvGrpSpPr>
        <p:cNvPr id="1" name=""/>
        <p:cNvGrpSpPr/>
        <p:nvPr/>
      </p:nvGrpSpPr>
      <p:grpSpPr>
        <a:xfrm>
          <a:off x="0" y="0"/>
          <a:ext cx="0" cy="0"/>
          <a:chOff x="0" y="0"/>
          <a:chExt cx="0" cy="0"/>
        </a:xfrm>
      </p:grpSpPr>
      <p:sp>
        <p:nvSpPr>
          <p:cNvPr id="3" name="学士帽"/>
          <p:cNvSpPr/>
          <p:nvPr/>
        </p:nvSpPr>
        <p:spPr bwMode="auto">
          <a:xfrm>
            <a:off x="-640715" y="-128270"/>
            <a:ext cx="13241655" cy="731901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alpha val="7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solidFill>
                <a:schemeClr val="tx1">
                  <a:lumMod val="95000"/>
                  <a:lumOff val="5000"/>
                </a:schemeClr>
              </a:solidFill>
            </a:endParaRPr>
          </a:p>
        </p:txBody>
      </p:sp>
      <p:sp>
        <p:nvSpPr>
          <p:cNvPr id="4" name="矩形 3"/>
          <p:cNvSpPr/>
          <p:nvPr/>
        </p:nvSpPr>
        <p:spPr>
          <a:xfrm>
            <a:off x="1423670" y="1360805"/>
            <a:ext cx="9284970" cy="4135755"/>
          </a:xfrm>
          <a:prstGeom prst="rect">
            <a:avLst/>
          </a:prstGeom>
          <a:solidFill>
            <a:schemeClr val="bg1"/>
          </a:solidFill>
          <a:ln>
            <a:noFill/>
          </a:ln>
          <a:effectLst>
            <a:outerShdw blurRad="381000" dist="177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921762" y="2654300"/>
            <a:ext cx="4246880" cy="1322070"/>
          </a:xfrm>
          <a:prstGeom prst="rect">
            <a:avLst/>
          </a:prstGeom>
          <a:noFill/>
        </p:spPr>
        <p:txBody>
          <a:bodyPr wrap="none" rtlCol="0" anchor="t">
            <a:spAutoFit/>
          </a:bodyPr>
          <a:lstStyle/>
          <a:p>
            <a:pPr algn="ctr"/>
            <a:r>
              <a:rPr lang="zh-CN" altLang="en-US" sz="8000">
                <a:solidFill>
                  <a:srgbClr val="2159A5"/>
                </a:solidFill>
                <a:latin typeface="Impact" panose="020B0806030902050204" charset="0"/>
                <a:cs typeface="Impact" panose="020B0806030902050204" charset="0"/>
                <a:sym typeface="+mn-ea"/>
              </a:rPr>
              <a:t>谢谢观看</a:t>
            </a:r>
            <a:endParaRPr lang="zh-CN" altLang="en-US" sz="8000">
              <a:solidFill>
                <a:srgbClr val="2159A5"/>
              </a:solidFill>
              <a:latin typeface="Impact" panose="020B0806030902050204" charset="0"/>
              <a:cs typeface="Impact" panose="020B0806030902050204" charset="0"/>
              <a:sym typeface="+mn-ea"/>
            </a:endParaRPr>
          </a:p>
        </p:txBody>
      </p:sp>
      <p:grpSp>
        <p:nvGrpSpPr>
          <p:cNvPr id="10" name="组合 9"/>
          <p:cNvGrpSpPr/>
          <p:nvPr/>
        </p:nvGrpSpPr>
        <p:grpSpPr>
          <a:xfrm>
            <a:off x="4505960" y="1851025"/>
            <a:ext cx="2847975" cy="628650"/>
            <a:chOff x="-4413546" y="1548861"/>
            <a:chExt cx="16208484" cy="3574391"/>
          </a:xfrm>
        </p:grpSpPr>
        <p:grpSp>
          <p:nvGrpSpPr>
            <p:cNvPr id="11" name="组合 10"/>
            <p:cNvGrpSpPr/>
            <p:nvPr/>
          </p:nvGrpSpPr>
          <p:grpSpPr>
            <a:xfrm>
              <a:off x="-4413546" y="1548861"/>
              <a:ext cx="3616325" cy="3574391"/>
              <a:chOff x="1393825" y="0"/>
              <a:chExt cx="9720263" cy="9607550"/>
            </a:xfrm>
            <a:solidFill>
              <a:srgbClr val="2159A5"/>
            </a:solidFill>
          </p:grpSpPr>
          <p:sp>
            <p:nvSpPr>
              <p:cNvPr id="12" name="Freeform 6"/>
              <p:cNvSpPr>
                <a:spLocks noEditPoints="1"/>
              </p:cNvSpPr>
              <p:nvPr/>
            </p:nvSpPr>
            <p:spPr bwMode="auto">
              <a:xfrm>
                <a:off x="1393825" y="0"/>
                <a:ext cx="9720263" cy="9607550"/>
              </a:xfrm>
              <a:custGeom>
                <a:avLst/>
                <a:gdLst>
                  <a:gd name="T0" fmla="*/ 1589 w 3079"/>
                  <a:gd name="T1" fmla="*/ 0 h 3042"/>
                  <a:gd name="T2" fmla="*/ 1674 w 3079"/>
                  <a:gd name="T3" fmla="*/ 7 h 3042"/>
                  <a:gd name="T4" fmla="*/ 2381 w 3079"/>
                  <a:gd name="T5" fmla="*/ 261 h 3042"/>
                  <a:gd name="T6" fmla="*/ 2991 w 3079"/>
                  <a:gd name="T7" fmla="*/ 1156 h 3042"/>
                  <a:gd name="T8" fmla="*/ 2815 w 3079"/>
                  <a:gd name="T9" fmla="*/ 2258 h 3042"/>
                  <a:gd name="T10" fmla="*/ 1858 w 3079"/>
                  <a:gd name="T11" fmla="*/ 2943 h 3042"/>
                  <a:gd name="T12" fmla="*/ 599 w 3079"/>
                  <a:gd name="T13" fmla="*/ 2641 h 3042"/>
                  <a:gd name="T14" fmla="*/ 70 w 3079"/>
                  <a:gd name="T15" fmla="*/ 1712 h 3042"/>
                  <a:gd name="T16" fmla="*/ 492 w 3079"/>
                  <a:gd name="T17" fmla="*/ 435 h 3042"/>
                  <a:gd name="T18" fmla="*/ 1332 w 3079"/>
                  <a:gd name="T19" fmla="*/ 16 h 3042"/>
                  <a:gd name="T20" fmla="*/ 1473 w 3079"/>
                  <a:gd name="T21" fmla="*/ 3 h 3042"/>
                  <a:gd name="T22" fmla="*/ 1493 w 3079"/>
                  <a:gd name="T23" fmla="*/ 0 h 3042"/>
                  <a:gd name="T24" fmla="*/ 1589 w 3079"/>
                  <a:gd name="T25" fmla="*/ 0 h 3042"/>
                  <a:gd name="T26" fmla="*/ 1540 w 3079"/>
                  <a:gd name="T27" fmla="*/ 2960 h 3042"/>
                  <a:gd name="T28" fmla="*/ 3010 w 3079"/>
                  <a:gd name="T29" fmla="*/ 1495 h 3042"/>
                  <a:gd name="T30" fmla="*/ 1548 w 3079"/>
                  <a:gd name="T31" fmla="*/ 20 h 3042"/>
                  <a:gd name="T32" fmla="*/ 72 w 3079"/>
                  <a:gd name="T33" fmla="*/ 1486 h 3042"/>
                  <a:gd name="T34" fmla="*/ 1540 w 3079"/>
                  <a:gd name="T35" fmla="*/ 2960 h 3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79" h="3042">
                    <a:moveTo>
                      <a:pt x="1589" y="0"/>
                    </a:moveTo>
                    <a:cubicBezTo>
                      <a:pt x="1617" y="2"/>
                      <a:pt x="1646" y="5"/>
                      <a:pt x="1674" y="7"/>
                    </a:cubicBezTo>
                    <a:cubicBezTo>
                      <a:pt x="1932" y="30"/>
                      <a:pt x="2168" y="114"/>
                      <a:pt x="2381" y="261"/>
                    </a:cubicBezTo>
                    <a:cubicBezTo>
                      <a:pt x="2698" y="481"/>
                      <a:pt x="2905" y="779"/>
                      <a:pt x="2991" y="1156"/>
                    </a:cubicBezTo>
                    <a:cubicBezTo>
                      <a:pt x="3079" y="1546"/>
                      <a:pt x="3022" y="1917"/>
                      <a:pt x="2815" y="2258"/>
                    </a:cubicBezTo>
                    <a:cubicBezTo>
                      <a:pt x="2594" y="2621"/>
                      <a:pt x="2274" y="2855"/>
                      <a:pt x="1858" y="2943"/>
                    </a:cubicBezTo>
                    <a:cubicBezTo>
                      <a:pt x="1392" y="3042"/>
                      <a:pt x="969" y="2941"/>
                      <a:pt x="599" y="2641"/>
                    </a:cubicBezTo>
                    <a:cubicBezTo>
                      <a:pt x="303" y="2402"/>
                      <a:pt x="123" y="2089"/>
                      <a:pt x="70" y="1712"/>
                    </a:cubicBezTo>
                    <a:cubicBezTo>
                      <a:pt x="0" y="1218"/>
                      <a:pt x="143" y="789"/>
                      <a:pt x="492" y="435"/>
                    </a:cubicBezTo>
                    <a:cubicBezTo>
                      <a:pt x="723" y="200"/>
                      <a:pt x="1006" y="63"/>
                      <a:pt x="1332" y="16"/>
                    </a:cubicBezTo>
                    <a:cubicBezTo>
                      <a:pt x="1379" y="10"/>
                      <a:pt x="1426" y="8"/>
                      <a:pt x="1473" y="3"/>
                    </a:cubicBezTo>
                    <a:cubicBezTo>
                      <a:pt x="1480" y="3"/>
                      <a:pt x="1486" y="1"/>
                      <a:pt x="1493" y="0"/>
                    </a:cubicBezTo>
                    <a:cubicBezTo>
                      <a:pt x="1525" y="0"/>
                      <a:pt x="1557" y="0"/>
                      <a:pt x="1589" y="0"/>
                    </a:cubicBezTo>
                    <a:close/>
                    <a:moveTo>
                      <a:pt x="1540" y="2960"/>
                    </a:moveTo>
                    <a:cubicBezTo>
                      <a:pt x="2348" y="2961"/>
                      <a:pt x="3008" y="2304"/>
                      <a:pt x="3010" y="1495"/>
                    </a:cubicBezTo>
                    <a:cubicBezTo>
                      <a:pt x="3011" y="683"/>
                      <a:pt x="2356" y="22"/>
                      <a:pt x="1548" y="20"/>
                    </a:cubicBezTo>
                    <a:cubicBezTo>
                      <a:pt x="734" y="18"/>
                      <a:pt x="73" y="674"/>
                      <a:pt x="72" y="1486"/>
                    </a:cubicBezTo>
                    <a:cubicBezTo>
                      <a:pt x="70" y="2300"/>
                      <a:pt x="726" y="2959"/>
                      <a:pt x="1540" y="29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a:spLocks noEditPoints="1"/>
              </p:cNvSpPr>
              <p:nvPr/>
            </p:nvSpPr>
            <p:spPr bwMode="auto">
              <a:xfrm>
                <a:off x="2770187" y="1216025"/>
                <a:ext cx="6977063" cy="6983413"/>
              </a:xfrm>
              <a:custGeom>
                <a:avLst/>
                <a:gdLst>
                  <a:gd name="T0" fmla="*/ 1105 w 2210"/>
                  <a:gd name="T1" fmla="*/ 2210 h 2211"/>
                  <a:gd name="T2" fmla="*/ 1 w 2210"/>
                  <a:gd name="T3" fmla="*/ 1099 h 2211"/>
                  <a:gd name="T4" fmla="*/ 1109 w 2210"/>
                  <a:gd name="T5" fmla="*/ 1 h 2211"/>
                  <a:gd name="T6" fmla="*/ 2208 w 2210"/>
                  <a:gd name="T7" fmla="*/ 1107 h 2211"/>
                  <a:gd name="T8" fmla="*/ 1105 w 2210"/>
                  <a:gd name="T9" fmla="*/ 2210 h 2211"/>
                  <a:gd name="T10" fmla="*/ 989 w 2210"/>
                  <a:gd name="T11" fmla="*/ 1572 h 2211"/>
                  <a:gd name="T12" fmla="*/ 990 w 2210"/>
                  <a:gd name="T13" fmla="*/ 1579 h 2211"/>
                  <a:gd name="T14" fmla="*/ 842 w 2210"/>
                  <a:gd name="T15" fmla="*/ 1590 h 2211"/>
                  <a:gd name="T16" fmla="*/ 470 w 2210"/>
                  <a:gd name="T17" fmla="*/ 1344 h 2211"/>
                  <a:gd name="T18" fmla="*/ 423 w 2210"/>
                  <a:gd name="T19" fmla="*/ 908 h 2211"/>
                  <a:gd name="T20" fmla="*/ 588 w 2210"/>
                  <a:gd name="T21" fmla="*/ 438 h 2211"/>
                  <a:gd name="T22" fmla="*/ 594 w 2210"/>
                  <a:gd name="T23" fmla="*/ 425 h 2211"/>
                  <a:gd name="T24" fmla="*/ 590 w 2210"/>
                  <a:gd name="T25" fmla="*/ 421 h 2211"/>
                  <a:gd name="T26" fmla="*/ 479 w 2210"/>
                  <a:gd name="T27" fmla="*/ 492 h 2211"/>
                  <a:gd name="T28" fmla="*/ 180 w 2210"/>
                  <a:gd name="T29" fmla="*/ 851 h 2211"/>
                  <a:gd name="T30" fmla="*/ 112 w 2210"/>
                  <a:gd name="T31" fmla="*/ 1502 h 2211"/>
                  <a:gd name="T32" fmla="*/ 333 w 2210"/>
                  <a:gd name="T33" fmla="*/ 1725 h 2211"/>
                  <a:gd name="T34" fmla="*/ 514 w 2210"/>
                  <a:gd name="T35" fmla="*/ 1746 h 2211"/>
                  <a:gd name="T36" fmla="*/ 968 w 2210"/>
                  <a:gd name="T37" fmla="*/ 1600 h 2211"/>
                  <a:gd name="T38" fmla="*/ 1066 w 2210"/>
                  <a:gd name="T39" fmla="*/ 1565 h 2211"/>
                  <a:gd name="T40" fmla="*/ 1591 w 2210"/>
                  <a:gd name="T41" fmla="*/ 1400 h 2211"/>
                  <a:gd name="T42" fmla="*/ 1629 w 2210"/>
                  <a:gd name="T43" fmla="*/ 1380 h 2211"/>
                  <a:gd name="T44" fmla="*/ 1314 w 2210"/>
                  <a:gd name="T45" fmla="*/ 2032 h 2211"/>
                  <a:gd name="T46" fmla="*/ 1332 w 2210"/>
                  <a:gd name="T47" fmla="*/ 2028 h 2211"/>
                  <a:gd name="T48" fmla="*/ 1502 w 2210"/>
                  <a:gd name="T49" fmla="*/ 1961 h 2211"/>
                  <a:gd name="T50" fmla="*/ 2066 w 2210"/>
                  <a:gd name="T51" fmla="*/ 1328 h 2211"/>
                  <a:gd name="T52" fmla="*/ 2113 w 2210"/>
                  <a:gd name="T53" fmla="*/ 922 h 2211"/>
                  <a:gd name="T54" fmla="*/ 1797 w 2210"/>
                  <a:gd name="T55" fmla="*/ 659 h 2211"/>
                  <a:gd name="T56" fmla="*/ 1527 w 2210"/>
                  <a:gd name="T57" fmla="*/ 727 h 2211"/>
                  <a:gd name="T58" fmla="*/ 1141 w 2210"/>
                  <a:gd name="T59" fmla="*/ 1013 h 2211"/>
                  <a:gd name="T60" fmla="*/ 1102 w 2210"/>
                  <a:gd name="T61" fmla="*/ 1068 h 2211"/>
                  <a:gd name="T62" fmla="*/ 1117 w 2210"/>
                  <a:gd name="T63" fmla="*/ 1065 h 2211"/>
                  <a:gd name="T64" fmla="*/ 1377 w 2210"/>
                  <a:gd name="T65" fmla="*/ 1047 h 2211"/>
                  <a:gd name="T66" fmla="*/ 1626 w 2210"/>
                  <a:gd name="T67" fmla="*/ 1375 h 2211"/>
                  <a:gd name="T68" fmla="*/ 1613 w 2210"/>
                  <a:gd name="T69" fmla="*/ 1378 h 2211"/>
                  <a:gd name="T70" fmla="*/ 1306 w 2210"/>
                  <a:gd name="T71" fmla="*/ 1348 h 2211"/>
                  <a:gd name="T72" fmla="*/ 1068 w 2210"/>
                  <a:gd name="T73" fmla="*/ 1174 h 2211"/>
                  <a:gd name="T74" fmla="*/ 1019 w 2210"/>
                  <a:gd name="T75" fmla="*/ 851 h 2211"/>
                  <a:gd name="T76" fmla="*/ 1162 w 2210"/>
                  <a:gd name="T77" fmla="*/ 474 h 2211"/>
                  <a:gd name="T78" fmla="*/ 1470 w 2210"/>
                  <a:gd name="T79" fmla="*/ 153 h 2211"/>
                  <a:gd name="T80" fmla="*/ 1474 w 2210"/>
                  <a:gd name="T81" fmla="*/ 146 h 2211"/>
                  <a:gd name="T82" fmla="*/ 1456 w 2210"/>
                  <a:gd name="T83" fmla="*/ 152 h 2211"/>
                  <a:gd name="T84" fmla="*/ 1034 w 2210"/>
                  <a:gd name="T85" fmla="*/ 385 h 2211"/>
                  <a:gd name="T86" fmla="*/ 664 w 2210"/>
                  <a:gd name="T87" fmla="*/ 824 h 2211"/>
                  <a:gd name="T88" fmla="*/ 585 w 2210"/>
                  <a:gd name="T89" fmla="*/ 1316 h 2211"/>
                  <a:gd name="T90" fmla="*/ 793 w 2210"/>
                  <a:gd name="T91" fmla="*/ 1552 h 2211"/>
                  <a:gd name="T92" fmla="*/ 989 w 2210"/>
                  <a:gd name="T93" fmla="*/ 1572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10" h="2211">
                    <a:moveTo>
                      <a:pt x="1105" y="2210"/>
                    </a:moveTo>
                    <a:cubicBezTo>
                      <a:pt x="492" y="2209"/>
                      <a:pt x="0" y="1714"/>
                      <a:pt x="1" y="1099"/>
                    </a:cubicBezTo>
                    <a:cubicBezTo>
                      <a:pt x="2" y="492"/>
                      <a:pt x="498" y="0"/>
                      <a:pt x="1109" y="1"/>
                    </a:cubicBezTo>
                    <a:cubicBezTo>
                      <a:pt x="1716" y="2"/>
                      <a:pt x="2210" y="499"/>
                      <a:pt x="2208" y="1107"/>
                    </a:cubicBezTo>
                    <a:cubicBezTo>
                      <a:pt x="2207" y="1717"/>
                      <a:pt x="1712" y="2211"/>
                      <a:pt x="1105" y="2210"/>
                    </a:cubicBezTo>
                    <a:close/>
                    <a:moveTo>
                      <a:pt x="989" y="1572"/>
                    </a:moveTo>
                    <a:cubicBezTo>
                      <a:pt x="989" y="1574"/>
                      <a:pt x="990" y="1577"/>
                      <a:pt x="990" y="1579"/>
                    </a:cubicBezTo>
                    <a:cubicBezTo>
                      <a:pt x="941" y="1583"/>
                      <a:pt x="891" y="1591"/>
                      <a:pt x="842" y="1590"/>
                    </a:cubicBezTo>
                    <a:cubicBezTo>
                      <a:pt x="666" y="1588"/>
                      <a:pt x="542" y="1503"/>
                      <a:pt x="470" y="1344"/>
                    </a:cubicBezTo>
                    <a:cubicBezTo>
                      <a:pt x="408" y="1204"/>
                      <a:pt x="403" y="1057"/>
                      <a:pt x="423" y="908"/>
                    </a:cubicBezTo>
                    <a:cubicBezTo>
                      <a:pt x="445" y="740"/>
                      <a:pt x="501" y="584"/>
                      <a:pt x="588" y="438"/>
                    </a:cubicBezTo>
                    <a:cubicBezTo>
                      <a:pt x="590" y="434"/>
                      <a:pt x="592" y="430"/>
                      <a:pt x="594" y="425"/>
                    </a:cubicBezTo>
                    <a:cubicBezTo>
                      <a:pt x="592" y="424"/>
                      <a:pt x="591" y="422"/>
                      <a:pt x="590" y="421"/>
                    </a:cubicBezTo>
                    <a:cubicBezTo>
                      <a:pt x="553" y="444"/>
                      <a:pt x="514" y="466"/>
                      <a:pt x="479" y="492"/>
                    </a:cubicBezTo>
                    <a:cubicBezTo>
                      <a:pt x="351" y="587"/>
                      <a:pt x="252" y="708"/>
                      <a:pt x="180" y="851"/>
                    </a:cubicBezTo>
                    <a:cubicBezTo>
                      <a:pt x="74" y="1059"/>
                      <a:pt x="39" y="1275"/>
                      <a:pt x="112" y="1502"/>
                    </a:cubicBezTo>
                    <a:cubicBezTo>
                      <a:pt x="148" y="1615"/>
                      <a:pt x="219" y="1691"/>
                      <a:pt x="333" y="1725"/>
                    </a:cubicBezTo>
                    <a:cubicBezTo>
                      <a:pt x="392" y="1743"/>
                      <a:pt x="453" y="1749"/>
                      <a:pt x="514" y="1746"/>
                    </a:cubicBezTo>
                    <a:cubicBezTo>
                      <a:pt x="678" y="1737"/>
                      <a:pt x="828" y="1684"/>
                      <a:pt x="968" y="1600"/>
                    </a:cubicBezTo>
                    <a:cubicBezTo>
                      <a:pt x="999" y="1582"/>
                      <a:pt x="1029" y="1570"/>
                      <a:pt x="1066" y="1565"/>
                    </a:cubicBezTo>
                    <a:cubicBezTo>
                      <a:pt x="1251" y="1542"/>
                      <a:pt x="1425" y="1484"/>
                      <a:pt x="1591" y="1400"/>
                    </a:cubicBezTo>
                    <a:cubicBezTo>
                      <a:pt x="1602" y="1394"/>
                      <a:pt x="1613" y="1388"/>
                      <a:pt x="1629" y="1380"/>
                    </a:cubicBezTo>
                    <a:cubicBezTo>
                      <a:pt x="1603" y="1637"/>
                      <a:pt x="1473" y="1840"/>
                      <a:pt x="1314" y="2032"/>
                    </a:cubicBezTo>
                    <a:cubicBezTo>
                      <a:pt x="1323" y="2030"/>
                      <a:pt x="1328" y="2030"/>
                      <a:pt x="1332" y="2028"/>
                    </a:cubicBezTo>
                    <a:cubicBezTo>
                      <a:pt x="1389" y="2006"/>
                      <a:pt x="1449" y="1989"/>
                      <a:pt x="1502" y="1961"/>
                    </a:cubicBezTo>
                    <a:cubicBezTo>
                      <a:pt x="1766" y="1818"/>
                      <a:pt x="1955" y="1607"/>
                      <a:pt x="2066" y="1328"/>
                    </a:cubicBezTo>
                    <a:cubicBezTo>
                      <a:pt x="2117" y="1198"/>
                      <a:pt x="2136" y="1062"/>
                      <a:pt x="2113" y="922"/>
                    </a:cubicBezTo>
                    <a:cubicBezTo>
                      <a:pt x="2084" y="749"/>
                      <a:pt x="1972" y="655"/>
                      <a:pt x="1797" y="659"/>
                    </a:cubicBezTo>
                    <a:cubicBezTo>
                      <a:pt x="1702" y="662"/>
                      <a:pt x="1613" y="689"/>
                      <a:pt x="1527" y="727"/>
                    </a:cubicBezTo>
                    <a:cubicBezTo>
                      <a:pt x="1377" y="794"/>
                      <a:pt x="1245" y="885"/>
                      <a:pt x="1141" y="1013"/>
                    </a:cubicBezTo>
                    <a:cubicBezTo>
                      <a:pt x="1128" y="1030"/>
                      <a:pt x="1117" y="1047"/>
                      <a:pt x="1102" y="1068"/>
                    </a:cubicBezTo>
                    <a:cubicBezTo>
                      <a:pt x="1111" y="1066"/>
                      <a:pt x="1114" y="1066"/>
                      <a:pt x="1117" y="1065"/>
                    </a:cubicBezTo>
                    <a:cubicBezTo>
                      <a:pt x="1203" y="1045"/>
                      <a:pt x="1289" y="1034"/>
                      <a:pt x="1377" y="1047"/>
                    </a:cubicBezTo>
                    <a:cubicBezTo>
                      <a:pt x="1561" y="1075"/>
                      <a:pt x="1635" y="1217"/>
                      <a:pt x="1626" y="1375"/>
                    </a:cubicBezTo>
                    <a:cubicBezTo>
                      <a:pt x="1622" y="1376"/>
                      <a:pt x="1617" y="1377"/>
                      <a:pt x="1613" y="1378"/>
                    </a:cubicBezTo>
                    <a:cubicBezTo>
                      <a:pt x="1509" y="1382"/>
                      <a:pt x="1406" y="1379"/>
                      <a:pt x="1306" y="1348"/>
                    </a:cubicBezTo>
                    <a:cubicBezTo>
                      <a:pt x="1207" y="1318"/>
                      <a:pt x="1123" y="1266"/>
                      <a:pt x="1068" y="1174"/>
                    </a:cubicBezTo>
                    <a:cubicBezTo>
                      <a:pt x="1009" y="1073"/>
                      <a:pt x="1003" y="963"/>
                      <a:pt x="1019" y="851"/>
                    </a:cubicBezTo>
                    <a:cubicBezTo>
                      <a:pt x="1039" y="715"/>
                      <a:pt x="1090" y="590"/>
                      <a:pt x="1162" y="474"/>
                    </a:cubicBezTo>
                    <a:cubicBezTo>
                      <a:pt x="1241" y="345"/>
                      <a:pt x="1337" y="231"/>
                      <a:pt x="1470" y="153"/>
                    </a:cubicBezTo>
                    <a:cubicBezTo>
                      <a:pt x="1471" y="152"/>
                      <a:pt x="1472" y="150"/>
                      <a:pt x="1474" y="146"/>
                    </a:cubicBezTo>
                    <a:cubicBezTo>
                      <a:pt x="1466" y="149"/>
                      <a:pt x="1461" y="150"/>
                      <a:pt x="1456" y="152"/>
                    </a:cubicBezTo>
                    <a:cubicBezTo>
                      <a:pt x="1305" y="210"/>
                      <a:pt x="1163" y="286"/>
                      <a:pt x="1034" y="385"/>
                    </a:cubicBezTo>
                    <a:cubicBezTo>
                      <a:pt x="880" y="505"/>
                      <a:pt x="751" y="647"/>
                      <a:pt x="664" y="824"/>
                    </a:cubicBezTo>
                    <a:cubicBezTo>
                      <a:pt x="587" y="980"/>
                      <a:pt x="553" y="1143"/>
                      <a:pt x="585" y="1316"/>
                    </a:cubicBezTo>
                    <a:cubicBezTo>
                      <a:pt x="607" y="1437"/>
                      <a:pt x="675" y="1516"/>
                      <a:pt x="793" y="1552"/>
                    </a:cubicBezTo>
                    <a:cubicBezTo>
                      <a:pt x="857" y="1571"/>
                      <a:pt x="923" y="1575"/>
                      <a:pt x="989" y="15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a:spLocks noEditPoints="1"/>
              </p:cNvSpPr>
              <p:nvPr/>
            </p:nvSpPr>
            <p:spPr bwMode="auto">
              <a:xfrm>
                <a:off x="2871787" y="1531938"/>
                <a:ext cx="811213" cy="1212850"/>
              </a:xfrm>
              <a:custGeom>
                <a:avLst/>
                <a:gdLst>
                  <a:gd name="T0" fmla="*/ 89 w 257"/>
                  <a:gd name="T1" fmla="*/ 380 h 384"/>
                  <a:gd name="T2" fmla="*/ 107 w 257"/>
                  <a:gd name="T3" fmla="*/ 336 h 384"/>
                  <a:gd name="T4" fmla="*/ 145 w 257"/>
                  <a:gd name="T5" fmla="*/ 249 h 384"/>
                  <a:gd name="T6" fmla="*/ 121 w 257"/>
                  <a:gd name="T7" fmla="*/ 206 h 384"/>
                  <a:gd name="T8" fmla="*/ 119 w 257"/>
                  <a:gd name="T9" fmla="*/ 236 h 384"/>
                  <a:gd name="T10" fmla="*/ 103 w 257"/>
                  <a:gd name="T11" fmla="*/ 255 h 384"/>
                  <a:gd name="T12" fmla="*/ 94 w 257"/>
                  <a:gd name="T13" fmla="*/ 236 h 384"/>
                  <a:gd name="T14" fmla="*/ 85 w 257"/>
                  <a:gd name="T15" fmla="*/ 208 h 384"/>
                  <a:gd name="T16" fmla="*/ 78 w 257"/>
                  <a:gd name="T17" fmla="*/ 209 h 384"/>
                  <a:gd name="T18" fmla="*/ 65 w 257"/>
                  <a:gd name="T19" fmla="*/ 248 h 384"/>
                  <a:gd name="T20" fmla="*/ 15 w 257"/>
                  <a:gd name="T21" fmla="*/ 264 h 384"/>
                  <a:gd name="T22" fmla="*/ 49 w 257"/>
                  <a:gd name="T23" fmla="*/ 208 h 384"/>
                  <a:gd name="T24" fmla="*/ 86 w 257"/>
                  <a:gd name="T25" fmla="*/ 144 h 384"/>
                  <a:gd name="T26" fmla="*/ 85 w 257"/>
                  <a:gd name="T27" fmla="*/ 116 h 384"/>
                  <a:gd name="T28" fmla="*/ 8 w 257"/>
                  <a:gd name="T29" fmla="*/ 30 h 384"/>
                  <a:gd name="T30" fmla="*/ 1 w 257"/>
                  <a:gd name="T31" fmla="*/ 15 h 384"/>
                  <a:gd name="T32" fmla="*/ 13 w 257"/>
                  <a:gd name="T33" fmla="*/ 4 h 384"/>
                  <a:gd name="T34" fmla="*/ 52 w 257"/>
                  <a:gd name="T35" fmla="*/ 18 h 384"/>
                  <a:gd name="T36" fmla="*/ 77 w 257"/>
                  <a:gd name="T37" fmla="*/ 59 h 384"/>
                  <a:gd name="T38" fmla="*/ 102 w 257"/>
                  <a:gd name="T39" fmla="*/ 98 h 384"/>
                  <a:gd name="T40" fmla="*/ 133 w 257"/>
                  <a:gd name="T41" fmla="*/ 92 h 384"/>
                  <a:gd name="T42" fmla="*/ 137 w 257"/>
                  <a:gd name="T43" fmla="*/ 97 h 384"/>
                  <a:gd name="T44" fmla="*/ 137 w 257"/>
                  <a:gd name="T45" fmla="*/ 141 h 384"/>
                  <a:gd name="T46" fmla="*/ 190 w 257"/>
                  <a:gd name="T47" fmla="*/ 192 h 384"/>
                  <a:gd name="T48" fmla="*/ 178 w 257"/>
                  <a:gd name="T49" fmla="*/ 134 h 384"/>
                  <a:gd name="T50" fmla="*/ 184 w 257"/>
                  <a:gd name="T51" fmla="*/ 129 h 384"/>
                  <a:gd name="T52" fmla="*/ 224 w 257"/>
                  <a:gd name="T53" fmla="*/ 173 h 384"/>
                  <a:gd name="T54" fmla="*/ 252 w 257"/>
                  <a:gd name="T55" fmla="*/ 233 h 384"/>
                  <a:gd name="T56" fmla="*/ 231 w 257"/>
                  <a:gd name="T57" fmla="*/ 245 h 384"/>
                  <a:gd name="T58" fmla="*/ 207 w 257"/>
                  <a:gd name="T59" fmla="*/ 222 h 384"/>
                  <a:gd name="T60" fmla="*/ 188 w 257"/>
                  <a:gd name="T61" fmla="*/ 207 h 384"/>
                  <a:gd name="T62" fmla="*/ 164 w 257"/>
                  <a:gd name="T63" fmla="*/ 221 h 384"/>
                  <a:gd name="T64" fmla="*/ 139 w 257"/>
                  <a:gd name="T65" fmla="*/ 350 h 384"/>
                  <a:gd name="T66" fmla="*/ 89 w 257"/>
                  <a:gd name="T67" fmla="*/ 380 h 384"/>
                  <a:gd name="T68" fmla="*/ 120 w 257"/>
                  <a:gd name="T69" fmla="*/ 146 h 384"/>
                  <a:gd name="T70" fmla="*/ 113 w 257"/>
                  <a:gd name="T71" fmla="*/ 148 h 384"/>
                  <a:gd name="T72" fmla="*/ 110 w 257"/>
                  <a:gd name="T73" fmla="*/ 164 h 384"/>
                  <a:gd name="T74" fmla="*/ 137 w 257"/>
                  <a:gd name="T75" fmla="*/ 190 h 384"/>
                  <a:gd name="T76" fmla="*/ 148 w 257"/>
                  <a:gd name="T77" fmla="*/ 186 h 384"/>
                  <a:gd name="T78" fmla="*/ 120 w 257"/>
                  <a:gd name="T79" fmla="*/ 146 h 384"/>
                  <a:gd name="T80" fmla="*/ 114 w 257"/>
                  <a:gd name="T81" fmla="*/ 197 h 384"/>
                  <a:gd name="T82" fmla="*/ 112 w 257"/>
                  <a:gd name="T83" fmla="*/ 185 h 384"/>
                  <a:gd name="T84" fmla="*/ 88 w 257"/>
                  <a:gd name="T85" fmla="*/ 187 h 384"/>
                  <a:gd name="T86" fmla="*/ 89 w 257"/>
                  <a:gd name="T87" fmla="*/ 204 h 384"/>
                  <a:gd name="T88" fmla="*/ 114 w 257"/>
                  <a:gd name="T89" fmla="*/ 19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7" h="384">
                    <a:moveTo>
                      <a:pt x="89" y="380"/>
                    </a:moveTo>
                    <a:cubicBezTo>
                      <a:pt x="96" y="364"/>
                      <a:pt x="101" y="350"/>
                      <a:pt x="107" y="336"/>
                    </a:cubicBezTo>
                    <a:cubicBezTo>
                      <a:pt x="120" y="307"/>
                      <a:pt x="134" y="278"/>
                      <a:pt x="145" y="249"/>
                    </a:cubicBezTo>
                    <a:cubicBezTo>
                      <a:pt x="152" y="230"/>
                      <a:pt x="143" y="214"/>
                      <a:pt x="121" y="206"/>
                    </a:cubicBezTo>
                    <a:cubicBezTo>
                      <a:pt x="121" y="217"/>
                      <a:pt x="122" y="227"/>
                      <a:pt x="119" y="236"/>
                    </a:cubicBezTo>
                    <a:cubicBezTo>
                      <a:pt x="117" y="243"/>
                      <a:pt x="109" y="249"/>
                      <a:pt x="103" y="255"/>
                    </a:cubicBezTo>
                    <a:cubicBezTo>
                      <a:pt x="100" y="249"/>
                      <a:pt x="96" y="243"/>
                      <a:pt x="94" y="236"/>
                    </a:cubicBezTo>
                    <a:cubicBezTo>
                      <a:pt x="91" y="227"/>
                      <a:pt x="88" y="218"/>
                      <a:pt x="85" y="208"/>
                    </a:cubicBezTo>
                    <a:cubicBezTo>
                      <a:pt x="82" y="209"/>
                      <a:pt x="80" y="209"/>
                      <a:pt x="78" y="209"/>
                    </a:cubicBezTo>
                    <a:cubicBezTo>
                      <a:pt x="73" y="222"/>
                      <a:pt x="69" y="235"/>
                      <a:pt x="65" y="248"/>
                    </a:cubicBezTo>
                    <a:cubicBezTo>
                      <a:pt x="58" y="273"/>
                      <a:pt x="41" y="279"/>
                      <a:pt x="15" y="264"/>
                    </a:cubicBezTo>
                    <a:cubicBezTo>
                      <a:pt x="26" y="245"/>
                      <a:pt x="38" y="227"/>
                      <a:pt x="49" y="208"/>
                    </a:cubicBezTo>
                    <a:cubicBezTo>
                      <a:pt x="62" y="187"/>
                      <a:pt x="76" y="166"/>
                      <a:pt x="86" y="144"/>
                    </a:cubicBezTo>
                    <a:cubicBezTo>
                      <a:pt x="90" y="137"/>
                      <a:pt x="90" y="122"/>
                      <a:pt x="85" y="116"/>
                    </a:cubicBezTo>
                    <a:cubicBezTo>
                      <a:pt x="60" y="86"/>
                      <a:pt x="34" y="58"/>
                      <a:pt x="8" y="30"/>
                    </a:cubicBezTo>
                    <a:cubicBezTo>
                      <a:pt x="5" y="26"/>
                      <a:pt x="0" y="20"/>
                      <a:pt x="1" y="15"/>
                    </a:cubicBezTo>
                    <a:cubicBezTo>
                      <a:pt x="2" y="11"/>
                      <a:pt x="8" y="5"/>
                      <a:pt x="13" y="4"/>
                    </a:cubicBezTo>
                    <a:cubicBezTo>
                      <a:pt x="29" y="0"/>
                      <a:pt x="43" y="5"/>
                      <a:pt x="52" y="18"/>
                    </a:cubicBezTo>
                    <a:cubicBezTo>
                      <a:pt x="61" y="31"/>
                      <a:pt x="68" y="45"/>
                      <a:pt x="77" y="59"/>
                    </a:cubicBezTo>
                    <a:cubicBezTo>
                      <a:pt x="85" y="73"/>
                      <a:pt x="94" y="86"/>
                      <a:pt x="102" y="98"/>
                    </a:cubicBezTo>
                    <a:cubicBezTo>
                      <a:pt x="115" y="96"/>
                      <a:pt x="124" y="94"/>
                      <a:pt x="133" y="92"/>
                    </a:cubicBezTo>
                    <a:cubicBezTo>
                      <a:pt x="134" y="94"/>
                      <a:pt x="136" y="95"/>
                      <a:pt x="137" y="97"/>
                    </a:cubicBezTo>
                    <a:cubicBezTo>
                      <a:pt x="112" y="113"/>
                      <a:pt x="125" y="128"/>
                      <a:pt x="137" y="141"/>
                    </a:cubicBezTo>
                    <a:cubicBezTo>
                      <a:pt x="153" y="158"/>
                      <a:pt x="171" y="174"/>
                      <a:pt x="190" y="192"/>
                    </a:cubicBezTo>
                    <a:cubicBezTo>
                      <a:pt x="205" y="165"/>
                      <a:pt x="191" y="149"/>
                      <a:pt x="178" y="134"/>
                    </a:cubicBezTo>
                    <a:cubicBezTo>
                      <a:pt x="180" y="132"/>
                      <a:pt x="182" y="131"/>
                      <a:pt x="184" y="129"/>
                    </a:cubicBezTo>
                    <a:cubicBezTo>
                      <a:pt x="197" y="143"/>
                      <a:pt x="213" y="156"/>
                      <a:pt x="224" y="173"/>
                    </a:cubicBezTo>
                    <a:cubicBezTo>
                      <a:pt x="236" y="191"/>
                      <a:pt x="246" y="212"/>
                      <a:pt x="252" y="233"/>
                    </a:cubicBezTo>
                    <a:cubicBezTo>
                      <a:pt x="257" y="249"/>
                      <a:pt x="246" y="255"/>
                      <a:pt x="231" y="245"/>
                    </a:cubicBezTo>
                    <a:cubicBezTo>
                      <a:pt x="222" y="239"/>
                      <a:pt x="215" y="230"/>
                      <a:pt x="207" y="222"/>
                    </a:cubicBezTo>
                    <a:cubicBezTo>
                      <a:pt x="201" y="217"/>
                      <a:pt x="195" y="211"/>
                      <a:pt x="188" y="207"/>
                    </a:cubicBezTo>
                    <a:cubicBezTo>
                      <a:pt x="172" y="199"/>
                      <a:pt x="167" y="203"/>
                      <a:pt x="164" y="221"/>
                    </a:cubicBezTo>
                    <a:cubicBezTo>
                      <a:pt x="157" y="264"/>
                      <a:pt x="150" y="308"/>
                      <a:pt x="139" y="350"/>
                    </a:cubicBezTo>
                    <a:cubicBezTo>
                      <a:pt x="133" y="376"/>
                      <a:pt x="116" y="384"/>
                      <a:pt x="89" y="380"/>
                    </a:cubicBezTo>
                    <a:close/>
                    <a:moveTo>
                      <a:pt x="120" y="146"/>
                    </a:moveTo>
                    <a:cubicBezTo>
                      <a:pt x="118" y="147"/>
                      <a:pt x="115" y="147"/>
                      <a:pt x="113" y="148"/>
                    </a:cubicBezTo>
                    <a:cubicBezTo>
                      <a:pt x="112" y="153"/>
                      <a:pt x="108" y="161"/>
                      <a:pt x="110" y="164"/>
                    </a:cubicBezTo>
                    <a:cubicBezTo>
                      <a:pt x="118" y="174"/>
                      <a:pt x="127" y="182"/>
                      <a:pt x="137" y="190"/>
                    </a:cubicBezTo>
                    <a:cubicBezTo>
                      <a:pt x="139" y="192"/>
                      <a:pt x="144" y="188"/>
                      <a:pt x="148" y="186"/>
                    </a:cubicBezTo>
                    <a:cubicBezTo>
                      <a:pt x="139" y="173"/>
                      <a:pt x="130" y="159"/>
                      <a:pt x="120" y="146"/>
                    </a:cubicBezTo>
                    <a:close/>
                    <a:moveTo>
                      <a:pt x="114" y="197"/>
                    </a:moveTo>
                    <a:cubicBezTo>
                      <a:pt x="113" y="193"/>
                      <a:pt x="113" y="189"/>
                      <a:pt x="112" y="185"/>
                    </a:cubicBezTo>
                    <a:cubicBezTo>
                      <a:pt x="104" y="186"/>
                      <a:pt x="96" y="186"/>
                      <a:pt x="88" y="187"/>
                    </a:cubicBezTo>
                    <a:cubicBezTo>
                      <a:pt x="88" y="192"/>
                      <a:pt x="89" y="198"/>
                      <a:pt x="89" y="204"/>
                    </a:cubicBezTo>
                    <a:cubicBezTo>
                      <a:pt x="98" y="202"/>
                      <a:pt x="106" y="200"/>
                      <a:pt x="114"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8802687" y="1633538"/>
                <a:ext cx="1069975" cy="738188"/>
              </a:xfrm>
              <a:custGeom>
                <a:avLst/>
                <a:gdLst>
                  <a:gd name="T0" fmla="*/ 231 w 339"/>
                  <a:gd name="T1" fmla="*/ 41 h 234"/>
                  <a:gd name="T2" fmla="*/ 260 w 339"/>
                  <a:gd name="T3" fmla="*/ 0 h 234"/>
                  <a:gd name="T4" fmla="*/ 276 w 339"/>
                  <a:gd name="T5" fmla="*/ 21 h 234"/>
                  <a:gd name="T6" fmla="*/ 306 w 339"/>
                  <a:gd name="T7" fmla="*/ 31 h 234"/>
                  <a:gd name="T8" fmla="*/ 286 w 339"/>
                  <a:gd name="T9" fmla="*/ 76 h 234"/>
                  <a:gd name="T10" fmla="*/ 315 w 339"/>
                  <a:gd name="T11" fmla="*/ 91 h 234"/>
                  <a:gd name="T12" fmla="*/ 329 w 339"/>
                  <a:gd name="T13" fmla="*/ 130 h 234"/>
                  <a:gd name="T14" fmla="*/ 285 w 339"/>
                  <a:gd name="T15" fmla="*/ 142 h 234"/>
                  <a:gd name="T16" fmla="*/ 233 w 339"/>
                  <a:gd name="T17" fmla="*/ 129 h 234"/>
                  <a:gd name="T18" fmla="*/ 196 w 339"/>
                  <a:gd name="T19" fmla="*/ 153 h 234"/>
                  <a:gd name="T20" fmla="*/ 178 w 339"/>
                  <a:gd name="T21" fmla="*/ 168 h 234"/>
                  <a:gd name="T22" fmla="*/ 169 w 339"/>
                  <a:gd name="T23" fmla="*/ 197 h 234"/>
                  <a:gd name="T24" fmla="*/ 132 w 339"/>
                  <a:gd name="T25" fmla="*/ 186 h 234"/>
                  <a:gd name="T26" fmla="*/ 154 w 339"/>
                  <a:gd name="T27" fmla="*/ 163 h 234"/>
                  <a:gd name="T28" fmla="*/ 153 w 339"/>
                  <a:gd name="T29" fmla="*/ 157 h 234"/>
                  <a:gd name="T30" fmla="*/ 132 w 339"/>
                  <a:gd name="T31" fmla="*/ 161 h 234"/>
                  <a:gd name="T32" fmla="*/ 42 w 339"/>
                  <a:gd name="T33" fmla="*/ 220 h 234"/>
                  <a:gd name="T34" fmla="*/ 11 w 339"/>
                  <a:gd name="T35" fmla="*/ 209 h 234"/>
                  <a:gd name="T36" fmla="*/ 0 w 339"/>
                  <a:gd name="T37" fmla="*/ 170 h 234"/>
                  <a:gd name="T38" fmla="*/ 12 w 339"/>
                  <a:gd name="T39" fmla="*/ 175 h 234"/>
                  <a:gd name="T40" fmla="*/ 53 w 339"/>
                  <a:gd name="T41" fmla="*/ 183 h 234"/>
                  <a:gd name="T42" fmla="*/ 116 w 339"/>
                  <a:gd name="T43" fmla="*/ 147 h 234"/>
                  <a:gd name="T44" fmla="*/ 116 w 339"/>
                  <a:gd name="T45" fmla="*/ 139 h 234"/>
                  <a:gd name="T46" fmla="*/ 46 w 339"/>
                  <a:gd name="T47" fmla="*/ 121 h 234"/>
                  <a:gd name="T48" fmla="*/ 25 w 339"/>
                  <a:gd name="T49" fmla="*/ 69 h 234"/>
                  <a:gd name="T50" fmla="*/ 51 w 339"/>
                  <a:gd name="T51" fmla="*/ 82 h 234"/>
                  <a:gd name="T52" fmla="*/ 143 w 339"/>
                  <a:gd name="T53" fmla="*/ 134 h 234"/>
                  <a:gd name="T54" fmla="*/ 179 w 339"/>
                  <a:gd name="T55" fmla="*/ 132 h 234"/>
                  <a:gd name="T56" fmla="*/ 186 w 339"/>
                  <a:gd name="T57" fmla="*/ 122 h 234"/>
                  <a:gd name="T58" fmla="*/ 176 w 339"/>
                  <a:gd name="T59" fmla="*/ 115 h 234"/>
                  <a:gd name="T60" fmla="*/ 130 w 339"/>
                  <a:gd name="T61" fmla="*/ 81 h 234"/>
                  <a:gd name="T62" fmla="*/ 156 w 339"/>
                  <a:gd name="T63" fmla="*/ 87 h 234"/>
                  <a:gd name="T64" fmla="*/ 195 w 339"/>
                  <a:gd name="T65" fmla="*/ 110 h 234"/>
                  <a:gd name="T66" fmla="*/ 297 w 339"/>
                  <a:gd name="T67" fmla="*/ 102 h 234"/>
                  <a:gd name="T68" fmla="*/ 256 w 339"/>
                  <a:gd name="T69" fmla="*/ 93 h 234"/>
                  <a:gd name="T70" fmla="*/ 229 w 339"/>
                  <a:gd name="T71" fmla="*/ 105 h 234"/>
                  <a:gd name="T72" fmla="*/ 204 w 339"/>
                  <a:gd name="T73" fmla="*/ 95 h 234"/>
                  <a:gd name="T74" fmla="*/ 215 w 339"/>
                  <a:gd name="T75" fmla="*/ 70 h 234"/>
                  <a:gd name="T76" fmla="*/ 237 w 339"/>
                  <a:gd name="T77" fmla="*/ 55 h 234"/>
                  <a:gd name="T78" fmla="*/ 231 w 339"/>
                  <a:gd name="T79" fmla="*/ 4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9" h="234">
                    <a:moveTo>
                      <a:pt x="231" y="41"/>
                    </a:moveTo>
                    <a:cubicBezTo>
                      <a:pt x="255" y="43"/>
                      <a:pt x="260" y="27"/>
                      <a:pt x="260" y="0"/>
                    </a:cubicBezTo>
                    <a:cubicBezTo>
                      <a:pt x="268" y="11"/>
                      <a:pt x="275" y="15"/>
                      <a:pt x="276" y="21"/>
                    </a:cubicBezTo>
                    <a:cubicBezTo>
                      <a:pt x="280" y="44"/>
                      <a:pt x="291" y="44"/>
                      <a:pt x="306" y="31"/>
                    </a:cubicBezTo>
                    <a:cubicBezTo>
                      <a:pt x="318" y="49"/>
                      <a:pt x="315" y="56"/>
                      <a:pt x="286" y="76"/>
                    </a:cubicBezTo>
                    <a:cubicBezTo>
                      <a:pt x="297" y="81"/>
                      <a:pt x="305" y="87"/>
                      <a:pt x="315" y="91"/>
                    </a:cubicBezTo>
                    <a:cubicBezTo>
                      <a:pt x="333" y="97"/>
                      <a:pt x="339" y="114"/>
                      <a:pt x="329" y="130"/>
                    </a:cubicBezTo>
                    <a:cubicBezTo>
                      <a:pt x="319" y="145"/>
                      <a:pt x="303" y="149"/>
                      <a:pt x="285" y="142"/>
                    </a:cubicBezTo>
                    <a:cubicBezTo>
                      <a:pt x="268" y="136"/>
                      <a:pt x="250" y="133"/>
                      <a:pt x="233" y="129"/>
                    </a:cubicBezTo>
                    <a:cubicBezTo>
                      <a:pt x="226" y="157"/>
                      <a:pt x="224" y="160"/>
                      <a:pt x="196" y="153"/>
                    </a:cubicBezTo>
                    <a:cubicBezTo>
                      <a:pt x="181" y="150"/>
                      <a:pt x="176" y="154"/>
                      <a:pt x="178" y="168"/>
                    </a:cubicBezTo>
                    <a:cubicBezTo>
                      <a:pt x="180" y="179"/>
                      <a:pt x="184" y="194"/>
                      <a:pt x="169" y="197"/>
                    </a:cubicBezTo>
                    <a:cubicBezTo>
                      <a:pt x="159" y="198"/>
                      <a:pt x="147" y="191"/>
                      <a:pt x="132" y="186"/>
                    </a:cubicBezTo>
                    <a:cubicBezTo>
                      <a:pt x="143" y="175"/>
                      <a:pt x="148" y="169"/>
                      <a:pt x="154" y="163"/>
                    </a:cubicBezTo>
                    <a:cubicBezTo>
                      <a:pt x="154" y="161"/>
                      <a:pt x="153" y="159"/>
                      <a:pt x="153" y="157"/>
                    </a:cubicBezTo>
                    <a:cubicBezTo>
                      <a:pt x="146" y="158"/>
                      <a:pt x="138" y="157"/>
                      <a:pt x="132" y="161"/>
                    </a:cubicBezTo>
                    <a:cubicBezTo>
                      <a:pt x="102" y="180"/>
                      <a:pt x="72" y="200"/>
                      <a:pt x="42" y="220"/>
                    </a:cubicBezTo>
                    <a:cubicBezTo>
                      <a:pt x="22" y="234"/>
                      <a:pt x="18" y="233"/>
                      <a:pt x="11" y="209"/>
                    </a:cubicBezTo>
                    <a:cubicBezTo>
                      <a:pt x="8" y="197"/>
                      <a:pt x="5" y="185"/>
                      <a:pt x="0" y="170"/>
                    </a:cubicBezTo>
                    <a:cubicBezTo>
                      <a:pt x="6" y="173"/>
                      <a:pt x="11" y="173"/>
                      <a:pt x="12" y="175"/>
                    </a:cubicBezTo>
                    <a:cubicBezTo>
                      <a:pt x="22" y="196"/>
                      <a:pt x="37" y="191"/>
                      <a:pt x="53" y="183"/>
                    </a:cubicBezTo>
                    <a:cubicBezTo>
                      <a:pt x="74" y="171"/>
                      <a:pt x="95" y="159"/>
                      <a:pt x="116" y="147"/>
                    </a:cubicBezTo>
                    <a:cubicBezTo>
                      <a:pt x="116" y="144"/>
                      <a:pt x="116" y="141"/>
                      <a:pt x="116" y="139"/>
                    </a:cubicBezTo>
                    <a:cubicBezTo>
                      <a:pt x="93" y="133"/>
                      <a:pt x="70" y="126"/>
                      <a:pt x="46" y="121"/>
                    </a:cubicBezTo>
                    <a:cubicBezTo>
                      <a:pt x="19" y="116"/>
                      <a:pt x="10" y="97"/>
                      <a:pt x="25" y="69"/>
                    </a:cubicBezTo>
                    <a:cubicBezTo>
                      <a:pt x="34" y="73"/>
                      <a:pt x="43" y="77"/>
                      <a:pt x="51" y="82"/>
                    </a:cubicBezTo>
                    <a:cubicBezTo>
                      <a:pt x="82" y="99"/>
                      <a:pt x="112" y="118"/>
                      <a:pt x="143" y="134"/>
                    </a:cubicBezTo>
                    <a:cubicBezTo>
                      <a:pt x="153" y="138"/>
                      <a:pt x="167" y="134"/>
                      <a:pt x="179" y="132"/>
                    </a:cubicBezTo>
                    <a:cubicBezTo>
                      <a:pt x="182" y="132"/>
                      <a:pt x="186" y="125"/>
                      <a:pt x="186" y="122"/>
                    </a:cubicBezTo>
                    <a:cubicBezTo>
                      <a:pt x="186" y="119"/>
                      <a:pt x="180" y="116"/>
                      <a:pt x="176" y="115"/>
                    </a:cubicBezTo>
                    <a:cubicBezTo>
                      <a:pt x="160" y="109"/>
                      <a:pt x="142" y="104"/>
                      <a:pt x="130" y="81"/>
                    </a:cubicBezTo>
                    <a:cubicBezTo>
                      <a:pt x="142" y="83"/>
                      <a:pt x="150" y="83"/>
                      <a:pt x="156" y="87"/>
                    </a:cubicBezTo>
                    <a:cubicBezTo>
                      <a:pt x="169" y="93"/>
                      <a:pt x="183" y="101"/>
                      <a:pt x="195" y="110"/>
                    </a:cubicBezTo>
                    <a:cubicBezTo>
                      <a:pt x="227" y="133"/>
                      <a:pt x="266" y="130"/>
                      <a:pt x="297" y="102"/>
                    </a:cubicBezTo>
                    <a:cubicBezTo>
                      <a:pt x="281" y="82"/>
                      <a:pt x="276" y="81"/>
                      <a:pt x="256" y="93"/>
                    </a:cubicBezTo>
                    <a:cubicBezTo>
                      <a:pt x="248" y="98"/>
                      <a:pt x="238" y="105"/>
                      <a:pt x="229" y="105"/>
                    </a:cubicBezTo>
                    <a:cubicBezTo>
                      <a:pt x="221" y="106"/>
                      <a:pt x="212" y="99"/>
                      <a:pt x="204" y="95"/>
                    </a:cubicBezTo>
                    <a:cubicBezTo>
                      <a:pt x="207" y="87"/>
                      <a:pt x="209" y="77"/>
                      <a:pt x="215" y="70"/>
                    </a:cubicBezTo>
                    <a:cubicBezTo>
                      <a:pt x="220" y="64"/>
                      <a:pt x="230" y="60"/>
                      <a:pt x="237" y="55"/>
                    </a:cubicBezTo>
                    <a:cubicBezTo>
                      <a:pt x="235" y="50"/>
                      <a:pt x="233" y="45"/>
                      <a:pt x="23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7770812" y="704850"/>
                <a:ext cx="738188" cy="993775"/>
              </a:xfrm>
              <a:custGeom>
                <a:avLst/>
                <a:gdLst>
                  <a:gd name="T0" fmla="*/ 188 w 234"/>
                  <a:gd name="T1" fmla="*/ 0 h 315"/>
                  <a:gd name="T2" fmla="*/ 208 w 234"/>
                  <a:gd name="T3" fmla="*/ 68 h 315"/>
                  <a:gd name="T4" fmla="*/ 187 w 234"/>
                  <a:gd name="T5" fmla="*/ 104 h 315"/>
                  <a:gd name="T6" fmla="*/ 179 w 234"/>
                  <a:gd name="T7" fmla="*/ 130 h 315"/>
                  <a:gd name="T8" fmla="*/ 224 w 234"/>
                  <a:gd name="T9" fmla="*/ 118 h 315"/>
                  <a:gd name="T10" fmla="*/ 234 w 234"/>
                  <a:gd name="T11" fmla="*/ 140 h 315"/>
                  <a:gd name="T12" fmla="*/ 213 w 234"/>
                  <a:gd name="T13" fmla="*/ 151 h 315"/>
                  <a:gd name="T14" fmla="*/ 160 w 234"/>
                  <a:gd name="T15" fmla="*/ 246 h 315"/>
                  <a:gd name="T16" fmla="*/ 209 w 234"/>
                  <a:gd name="T17" fmla="*/ 302 h 315"/>
                  <a:gd name="T18" fmla="*/ 216 w 234"/>
                  <a:gd name="T19" fmla="*/ 306 h 315"/>
                  <a:gd name="T20" fmla="*/ 218 w 234"/>
                  <a:gd name="T21" fmla="*/ 314 h 315"/>
                  <a:gd name="T22" fmla="*/ 154 w 234"/>
                  <a:gd name="T23" fmla="*/ 313 h 315"/>
                  <a:gd name="T24" fmla="*/ 141 w 234"/>
                  <a:gd name="T25" fmla="*/ 295 h 315"/>
                  <a:gd name="T26" fmla="*/ 138 w 234"/>
                  <a:gd name="T27" fmla="*/ 215 h 315"/>
                  <a:gd name="T28" fmla="*/ 137 w 234"/>
                  <a:gd name="T29" fmla="*/ 191 h 315"/>
                  <a:gd name="T30" fmla="*/ 0 w 234"/>
                  <a:gd name="T31" fmla="*/ 237 h 315"/>
                  <a:gd name="T32" fmla="*/ 106 w 234"/>
                  <a:gd name="T33" fmla="*/ 176 h 315"/>
                  <a:gd name="T34" fmla="*/ 79 w 234"/>
                  <a:gd name="T35" fmla="*/ 189 h 315"/>
                  <a:gd name="T36" fmla="*/ 31 w 234"/>
                  <a:gd name="T37" fmla="*/ 162 h 315"/>
                  <a:gd name="T38" fmla="*/ 44 w 234"/>
                  <a:gd name="T39" fmla="*/ 152 h 315"/>
                  <a:gd name="T40" fmla="*/ 102 w 234"/>
                  <a:gd name="T41" fmla="*/ 149 h 315"/>
                  <a:gd name="T42" fmla="*/ 144 w 234"/>
                  <a:gd name="T43" fmla="*/ 118 h 315"/>
                  <a:gd name="T44" fmla="*/ 181 w 234"/>
                  <a:gd name="T45" fmla="*/ 18 h 315"/>
                  <a:gd name="T46" fmla="*/ 188 w 234"/>
                  <a:gd name="T47"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4" h="315">
                    <a:moveTo>
                      <a:pt x="188" y="0"/>
                    </a:moveTo>
                    <a:cubicBezTo>
                      <a:pt x="211" y="16"/>
                      <a:pt x="219" y="43"/>
                      <a:pt x="208" y="68"/>
                    </a:cubicBezTo>
                    <a:cubicBezTo>
                      <a:pt x="202" y="80"/>
                      <a:pt x="194" y="92"/>
                      <a:pt x="187" y="104"/>
                    </a:cubicBezTo>
                    <a:cubicBezTo>
                      <a:pt x="184" y="110"/>
                      <a:pt x="183" y="117"/>
                      <a:pt x="179" y="130"/>
                    </a:cubicBezTo>
                    <a:cubicBezTo>
                      <a:pt x="196" y="126"/>
                      <a:pt x="208" y="122"/>
                      <a:pt x="224" y="118"/>
                    </a:cubicBezTo>
                    <a:cubicBezTo>
                      <a:pt x="227" y="123"/>
                      <a:pt x="234" y="132"/>
                      <a:pt x="234" y="140"/>
                    </a:cubicBezTo>
                    <a:cubicBezTo>
                      <a:pt x="234" y="144"/>
                      <a:pt x="221" y="149"/>
                      <a:pt x="213" y="151"/>
                    </a:cubicBezTo>
                    <a:cubicBezTo>
                      <a:pt x="141" y="163"/>
                      <a:pt x="133" y="177"/>
                      <a:pt x="160" y="246"/>
                    </a:cubicBezTo>
                    <a:cubicBezTo>
                      <a:pt x="169" y="271"/>
                      <a:pt x="181" y="293"/>
                      <a:pt x="209" y="302"/>
                    </a:cubicBezTo>
                    <a:cubicBezTo>
                      <a:pt x="211" y="303"/>
                      <a:pt x="213" y="305"/>
                      <a:pt x="216" y="306"/>
                    </a:cubicBezTo>
                    <a:cubicBezTo>
                      <a:pt x="216" y="307"/>
                      <a:pt x="216" y="309"/>
                      <a:pt x="218" y="314"/>
                    </a:cubicBezTo>
                    <a:cubicBezTo>
                      <a:pt x="196" y="314"/>
                      <a:pt x="175" y="315"/>
                      <a:pt x="154" y="313"/>
                    </a:cubicBezTo>
                    <a:cubicBezTo>
                      <a:pt x="149" y="312"/>
                      <a:pt x="142" y="302"/>
                      <a:pt x="141" y="295"/>
                    </a:cubicBezTo>
                    <a:cubicBezTo>
                      <a:pt x="139" y="269"/>
                      <a:pt x="139" y="242"/>
                      <a:pt x="138" y="215"/>
                    </a:cubicBezTo>
                    <a:cubicBezTo>
                      <a:pt x="138" y="208"/>
                      <a:pt x="138" y="201"/>
                      <a:pt x="137" y="191"/>
                    </a:cubicBezTo>
                    <a:cubicBezTo>
                      <a:pt x="96" y="222"/>
                      <a:pt x="65" y="275"/>
                      <a:pt x="0" y="237"/>
                    </a:cubicBezTo>
                    <a:cubicBezTo>
                      <a:pt x="41" y="223"/>
                      <a:pt x="89" y="227"/>
                      <a:pt x="106" y="176"/>
                    </a:cubicBezTo>
                    <a:cubicBezTo>
                      <a:pt x="97" y="180"/>
                      <a:pt x="88" y="184"/>
                      <a:pt x="79" y="189"/>
                    </a:cubicBezTo>
                    <a:cubicBezTo>
                      <a:pt x="59" y="199"/>
                      <a:pt x="32" y="184"/>
                      <a:pt x="31" y="162"/>
                    </a:cubicBezTo>
                    <a:cubicBezTo>
                      <a:pt x="31" y="159"/>
                      <a:pt x="39" y="152"/>
                      <a:pt x="44" y="152"/>
                    </a:cubicBezTo>
                    <a:cubicBezTo>
                      <a:pt x="63" y="150"/>
                      <a:pt x="83" y="151"/>
                      <a:pt x="102" y="149"/>
                    </a:cubicBezTo>
                    <a:cubicBezTo>
                      <a:pt x="122" y="148"/>
                      <a:pt x="137" y="138"/>
                      <a:pt x="144" y="118"/>
                    </a:cubicBezTo>
                    <a:cubicBezTo>
                      <a:pt x="156" y="84"/>
                      <a:pt x="168" y="51"/>
                      <a:pt x="181" y="18"/>
                    </a:cubicBezTo>
                    <a:cubicBezTo>
                      <a:pt x="183" y="12"/>
                      <a:pt x="185" y="7"/>
                      <a:pt x="1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33"/>
              <p:cNvSpPr>
                <a:spLocks noEditPoints="1"/>
              </p:cNvSpPr>
              <p:nvPr/>
            </p:nvSpPr>
            <p:spPr bwMode="auto">
              <a:xfrm>
                <a:off x="5605462" y="179388"/>
                <a:ext cx="492125" cy="982663"/>
              </a:xfrm>
              <a:custGeom>
                <a:avLst/>
                <a:gdLst>
                  <a:gd name="T0" fmla="*/ 55 w 156"/>
                  <a:gd name="T1" fmla="*/ 200 h 311"/>
                  <a:gd name="T2" fmla="*/ 73 w 156"/>
                  <a:gd name="T3" fmla="*/ 206 h 311"/>
                  <a:gd name="T4" fmla="*/ 87 w 156"/>
                  <a:gd name="T5" fmla="*/ 236 h 311"/>
                  <a:gd name="T6" fmla="*/ 85 w 156"/>
                  <a:gd name="T7" fmla="*/ 239 h 311"/>
                  <a:gd name="T8" fmla="*/ 71 w 156"/>
                  <a:gd name="T9" fmla="*/ 270 h 311"/>
                  <a:gd name="T10" fmla="*/ 102 w 156"/>
                  <a:gd name="T11" fmla="*/ 268 h 311"/>
                  <a:gd name="T12" fmla="*/ 135 w 156"/>
                  <a:gd name="T13" fmla="*/ 300 h 311"/>
                  <a:gd name="T14" fmla="*/ 58 w 156"/>
                  <a:gd name="T15" fmla="*/ 310 h 311"/>
                  <a:gd name="T16" fmla="*/ 36 w 156"/>
                  <a:gd name="T17" fmla="*/ 284 h 311"/>
                  <a:gd name="T18" fmla="*/ 28 w 156"/>
                  <a:gd name="T19" fmla="*/ 235 h 311"/>
                  <a:gd name="T20" fmla="*/ 53 w 156"/>
                  <a:gd name="T21" fmla="*/ 144 h 311"/>
                  <a:gd name="T22" fmla="*/ 48 w 156"/>
                  <a:gd name="T23" fmla="*/ 139 h 311"/>
                  <a:gd name="T24" fmla="*/ 16 w 156"/>
                  <a:gd name="T25" fmla="*/ 151 h 311"/>
                  <a:gd name="T26" fmla="*/ 0 w 156"/>
                  <a:gd name="T27" fmla="*/ 72 h 311"/>
                  <a:gd name="T28" fmla="*/ 47 w 156"/>
                  <a:gd name="T29" fmla="*/ 127 h 311"/>
                  <a:gd name="T30" fmla="*/ 65 w 156"/>
                  <a:gd name="T31" fmla="*/ 82 h 311"/>
                  <a:gd name="T32" fmla="*/ 28 w 156"/>
                  <a:gd name="T33" fmla="*/ 87 h 311"/>
                  <a:gd name="T34" fmla="*/ 43 w 156"/>
                  <a:gd name="T35" fmla="*/ 66 h 311"/>
                  <a:gd name="T36" fmla="*/ 103 w 156"/>
                  <a:gd name="T37" fmla="*/ 14 h 311"/>
                  <a:gd name="T38" fmla="*/ 143 w 156"/>
                  <a:gd name="T39" fmla="*/ 22 h 311"/>
                  <a:gd name="T40" fmla="*/ 141 w 156"/>
                  <a:gd name="T41" fmla="*/ 55 h 311"/>
                  <a:gd name="T42" fmla="*/ 105 w 156"/>
                  <a:gd name="T43" fmla="*/ 125 h 311"/>
                  <a:gd name="T44" fmla="*/ 80 w 156"/>
                  <a:gd name="T45" fmla="*/ 166 h 311"/>
                  <a:gd name="T46" fmla="*/ 55 w 156"/>
                  <a:gd name="T47" fmla="*/ 200 h 311"/>
                  <a:gd name="T48" fmla="*/ 105 w 156"/>
                  <a:gd name="T49" fmla="*/ 45 h 311"/>
                  <a:gd name="T50" fmla="*/ 84 w 156"/>
                  <a:gd name="T51" fmla="*/ 112 h 311"/>
                  <a:gd name="T52" fmla="*/ 105 w 156"/>
                  <a:gd name="T53" fmla="*/ 4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6" h="311">
                    <a:moveTo>
                      <a:pt x="55" y="200"/>
                    </a:moveTo>
                    <a:cubicBezTo>
                      <a:pt x="65" y="203"/>
                      <a:pt x="69" y="205"/>
                      <a:pt x="73" y="206"/>
                    </a:cubicBezTo>
                    <a:cubicBezTo>
                      <a:pt x="97" y="210"/>
                      <a:pt x="99" y="216"/>
                      <a:pt x="87" y="236"/>
                    </a:cubicBezTo>
                    <a:cubicBezTo>
                      <a:pt x="86" y="237"/>
                      <a:pt x="85" y="238"/>
                      <a:pt x="85" y="239"/>
                    </a:cubicBezTo>
                    <a:cubicBezTo>
                      <a:pt x="80" y="249"/>
                      <a:pt x="76" y="260"/>
                      <a:pt x="71" y="270"/>
                    </a:cubicBezTo>
                    <a:cubicBezTo>
                      <a:pt x="82" y="270"/>
                      <a:pt x="92" y="270"/>
                      <a:pt x="102" y="268"/>
                    </a:cubicBezTo>
                    <a:cubicBezTo>
                      <a:pt x="119" y="266"/>
                      <a:pt x="129" y="274"/>
                      <a:pt x="135" y="300"/>
                    </a:cubicBezTo>
                    <a:cubicBezTo>
                      <a:pt x="109" y="303"/>
                      <a:pt x="84" y="308"/>
                      <a:pt x="58" y="310"/>
                    </a:cubicBezTo>
                    <a:cubicBezTo>
                      <a:pt x="42" y="311"/>
                      <a:pt x="36" y="301"/>
                      <a:pt x="36" y="284"/>
                    </a:cubicBezTo>
                    <a:cubicBezTo>
                      <a:pt x="35" y="269"/>
                      <a:pt x="31" y="255"/>
                      <a:pt x="28" y="235"/>
                    </a:cubicBezTo>
                    <a:cubicBezTo>
                      <a:pt x="62" y="216"/>
                      <a:pt x="28" y="172"/>
                      <a:pt x="53" y="144"/>
                    </a:cubicBezTo>
                    <a:cubicBezTo>
                      <a:pt x="51" y="142"/>
                      <a:pt x="50" y="141"/>
                      <a:pt x="48" y="139"/>
                    </a:cubicBezTo>
                    <a:cubicBezTo>
                      <a:pt x="39" y="142"/>
                      <a:pt x="30" y="146"/>
                      <a:pt x="16" y="151"/>
                    </a:cubicBezTo>
                    <a:cubicBezTo>
                      <a:pt x="11" y="126"/>
                      <a:pt x="6" y="101"/>
                      <a:pt x="0" y="72"/>
                    </a:cubicBezTo>
                    <a:cubicBezTo>
                      <a:pt x="26" y="85"/>
                      <a:pt x="36" y="104"/>
                      <a:pt x="47" y="127"/>
                    </a:cubicBezTo>
                    <a:cubicBezTo>
                      <a:pt x="53" y="113"/>
                      <a:pt x="58" y="99"/>
                      <a:pt x="65" y="82"/>
                    </a:cubicBezTo>
                    <a:cubicBezTo>
                      <a:pt x="52" y="84"/>
                      <a:pt x="43" y="85"/>
                      <a:pt x="28" y="87"/>
                    </a:cubicBezTo>
                    <a:cubicBezTo>
                      <a:pt x="35" y="77"/>
                      <a:pt x="38" y="70"/>
                      <a:pt x="43" y="66"/>
                    </a:cubicBezTo>
                    <a:cubicBezTo>
                      <a:pt x="63" y="48"/>
                      <a:pt x="83" y="31"/>
                      <a:pt x="103" y="14"/>
                    </a:cubicBezTo>
                    <a:cubicBezTo>
                      <a:pt x="120" y="0"/>
                      <a:pt x="132" y="12"/>
                      <a:pt x="143" y="22"/>
                    </a:cubicBezTo>
                    <a:cubicBezTo>
                      <a:pt x="156" y="33"/>
                      <a:pt x="151" y="44"/>
                      <a:pt x="141" y="55"/>
                    </a:cubicBezTo>
                    <a:cubicBezTo>
                      <a:pt x="122" y="75"/>
                      <a:pt x="109" y="98"/>
                      <a:pt x="105" y="125"/>
                    </a:cubicBezTo>
                    <a:cubicBezTo>
                      <a:pt x="103" y="142"/>
                      <a:pt x="94" y="155"/>
                      <a:pt x="80" y="166"/>
                    </a:cubicBezTo>
                    <a:cubicBezTo>
                      <a:pt x="70" y="174"/>
                      <a:pt x="64" y="187"/>
                      <a:pt x="55" y="200"/>
                    </a:cubicBezTo>
                    <a:close/>
                    <a:moveTo>
                      <a:pt x="105" y="45"/>
                    </a:moveTo>
                    <a:cubicBezTo>
                      <a:pt x="77" y="54"/>
                      <a:pt x="68" y="81"/>
                      <a:pt x="84" y="112"/>
                    </a:cubicBezTo>
                    <a:cubicBezTo>
                      <a:pt x="106" y="93"/>
                      <a:pt x="100" y="68"/>
                      <a:pt x="10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34"/>
              <p:cNvSpPr/>
              <p:nvPr/>
            </p:nvSpPr>
            <p:spPr bwMode="auto">
              <a:xfrm>
                <a:off x="6462712" y="452438"/>
                <a:ext cx="842963" cy="620713"/>
              </a:xfrm>
              <a:custGeom>
                <a:avLst/>
                <a:gdLst>
                  <a:gd name="T0" fmla="*/ 31 w 267"/>
                  <a:gd name="T1" fmla="*/ 197 h 197"/>
                  <a:gd name="T2" fmla="*/ 8 w 267"/>
                  <a:gd name="T3" fmla="*/ 161 h 197"/>
                  <a:gd name="T4" fmla="*/ 21 w 267"/>
                  <a:gd name="T5" fmla="*/ 139 h 197"/>
                  <a:gd name="T6" fmla="*/ 72 w 267"/>
                  <a:gd name="T7" fmla="*/ 138 h 197"/>
                  <a:gd name="T8" fmla="*/ 112 w 267"/>
                  <a:gd name="T9" fmla="*/ 127 h 197"/>
                  <a:gd name="T10" fmla="*/ 212 w 267"/>
                  <a:gd name="T11" fmla="*/ 52 h 197"/>
                  <a:gd name="T12" fmla="*/ 221 w 267"/>
                  <a:gd name="T13" fmla="*/ 40 h 197"/>
                  <a:gd name="T14" fmla="*/ 203 w 267"/>
                  <a:gd name="T15" fmla="*/ 37 h 197"/>
                  <a:gd name="T16" fmla="*/ 186 w 267"/>
                  <a:gd name="T17" fmla="*/ 43 h 197"/>
                  <a:gd name="T18" fmla="*/ 118 w 267"/>
                  <a:gd name="T19" fmla="*/ 0 h 197"/>
                  <a:gd name="T20" fmla="*/ 162 w 267"/>
                  <a:gd name="T21" fmla="*/ 6 h 197"/>
                  <a:gd name="T22" fmla="*/ 233 w 267"/>
                  <a:gd name="T23" fmla="*/ 11 h 197"/>
                  <a:gd name="T24" fmla="*/ 261 w 267"/>
                  <a:gd name="T25" fmla="*/ 49 h 197"/>
                  <a:gd name="T26" fmla="*/ 254 w 267"/>
                  <a:gd name="T27" fmla="*/ 56 h 197"/>
                  <a:gd name="T28" fmla="*/ 166 w 267"/>
                  <a:gd name="T29" fmla="*/ 128 h 197"/>
                  <a:gd name="T30" fmla="*/ 168 w 267"/>
                  <a:gd name="T31" fmla="*/ 135 h 197"/>
                  <a:gd name="T32" fmla="*/ 219 w 267"/>
                  <a:gd name="T33" fmla="*/ 131 h 197"/>
                  <a:gd name="T34" fmla="*/ 242 w 267"/>
                  <a:gd name="T35" fmla="*/ 139 h 197"/>
                  <a:gd name="T36" fmla="*/ 228 w 267"/>
                  <a:gd name="T37" fmla="*/ 163 h 197"/>
                  <a:gd name="T38" fmla="*/ 212 w 267"/>
                  <a:gd name="T39" fmla="*/ 164 h 197"/>
                  <a:gd name="T40" fmla="*/ 31 w 267"/>
                  <a:gd name="T4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7" h="197">
                    <a:moveTo>
                      <a:pt x="31" y="197"/>
                    </a:moveTo>
                    <a:cubicBezTo>
                      <a:pt x="23" y="185"/>
                      <a:pt x="15" y="174"/>
                      <a:pt x="8" y="161"/>
                    </a:cubicBezTo>
                    <a:cubicBezTo>
                      <a:pt x="0" y="147"/>
                      <a:pt x="5" y="140"/>
                      <a:pt x="21" y="139"/>
                    </a:cubicBezTo>
                    <a:cubicBezTo>
                      <a:pt x="38" y="139"/>
                      <a:pt x="55" y="140"/>
                      <a:pt x="72" y="138"/>
                    </a:cubicBezTo>
                    <a:cubicBezTo>
                      <a:pt x="86" y="137"/>
                      <a:pt x="101" y="134"/>
                      <a:pt x="112" y="127"/>
                    </a:cubicBezTo>
                    <a:cubicBezTo>
                      <a:pt x="146" y="104"/>
                      <a:pt x="179" y="77"/>
                      <a:pt x="212" y="52"/>
                    </a:cubicBezTo>
                    <a:cubicBezTo>
                      <a:pt x="215" y="50"/>
                      <a:pt x="217" y="46"/>
                      <a:pt x="221" y="40"/>
                    </a:cubicBezTo>
                    <a:cubicBezTo>
                      <a:pt x="214" y="38"/>
                      <a:pt x="208" y="37"/>
                      <a:pt x="203" y="37"/>
                    </a:cubicBezTo>
                    <a:cubicBezTo>
                      <a:pt x="197" y="38"/>
                      <a:pt x="192" y="41"/>
                      <a:pt x="186" y="43"/>
                    </a:cubicBezTo>
                    <a:cubicBezTo>
                      <a:pt x="138" y="60"/>
                      <a:pt x="130" y="47"/>
                      <a:pt x="118" y="0"/>
                    </a:cubicBezTo>
                    <a:cubicBezTo>
                      <a:pt x="134" y="2"/>
                      <a:pt x="147" y="5"/>
                      <a:pt x="162" y="6"/>
                    </a:cubicBezTo>
                    <a:cubicBezTo>
                      <a:pt x="185" y="8"/>
                      <a:pt x="209" y="10"/>
                      <a:pt x="233" y="11"/>
                    </a:cubicBezTo>
                    <a:cubicBezTo>
                      <a:pt x="249" y="12"/>
                      <a:pt x="267" y="33"/>
                      <a:pt x="261" y="49"/>
                    </a:cubicBezTo>
                    <a:cubicBezTo>
                      <a:pt x="260" y="52"/>
                      <a:pt x="257" y="56"/>
                      <a:pt x="254" y="56"/>
                    </a:cubicBezTo>
                    <a:cubicBezTo>
                      <a:pt x="214" y="68"/>
                      <a:pt x="194" y="102"/>
                      <a:pt x="166" y="128"/>
                    </a:cubicBezTo>
                    <a:cubicBezTo>
                      <a:pt x="167" y="130"/>
                      <a:pt x="167" y="133"/>
                      <a:pt x="168" y="135"/>
                    </a:cubicBezTo>
                    <a:cubicBezTo>
                      <a:pt x="185" y="134"/>
                      <a:pt x="203" y="135"/>
                      <a:pt x="219" y="131"/>
                    </a:cubicBezTo>
                    <a:cubicBezTo>
                      <a:pt x="230" y="129"/>
                      <a:pt x="238" y="128"/>
                      <a:pt x="242" y="139"/>
                    </a:cubicBezTo>
                    <a:cubicBezTo>
                      <a:pt x="246" y="152"/>
                      <a:pt x="241" y="160"/>
                      <a:pt x="228" y="163"/>
                    </a:cubicBezTo>
                    <a:cubicBezTo>
                      <a:pt x="223" y="165"/>
                      <a:pt x="217" y="164"/>
                      <a:pt x="212" y="164"/>
                    </a:cubicBezTo>
                    <a:cubicBezTo>
                      <a:pt x="150" y="160"/>
                      <a:pt x="90" y="170"/>
                      <a:pt x="31"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35"/>
              <p:cNvSpPr>
                <a:spLocks noEditPoints="1"/>
              </p:cNvSpPr>
              <p:nvPr/>
            </p:nvSpPr>
            <p:spPr bwMode="auto">
              <a:xfrm>
                <a:off x="4171950" y="558800"/>
                <a:ext cx="476250" cy="944563"/>
              </a:xfrm>
              <a:custGeom>
                <a:avLst/>
                <a:gdLst>
                  <a:gd name="T0" fmla="*/ 42 w 151"/>
                  <a:gd name="T1" fmla="*/ 60 h 299"/>
                  <a:gd name="T2" fmla="*/ 26 w 151"/>
                  <a:gd name="T3" fmla="*/ 41 h 299"/>
                  <a:gd name="T4" fmla="*/ 52 w 151"/>
                  <a:gd name="T5" fmla="*/ 45 h 299"/>
                  <a:gd name="T6" fmla="*/ 53 w 151"/>
                  <a:gd name="T7" fmla="*/ 15 h 299"/>
                  <a:gd name="T8" fmla="*/ 62 w 151"/>
                  <a:gd name="T9" fmla="*/ 0 h 299"/>
                  <a:gd name="T10" fmla="*/ 74 w 151"/>
                  <a:gd name="T11" fmla="*/ 13 h 299"/>
                  <a:gd name="T12" fmla="*/ 72 w 151"/>
                  <a:gd name="T13" fmla="*/ 64 h 299"/>
                  <a:gd name="T14" fmla="*/ 89 w 151"/>
                  <a:gd name="T15" fmla="*/ 101 h 299"/>
                  <a:gd name="T16" fmla="*/ 101 w 151"/>
                  <a:gd name="T17" fmla="*/ 117 h 299"/>
                  <a:gd name="T18" fmla="*/ 117 w 151"/>
                  <a:gd name="T19" fmla="*/ 160 h 299"/>
                  <a:gd name="T20" fmla="*/ 104 w 151"/>
                  <a:gd name="T21" fmla="*/ 189 h 299"/>
                  <a:gd name="T22" fmla="*/ 143 w 151"/>
                  <a:gd name="T23" fmla="*/ 178 h 299"/>
                  <a:gd name="T24" fmla="*/ 131 w 151"/>
                  <a:gd name="T25" fmla="*/ 222 h 299"/>
                  <a:gd name="T26" fmla="*/ 112 w 151"/>
                  <a:gd name="T27" fmla="*/ 271 h 299"/>
                  <a:gd name="T28" fmla="*/ 89 w 151"/>
                  <a:gd name="T29" fmla="*/ 299 h 299"/>
                  <a:gd name="T30" fmla="*/ 94 w 151"/>
                  <a:gd name="T31" fmla="*/ 259 h 299"/>
                  <a:gd name="T32" fmla="*/ 70 w 151"/>
                  <a:gd name="T33" fmla="*/ 257 h 299"/>
                  <a:gd name="T34" fmla="*/ 86 w 151"/>
                  <a:gd name="T35" fmla="*/ 233 h 299"/>
                  <a:gd name="T36" fmla="*/ 82 w 151"/>
                  <a:gd name="T37" fmla="*/ 214 h 299"/>
                  <a:gd name="T38" fmla="*/ 69 w 151"/>
                  <a:gd name="T39" fmla="*/ 224 h 299"/>
                  <a:gd name="T40" fmla="*/ 52 w 151"/>
                  <a:gd name="T41" fmla="*/ 236 h 299"/>
                  <a:gd name="T42" fmla="*/ 45 w 151"/>
                  <a:gd name="T43" fmla="*/ 215 h 299"/>
                  <a:gd name="T44" fmla="*/ 42 w 151"/>
                  <a:gd name="T45" fmla="*/ 160 h 299"/>
                  <a:gd name="T46" fmla="*/ 17 w 151"/>
                  <a:gd name="T47" fmla="*/ 150 h 299"/>
                  <a:gd name="T48" fmla="*/ 0 w 151"/>
                  <a:gd name="T49" fmla="*/ 152 h 299"/>
                  <a:gd name="T50" fmla="*/ 14 w 151"/>
                  <a:gd name="T51" fmla="*/ 62 h 299"/>
                  <a:gd name="T52" fmla="*/ 42 w 151"/>
                  <a:gd name="T53" fmla="*/ 60 h 299"/>
                  <a:gd name="T54" fmla="*/ 49 w 151"/>
                  <a:gd name="T55" fmla="*/ 121 h 299"/>
                  <a:gd name="T56" fmla="*/ 39 w 151"/>
                  <a:gd name="T57" fmla="*/ 125 h 299"/>
                  <a:gd name="T58" fmla="*/ 47 w 151"/>
                  <a:gd name="T59" fmla="*/ 147 h 299"/>
                  <a:gd name="T60" fmla="*/ 58 w 151"/>
                  <a:gd name="T61" fmla="*/ 144 h 299"/>
                  <a:gd name="T62" fmla="*/ 49 w 151"/>
                  <a:gd name="T63" fmla="*/ 121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299">
                    <a:moveTo>
                      <a:pt x="42" y="60"/>
                    </a:moveTo>
                    <a:cubicBezTo>
                      <a:pt x="35" y="52"/>
                      <a:pt x="31" y="46"/>
                      <a:pt x="26" y="41"/>
                    </a:cubicBezTo>
                    <a:cubicBezTo>
                      <a:pt x="37" y="31"/>
                      <a:pt x="37" y="31"/>
                      <a:pt x="52" y="45"/>
                    </a:cubicBezTo>
                    <a:cubicBezTo>
                      <a:pt x="52" y="34"/>
                      <a:pt x="51" y="25"/>
                      <a:pt x="53" y="15"/>
                    </a:cubicBezTo>
                    <a:cubicBezTo>
                      <a:pt x="54" y="10"/>
                      <a:pt x="59" y="5"/>
                      <a:pt x="62" y="0"/>
                    </a:cubicBezTo>
                    <a:cubicBezTo>
                      <a:pt x="66" y="4"/>
                      <a:pt x="73" y="8"/>
                      <a:pt x="74" y="13"/>
                    </a:cubicBezTo>
                    <a:cubicBezTo>
                      <a:pt x="74" y="30"/>
                      <a:pt x="75" y="47"/>
                      <a:pt x="72" y="64"/>
                    </a:cubicBezTo>
                    <a:cubicBezTo>
                      <a:pt x="68" y="82"/>
                      <a:pt x="67" y="95"/>
                      <a:pt x="89" y="101"/>
                    </a:cubicBezTo>
                    <a:cubicBezTo>
                      <a:pt x="94" y="102"/>
                      <a:pt x="102" y="114"/>
                      <a:pt x="101" y="117"/>
                    </a:cubicBezTo>
                    <a:cubicBezTo>
                      <a:pt x="90" y="138"/>
                      <a:pt x="97" y="151"/>
                      <a:pt x="117" y="160"/>
                    </a:cubicBezTo>
                    <a:cubicBezTo>
                      <a:pt x="113" y="169"/>
                      <a:pt x="109" y="177"/>
                      <a:pt x="104" y="189"/>
                    </a:cubicBezTo>
                    <a:cubicBezTo>
                      <a:pt x="119" y="185"/>
                      <a:pt x="130" y="182"/>
                      <a:pt x="143" y="178"/>
                    </a:cubicBezTo>
                    <a:cubicBezTo>
                      <a:pt x="151" y="197"/>
                      <a:pt x="143" y="213"/>
                      <a:pt x="131" y="222"/>
                    </a:cubicBezTo>
                    <a:cubicBezTo>
                      <a:pt x="113" y="236"/>
                      <a:pt x="112" y="253"/>
                      <a:pt x="112" y="271"/>
                    </a:cubicBezTo>
                    <a:cubicBezTo>
                      <a:pt x="112" y="285"/>
                      <a:pt x="108" y="296"/>
                      <a:pt x="89" y="299"/>
                    </a:cubicBezTo>
                    <a:cubicBezTo>
                      <a:pt x="91" y="285"/>
                      <a:pt x="92" y="272"/>
                      <a:pt x="94" y="259"/>
                    </a:cubicBezTo>
                    <a:cubicBezTo>
                      <a:pt x="86" y="258"/>
                      <a:pt x="80" y="258"/>
                      <a:pt x="70" y="257"/>
                    </a:cubicBezTo>
                    <a:cubicBezTo>
                      <a:pt x="76" y="248"/>
                      <a:pt x="83" y="241"/>
                      <a:pt x="86" y="233"/>
                    </a:cubicBezTo>
                    <a:cubicBezTo>
                      <a:pt x="88" y="227"/>
                      <a:pt x="84" y="220"/>
                      <a:pt x="82" y="214"/>
                    </a:cubicBezTo>
                    <a:cubicBezTo>
                      <a:pt x="78" y="217"/>
                      <a:pt x="73" y="221"/>
                      <a:pt x="69" y="224"/>
                    </a:cubicBezTo>
                    <a:cubicBezTo>
                      <a:pt x="63" y="228"/>
                      <a:pt x="58" y="232"/>
                      <a:pt x="52" y="236"/>
                    </a:cubicBezTo>
                    <a:cubicBezTo>
                      <a:pt x="50" y="229"/>
                      <a:pt x="43" y="220"/>
                      <a:pt x="45" y="215"/>
                    </a:cubicBezTo>
                    <a:cubicBezTo>
                      <a:pt x="52" y="196"/>
                      <a:pt x="48" y="178"/>
                      <a:pt x="42" y="160"/>
                    </a:cubicBezTo>
                    <a:cubicBezTo>
                      <a:pt x="37" y="146"/>
                      <a:pt x="31" y="142"/>
                      <a:pt x="17" y="150"/>
                    </a:cubicBezTo>
                    <a:cubicBezTo>
                      <a:pt x="14" y="152"/>
                      <a:pt x="9" y="151"/>
                      <a:pt x="0" y="152"/>
                    </a:cubicBezTo>
                    <a:cubicBezTo>
                      <a:pt x="18" y="122"/>
                      <a:pt x="45" y="97"/>
                      <a:pt x="14" y="62"/>
                    </a:cubicBezTo>
                    <a:cubicBezTo>
                      <a:pt x="25" y="61"/>
                      <a:pt x="31" y="61"/>
                      <a:pt x="42" y="60"/>
                    </a:cubicBezTo>
                    <a:close/>
                    <a:moveTo>
                      <a:pt x="49" y="121"/>
                    </a:moveTo>
                    <a:cubicBezTo>
                      <a:pt x="46" y="122"/>
                      <a:pt x="42" y="123"/>
                      <a:pt x="39" y="125"/>
                    </a:cubicBezTo>
                    <a:cubicBezTo>
                      <a:pt x="41" y="132"/>
                      <a:pt x="44" y="140"/>
                      <a:pt x="47" y="147"/>
                    </a:cubicBezTo>
                    <a:cubicBezTo>
                      <a:pt x="47" y="148"/>
                      <a:pt x="54" y="145"/>
                      <a:pt x="58" y="144"/>
                    </a:cubicBezTo>
                    <a:cubicBezTo>
                      <a:pt x="55" y="136"/>
                      <a:pt x="52" y="128"/>
                      <a:pt x="49" y="1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36"/>
              <p:cNvSpPr/>
              <p:nvPr/>
            </p:nvSpPr>
            <p:spPr bwMode="auto">
              <a:xfrm>
                <a:off x="1924050" y="3619500"/>
                <a:ext cx="584200" cy="725488"/>
              </a:xfrm>
              <a:custGeom>
                <a:avLst/>
                <a:gdLst>
                  <a:gd name="T0" fmla="*/ 26 w 185"/>
                  <a:gd name="T1" fmla="*/ 171 h 230"/>
                  <a:gd name="T2" fmla="*/ 163 w 185"/>
                  <a:gd name="T3" fmla="*/ 204 h 230"/>
                  <a:gd name="T4" fmla="*/ 178 w 185"/>
                  <a:gd name="T5" fmla="*/ 230 h 230"/>
                  <a:gd name="T6" fmla="*/ 9 w 185"/>
                  <a:gd name="T7" fmla="*/ 183 h 230"/>
                  <a:gd name="T8" fmla="*/ 1 w 185"/>
                  <a:gd name="T9" fmla="*/ 168 h 230"/>
                  <a:gd name="T10" fmla="*/ 12 w 185"/>
                  <a:gd name="T11" fmla="*/ 156 h 230"/>
                  <a:gd name="T12" fmla="*/ 135 w 185"/>
                  <a:gd name="T13" fmla="*/ 122 h 230"/>
                  <a:gd name="T14" fmla="*/ 159 w 185"/>
                  <a:gd name="T15" fmla="*/ 114 h 230"/>
                  <a:gd name="T16" fmla="*/ 92 w 185"/>
                  <a:gd name="T17" fmla="*/ 95 h 230"/>
                  <a:gd name="T18" fmla="*/ 11 w 185"/>
                  <a:gd name="T19" fmla="*/ 72 h 230"/>
                  <a:gd name="T20" fmla="*/ 1 w 185"/>
                  <a:gd name="T21" fmla="*/ 57 h 230"/>
                  <a:gd name="T22" fmla="*/ 11 w 185"/>
                  <a:gd name="T23" fmla="*/ 44 h 230"/>
                  <a:gd name="T24" fmla="*/ 179 w 185"/>
                  <a:gd name="T25" fmla="*/ 0 h 230"/>
                  <a:gd name="T26" fmla="*/ 180 w 185"/>
                  <a:gd name="T27" fmla="*/ 21 h 230"/>
                  <a:gd name="T28" fmla="*/ 31 w 185"/>
                  <a:gd name="T29" fmla="*/ 56 h 230"/>
                  <a:gd name="T30" fmla="*/ 31 w 185"/>
                  <a:gd name="T31" fmla="*/ 60 h 230"/>
                  <a:gd name="T32" fmla="*/ 178 w 185"/>
                  <a:gd name="T33" fmla="*/ 101 h 230"/>
                  <a:gd name="T34" fmla="*/ 158 w 185"/>
                  <a:gd name="T35" fmla="*/ 135 h 230"/>
                  <a:gd name="T36" fmla="*/ 26 w 185"/>
                  <a:gd name="T37" fmla="*/ 171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5" h="230">
                    <a:moveTo>
                      <a:pt x="26" y="171"/>
                    </a:moveTo>
                    <a:cubicBezTo>
                      <a:pt x="75" y="183"/>
                      <a:pt x="119" y="193"/>
                      <a:pt x="163" y="204"/>
                    </a:cubicBezTo>
                    <a:cubicBezTo>
                      <a:pt x="180" y="208"/>
                      <a:pt x="180" y="208"/>
                      <a:pt x="178" y="230"/>
                    </a:cubicBezTo>
                    <a:cubicBezTo>
                      <a:pt x="122" y="214"/>
                      <a:pt x="65" y="199"/>
                      <a:pt x="9" y="183"/>
                    </a:cubicBezTo>
                    <a:cubicBezTo>
                      <a:pt x="5" y="182"/>
                      <a:pt x="0" y="173"/>
                      <a:pt x="1" y="168"/>
                    </a:cubicBezTo>
                    <a:cubicBezTo>
                      <a:pt x="1" y="164"/>
                      <a:pt x="7" y="157"/>
                      <a:pt x="12" y="156"/>
                    </a:cubicBezTo>
                    <a:cubicBezTo>
                      <a:pt x="53" y="144"/>
                      <a:pt x="94" y="133"/>
                      <a:pt x="135" y="122"/>
                    </a:cubicBezTo>
                    <a:cubicBezTo>
                      <a:pt x="141" y="120"/>
                      <a:pt x="147" y="118"/>
                      <a:pt x="159" y="114"/>
                    </a:cubicBezTo>
                    <a:cubicBezTo>
                      <a:pt x="133" y="107"/>
                      <a:pt x="112" y="101"/>
                      <a:pt x="92" y="95"/>
                    </a:cubicBezTo>
                    <a:cubicBezTo>
                      <a:pt x="65" y="88"/>
                      <a:pt x="37" y="81"/>
                      <a:pt x="11" y="72"/>
                    </a:cubicBezTo>
                    <a:cubicBezTo>
                      <a:pt x="6" y="71"/>
                      <a:pt x="1" y="62"/>
                      <a:pt x="1" y="57"/>
                    </a:cubicBezTo>
                    <a:cubicBezTo>
                      <a:pt x="1" y="53"/>
                      <a:pt x="7" y="45"/>
                      <a:pt x="11" y="44"/>
                    </a:cubicBezTo>
                    <a:cubicBezTo>
                      <a:pt x="66" y="29"/>
                      <a:pt x="122" y="15"/>
                      <a:pt x="179" y="0"/>
                    </a:cubicBezTo>
                    <a:cubicBezTo>
                      <a:pt x="179" y="7"/>
                      <a:pt x="180" y="13"/>
                      <a:pt x="180" y="21"/>
                    </a:cubicBezTo>
                    <a:cubicBezTo>
                      <a:pt x="130" y="33"/>
                      <a:pt x="80" y="45"/>
                      <a:pt x="31" y="56"/>
                    </a:cubicBezTo>
                    <a:cubicBezTo>
                      <a:pt x="31" y="57"/>
                      <a:pt x="31" y="58"/>
                      <a:pt x="31" y="60"/>
                    </a:cubicBezTo>
                    <a:cubicBezTo>
                      <a:pt x="80" y="74"/>
                      <a:pt x="129" y="87"/>
                      <a:pt x="178" y="101"/>
                    </a:cubicBezTo>
                    <a:cubicBezTo>
                      <a:pt x="185" y="122"/>
                      <a:pt x="178" y="131"/>
                      <a:pt x="158" y="135"/>
                    </a:cubicBezTo>
                    <a:cubicBezTo>
                      <a:pt x="115" y="145"/>
                      <a:pt x="73" y="158"/>
                      <a:pt x="26" y="1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37"/>
              <p:cNvSpPr>
                <a:spLocks noEditPoints="1"/>
              </p:cNvSpPr>
              <p:nvPr/>
            </p:nvSpPr>
            <p:spPr bwMode="auto">
              <a:xfrm>
                <a:off x="4411662" y="8324850"/>
                <a:ext cx="606425" cy="717550"/>
              </a:xfrm>
              <a:custGeom>
                <a:avLst/>
                <a:gdLst>
                  <a:gd name="T0" fmla="*/ 123 w 192"/>
                  <a:gd name="T1" fmla="*/ 129 h 227"/>
                  <a:gd name="T2" fmla="*/ 146 w 192"/>
                  <a:gd name="T3" fmla="*/ 227 h 227"/>
                  <a:gd name="T4" fmla="*/ 115 w 192"/>
                  <a:gd name="T5" fmla="*/ 199 h 227"/>
                  <a:gd name="T6" fmla="*/ 110 w 192"/>
                  <a:gd name="T7" fmla="*/ 166 h 227"/>
                  <a:gd name="T8" fmla="*/ 51 w 192"/>
                  <a:gd name="T9" fmla="*/ 103 h 227"/>
                  <a:gd name="T10" fmla="*/ 20 w 192"/>
                  <a:gd name="T11" fmla="*/ 174 h 227"/>
                  <a:gd name="T12" fmla="*/ 0 w 192"/>
                  <a:gd name="T13" fmla="*/ 165 h 227"/>
                  <a:gd name="T14" fmla="*/ 71 w 192"/>
                  <a:gd name="T15" fmla="*/ 0 h 227"/>
                  <a:gd name="T16" fmla="*/ 170 w 192"/>
                  <a:gd name="T17" fmla="*/ 48 h 227"/>
                  <a:gd name="T18" fmla="*/ 183 w 192"/>
                  <a:gd name="T19" fmla="*/ 101 h 227"/>
                  <a:gd name="T20" fmla="*/ 138 w 192"/>
                  <a:gd name="T21" fmla="*/ 130 h 227"/>
                  <a:gd name="T22" fmla="*/ 123 w 192"/>
                  <a:gd name="T23" fmla="*/ 129 h 227"/>
                  <a:gd name="T24" fmla="*/ 84 w 192"/>
                  <a:gd name="T25" fmla="*/ 26 h 227"/>
                  <a:gd name="T26" fmla="*/ 59 w 192"/>
                  <a:gd name="T27" fmla="*/ 84 h 227"/>
                  <a:gd name="T28" fmla="*/ 120 w 192"/>
                  <a:gd name="T29" fmla="*/ 108 h 227"/>
                  <a:gd name="T30" fmla="*/ 162 w 192"/>
                  <a:gd name="T31" fmla="*/ 93 h 227"/>
                  <a:gd name="T32" fmla="*/ 144 w 192"/>
                  <a:gd name="T33" fmla="*/ 53 h 227"/>
                  <a:gd name="T34" fmla="*/ 84 w 192"/>
                  <a:gd name="T35" fmla="*/ 26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227">
                    <a:moveTo>
                      <a:pt x="123" y="129"/>
                    </a:moveTo>
                    <a:cubicBezTo>
                      <a:pt x="130" y="161"/>
                      <a:pt x="138" y="193"/>
                      <a:pt x="146" y="227"/>
                    </a:cubicBezTo>
                    <a:cubicBezTo>
                      <a:pt x="127" y="223"/>
                      <a:pt x="116" y="218"/>
                      <a:pt x="115" y="199"/>
                    </a:cubicBezTo>
                    <a:cubicBezTo>
                      <a:pt x="115" y="188"/>
                      <a:pt x="111" y="177"/>
                      <a:pt x="110" y="166"/>
                    </a:cubicBezTo>
                    <a:cubicBezTo>
                      <a:pt x="108" y="130"/>
                      <a:pt x="88" y="110"/>
                      <a:pt x="51" y="103"/>
                    </a:cubicBezTo>
                    <a:cubicBezTo>
                      <a:pt x="41" y="125"/>
                      <a:pt x="31" y="149"/>
                      <a:pt x="20" y="174"/>
                    </a:cubicBezTo>
                    <a:cubicBezTo>
                      <a:pt x="13" y="171"/>
                      <a:pt x="7" y="169"/>
                      <a:pt x="0" y="165"/>
                    </a:cubicBezTo>
                    <a:cubicBezTo>
                      <a:pt x="24" y="111"/>
                      <a:pt x="47" y="57"/>
                      <a:pt x="71" y="0"/>
                    </a:cubicBezTo>
                    <a:cubicBezTo>
                      <a:pt x="105" y="16"/>
                      <a:pt x="138" y="30"/>
                      <a:pt x="170" y="48"/>
                    </a:cubicBezTo>
                    <a:cubicBezTo>
                      <a:pt x="188" y="58"/>
                      <a:pt x="192" y="80"/>
                      <a:pt x="183" y="101"/>
                    </a:cubicBezTo>
                    <a:cubicBezTo>
                      <a:pt x="176" y="120"/>
                      <a:pt x="158" y="131"/>
                      <a:pt x="138" y="130"/>
                    </a:cubicBezTo>
                    <a:cubicBezTo>
                      <a:pt x="132" y="130"/>
                      <a:pt x="126" y="129"/>
                      <a:pt x="123" y="129"/>
                    </a:cubicBezTo>
                    <a:close/>
                    <a:moveTo>
                      <a:pt x="84" y="26"/>
                    </a:moveTo>
                    <a:cubicBezTo>
                      <a:pt x="75" y="47"/>
                      <a:pt x="67" y="64"/>
                      <a:pt x="59" y="84"/>
                    </a:cubicBezTo>
                    <a:cubicBezTo>
                      <a:pt x="81" y="93"/>
                      <a:pt x="100" y="102"/>
                      <a:pt x="120" y="108"/>
                    </a:cubicBezTo>
                    <a:cubicBezTo>
                      <a:pt x="140" y="115"/>
                      <a:pt x="155" y="109"/>
                      <a:pt x="162" y="93"/>
                    </a:cubicBezTo>
                    <a:cubicBezTo>
                      <a:pt x="169" y="78"/>
                      <a:pt x="163" y="62"/>
                      <a:pt x="144" y="53"/>
                    </a:cubicBezTo>
                    <a:cubicBezTo>
                      <a:pt x="125" y="43"/>
                      <a:pt x="105" y="36"/>
                      <a:pt x="8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38"/>
              <p:cNvSpPr/>
              <p:nvPr/>
            </p:nvSpPr>
            <p:spPr bwMode="auto">
              <a:xfrm>
                <a:off x="9761537" y="6038850"/>
                <a:ext cx="698500" cy="660400"/>
              </a:xfrm>
              <a:custGeom>
                <a:avLst/>
                <a:gdLst>
                  <a:gd name="T0" fmla="*/ 175 w 221"/>
                  <a:gd name="T1" fmla="*/ 83 h 209"/>
                  <a:gd name="T2" fmla="*/ 55 w 221"/>
                  <a:gd name="T3" fmla="*/ 18 h 209"/>
                  <a:gd name="T4" fmla="*/ 64 w 221"/>
                  <a:gd name="T5" fmla="*/ 0 h 209"/>
                  <a:gd name="T6" fmla="*/ 221 w 221"/>
                  <a:gd name="T7" fmla="*/ 83 h 209"/>
                  <a:gd name="T8" fmla="*/ 195 w 221"/>
                  <a:gd name="T9" fmla="*/ 106 h 209"/>
                  <a:gd name="T10" fmla="*/ 45 w 221"/>
                  <a:gd name="T11" fmla="*/ 125 h 209"/>
                  <a:gd name="T12" fmla="*/ 166 w 221"/>
                  <a:gd name="T13" fmla="*/ 190 h 209"/>
                  <a:gd name="T14" fmla="*/ 157 w 221"/>
                  <a:gd name="T15" fmla="*/ 209 h 209"/>
                  <a:gd name="T16" fmla="*/ 0 w 221"/>
                  <a:gd name="T17" fmla="*/ 125 h 209"/>
                  <a:gd name="T18" fmla="*/ 28 w 221"/>
                  <a:gd name="T19" fmla="*/ 102 h 209"/>
                  <a:gd name="T20" fmla="*/ 174 w 221"/>
                  <a:gd name="T21" fmla="*/ 87 h 209"/>
                  <a:gd name="T22" fmla="*/ 175 w 221"/>
                  <a:gd name="T23" fmla="*/ 8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209">
                    <a:moveTo>
                      <a:pt x="175" y="83"/>
                    </a:moveTo>
                    <a:cubicBezTo>
                      <a:pt x="136" y="61"/>
                      <a:pt x="96" y="40"/>
                      <a:pt x="55" y="18"/>
                    </a:cubicBezTo>
                    <a:cubicBezTo>
                      <a:pt x="58" y="12"/>
                      <a:pt x="61" y="6"/>
                      <a:pt x="64" y="0"/>
                    </a:cubicBezTo>
                    <a:cubicBezTo>
                      <a:pt x="117" y="28"/>
                      <a:pt x="169" y="55"/>
                      <a:pt x="221" y="83"/>
                    </a:cubicBezTo>
                    <a:cubicBezTo>
                      <a:pt x="219" y="99"/>
                      <a:pt x="210" y="105"/>
                      <a:pt x="195" y="106"/>
                    </a:cubicBezTo>
                    <a:cubicBezTo>
                      <a:pt x="145" y="111"/>
                      <a:pt x="96" y="116"/>
                      <a:pt x="45" y="125"/>
                    </a:cubicBezTo>
                    <a:cubicBezTo>
                      <a:pt x="84" y="146"/>
                      <a:pt x="124" y="168"/>
                      <a:pt x="166" y="190"/>
                    </a:cubicBezTo>
                    <a:cubicBezTo>
                      <a:pt x="163" y="196"/>
                      <a:pt x="160" y="201"/>
                      <a:pt x="157" y="209"/>
                    </a:cubicBezTo>
                    <a:cubicBezTo>
                      <a:pt x="104" y="180"/>
                      <a:pt x="52" y="153"/>
                      <a:pt x="0" y="125"/>
                    </a:cubicBezTo>
                    <a:cubicBezTo>
                      <a:pt x="2" y="107"/>
                      <a:pt x="13" y="103"/>
                      <a:pt x="28" y="102"/>
                    </a:cubicBezTo>
                    <a:cubicBezTo>
                      <a:pt x="76" y="97"/>
                      <a:pt x="125" y="92"/>
                      <a:pt x="174" y="87"/>
                    </a:cubicBezTo>
                    <a:cubicBezTo>
                      <a:pt x="175" y="86"/>
                      <a:pt x="175" y="84"/>
                      <a:pt x="17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39"/>
              <p:cNvSpPr/>
              <p:nvPr/>
            </p:nvSpPr>
            <p:spPr bwMode="auto">
              <a:xfrm>
                <a:off x="2100262" y="5981700"/>
                <a:ext cx="692150" cy="619125"/>
              </a:xfrm>
              <a:custGeom>
                <a:avLst/>
                <a:gdLst>
                  <a:gd name="T0" fmla="*/ 9 w 219"/>
                  <a:gd name="T1" fmla="*/ 84 h 196"/>
                  <a:gd name="T2" fmla="*/ 0 w 219"/>
                  <a:gd name="T3" fmla="*/ 66 h 196"/>
                  <a:gd name="T4" fmla="*/ 165 w 219"/>
                  <a:gd name="T5" fmla="*/ 0 h 196"/>
                  <a:gd name="T6" fmla="*/ 166 w 219"/>
                  <a:gd name="T7" fmla="*/ 36 h 196"/>
                  <a:gd name="T8" fmla="*/ 83 w 219"/>
                  <a:gd name="T9" fmla="*/ 162 h 196"/>
                  <a:gd name="T10" fmla="*/ 211 w 219"/>
                  <a:gd name="T11" fmla="*/ 111 h 196"/>
                  <a:gd name="T12" fmla="*/ 219 w 219"/>
                  <a:gd name="T13" fmla="*/ 130 h 196"/>
                  <a:gd name="T14" fmla="*/ 55 w 219"/>
                  <a:gd name="T15" fmla="*/ 196 h 196"/>
                  <a:gd name="T16" fmla="*/ 53 w 219"/>
                  <a:gd name="T17" fmla="*/ 162 h 196"/>
                  <a:gd name="T18" fmla="*/ 137 w 219"/>
                  <a:gd name="T19" fmla="*/ 34 h 196"/>
                  <a:gd name="T20" fmla="*/ 9 w 219"/>
                  <a:gd name="T21" fmla="*/ 8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96">
                    <a:moveTo>
                      <a:pt x="9" y="84"/>
                    </a:moveTo>
                    <a:cubicBezTo>
                      <a:pt x="6" y="78"/>
                      <a:pt x="4" y="73"/>
                      <a:pt x="0" y="66"/>
                    </a:cubicBezTo>
                    <a:cubicBezTo>
                      <a:pt x="56" y="44"/>
                      <a:pt x="111" y="22"/>
                      <a:pt x="165" y="0"/>
                    </a:cubicBezTo>
                    <a:cubicBezTo>
                      <a:pt x="177" y="13"/>
                      <a:pt x="175" y="23"/>
                      <a:pt x="166" y="36"/>
                    </a:cubicBezTo>
                    <a:cubicBezTo>
                      <a:pt x="137" y="76"/>
                      <a:pt x="109" y="118"/>
                      <a:pt x="83" y="162"/>
                    </a:cubicBezTo>
                    <a:cubicBezTo>
                      <a:pt x="126" y="145"/>
                      <a:pt x="168" y="128"/>
                      <a:pt x="211" y="111"/>
                    </a:cubicBezTo>
                    <a:cubicBezTo>
                      <a:pt x="214" y="118"/>
                      <a:pt x="216" y="123"/>
                      <a:pt x="219" y="130"/>
                    </a:cubicBezTo>
                    <a:cubicBezTo>
                      <a:pt x="163" y="152"/>
                      <a:pt x="109" y="174"/>
                      <a:pt x="55" y="196"/>
                    </a:cubicBezTo>
                    <a:cubicBezTo>
                      <a:pt x="44" y="184"/>
                      <a:pt x="44" y="174"/>
                      <a:pt x="53" y="162"/>
                    </a:cubicBezTo>
                    <a:cubicBezTo>
                      <a:pt x="82" y="121"/>
                      <a:pt x="110" y="79"/>
                      <a:pt x="137" y="34"/>
                    </a:cubicBezTo>
                    <a:cubicBezTo>
                      <a:pt x="95" y="51"/>
                      <a:pt x="52" y="67"/>
                      <a:pt x="9"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40"/>
              <p:cNvSpPr/>
              <p:nvPr/>
            </p:nvSpPr>
            <p:spPr bwMode="auto">
              <a:xfrm>
                <a:off x="2852737" y="7131050"/>
                <a:ext cx="703263" cy="698500"/>
              </a:xfrm>
              <a:custGeom>
                <a:avLst/>
                <a:gdLst>
                  <a:gd name="T0" fmla="*/ 115 w 223"/>
                  <a:gd name="T1" fmla="*/ 39 h 221"/>
                  <a:gd name="T2" fmla="*/ 16 w 223"/>
                  <a:gd name="T3" fmla="*/ 140 h 221"/>
                  <a:gd name="T4" fmla="*/ 0 w 223"/>
                  <a:gd name="T5" fmla="*/ 126 h 221"/>
                  <a:gd name="T6" fmla="*/ 126 w 223"/>
                  <a:gd name="T7" fmla="*/ 0 h 221"/>
                  <a:gd name="T8" fmla="*/ 138 w 223"/>
                  <a:gd name="T9" fmla="*/ 31 h 221"/>
                  <a:gd name="T10" fmla="*/ 112 w 223"/>
                  <a:gd name="T11" fmla="*/ 162 h 221"/>
                  <a:gd name="T12" fmla="*/ 110 w 223"/>
                  <a:gd name="T13" fmla="*/ 179 h 221"/>
                  <a:gd name="T14" fmla="*/ 208 w 223"/>
                  <a:gd name="T15" fmla="*/ 77 h 221"/>
                  <a:gd name="T16" fmla="*/ 223 w 223"/>
                  <a:gd name="T17" fmla="*/ 95 h 221"/>
                  <a:gd name="T18" fmla="*/ 96 w 223"/>
                  <a:gd name="T19" fmla="*/ 221 h 221"/>
                  <a:gd name="T20" fmla="*/ 85 w 223"/>
                  <a:gd name="T21" fmla="*/ 190 h 221"/>
                  <a:gd name="T22" fmla="*/ 115 w 223"/>
                  <a:gd name="T23" fmla="*/ 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3" h="221">
                    <a:moveTo>
                      <a:pt x="115" y="39"/>
                    </a:moveTo>
                    <a:cubicBezTo>
                      <a:pt x="80" y="75"/>
                      <a:pt x="48" y="107"/>
                      <a:pt x="16" y="140"/>
                    </a:cubicBezTo>
                    <a:cubicBezTo>
                      <a:pt x="8" y="134"/>
                      <a:pt x="4" y="130"/>
                      <a:pt x="0" y="126"/>
                    </a:cubicBezTo>
                    <a:cubicBezTo>
                      <a:pt x="42" y="84"/>
                      <a:pt x="84" y="42"/>
                      <a:pt x="126" y="0"/>
                    </a:cubicBezTo>
                    <a:cubicBezTo>
                      <a:pt x="139" y="5"/>
                      <a:pt x="142" y="16"/>
                      <a:pt x="138" y="31"/>
                    </a:cubicBezTo>
                    <a:cubicBezTo>
                      <a:pt x="128" y="75"/>
                      <a:pt x="120" y="118"/>
                      <a:pt x="112" y="162"/>
                    </a:cubicBezTo>
                    <a:cubicBezTo>
                      <a:pt x="111" y="167"/>
                      <a:pt x="111" y="172"/>
                      <a:pt x="110" y="179"/>
                    </a:cubicBezTo>
                    <a:cubicBezTo>
                      <a:pt x="143" y="145"/>
                      <a:pt x="174" y="113"/>
                      <a:pt x="208" y="77"/>
                    </a:cubicBezTo>
                    <a:cubicBezTo>
                      <a:pt x="216" y="86"/>
                      <a:pt x="220" y="91"/>
                      <a:pt x="223" y="95"/>
                    </a:cubicBezTo>
                    <a:cubicBezTo>
                      <a:pt x="180" y="138"/>
                      <a:pt x="138" y="179"/>
                      <a:pt x="96" y="221"/>
                    </a:cubicBezTo>
                    <a:cubicBezTo>
                      <a:pt x="84" y="215"/>
                      <a:pt x="81" y="205"/>
                      <a:pt x="85" y="190"/>
                    </a:cubicBezTo>
                    <a:cubicBezTo>
                      <a:pt x="95" y="142"/>
                      <a:pt x="104" y="93"/>
                      <a:pt x="11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41"/>
              <p:cNvSpPr/>
              <p:nvPr/>
            </p:nvSpPr>
            <p:spPr bwMode="auto">
              <a:xfrm>
                <a:off x="10039350" y="3983038"/>
                <a:ext cx="619125" cy="552450"/>
              </a:xfrm>
              <a:custGeom>
                <a:avLst/>
                <a:gdLst>
                  <a:gd name="T0" fmla="*/ 115 w 196"/>
                  <a:gd name="T1" fmla="*/ 17 h 175"/>
                  <a:gd name="T2" fmla="*/ 115 w 196"/>
                  <a:gd name="T3" fmla="*/ 72 h 175"/>
                  <a:gd name="T4" fmla="*/ 95 w 196"/>
                  <a:gd name="T5" fmla="*/ 61 h 175"/>
                  <a:gd name="T6" fmla="*/ 95 w 196"/>
                  <a:gd name="T7" fmla="*/ 0 h 175"/>
                  <a:gd name="T8" fmla="*/ 157 w 196"/>
                  <a:gd name="T9" fmla="*/ 1 h 175"/>
                  <a:gd name="T10" fmla="*/ 168 w 196"/>
                  <a:gd name="T11" fmla="*/ 9 h 175"/>
                  <a:gd name="T12" fmla="*/ 166 w 196"/>
                  <a:gd name="T13" fmla="*/ 138 h 175"/>
                  <a:gd name="T14" fmla="*/ 38 w 196"/>
                  <a:gd name="T15" fmla="*/ 149 h 175"/>
                  <a:gd name="T16" fmla="*/ 4 w 196"/>
                  <a:gd name="T17" fmla="*/ 61 h 175"/>
                  <a:gd name="T18" fmla="*/ 55 w 196"/>
                  <a:gd name="T19" fmla="*/ 3 h 175"/>
                  <a:gd name="T20" fmla="*/ 61 w 196"/>
                  <a:gd name="T21" fmla="*/ 19 h 175"/>
                  <a:gd name="T22" fmla="*/ 56 w 196"/>
                  <a:gd name="T23" fmla="*/ 23 h 175"/>
                  <a:gd name="T24" fmla="*/ 21 w 196"/>
                  <a:gd name="T25" fmla="*/ 76 h 175"/>
                  <a:gd name="T26" fmla="*/ 55 w 196"/>
                  <a:gd name="T27" fmla="*/ 134 h 175"/>
                  <a:gd name="T28" fmla="*/ 168 w 196"/>
                  <a:gd name="T29" fmla="*/ 80 h 175"/>
                  <a:gd name="T30" fmla="*/ 155 w 196"/>
                  <a:gd name="T31" fmla="*/ 31 h 175"/>
                  <a:gd name="T32" fmla="*/ 115 w 196"/>
                  <a:gd name="T33" fmla="*/ 1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75">
                    <a:moveTo>
                      <a:pt x="115" y="17"/>
                    </a:moveTo>
                    <a:cubicBezTo>
                      <a:pt x="115" y="40"/>
                      <a:pt x="115" y="56"/>
                      <a:pt x="115" y="72"/>
                    </a:cubicBezTo>
                    <a:cubicBezTo>
                      <a:pt x="102" y="76"/>
                      <a:pt x="94" y="76"/>
                      <a:pt x="95" y="61"/>
                    </a:cubicBezTo>
                    <a:cubicBezTo>
                      <a:pt x="95" y="41"/>
                      <a:pt x="95" y="22"/>
                      <a:pt x="95" y="0"/>
                    </a:cubicBezTo>
                    <a:cubicBezTo>
                      <a:pt x="118" y="0"/>
                      <a:pt x="137" y="0"/>
                      <a:pt x="157" y="1"/>
                    </a:cubicBezTo>
                    <a:cubicBezTo>
                      <a:pt x="161" y="1"/>
                      <a:pt x="165" y="5"/>
                      <a:pt x="168" y="9"/>
                    </a:cubicBezTo>
                    <a:cubicBezTo>
                      <a:pt x="196" y="45"/>
                      <a:pt x="195" y="106"/>
                      <a:pt x="166" y="138"/>
                    </a:cubicBezTo>
                    <a:cubicBezTo>
                      <a:pt x="138" y="170"/>
                      <a:pt x="77" y="175"/>
                      <a:pt x="38" y="149"/>
                    </a:cubicBezTo>
                    <a:cubicBezTo>
                      <a:pt x="7" y="128"/>
                      <a:pt x="0" y="96"/>
                      <a:pt x="4" y="61"/>
                    </a:cubicBezTo>
                    <a:cubicBezTo>
                      <a:pt x="8" y="31"/>
                      <a:pt x="22" y="10"/>
                      <a:pt x="55" y="3"/>
                    </a:cubicBezTo>
                    <a:cubicBezTo>
                      <a:pt x="57" y="8"/>
                      <a:pt x="59" y="14"/>
                      <a:pt x="61" y="19"/>
                    </a:cubicBezTo>
                    <a:cubicBezTo>
                      <a:pt x="59" y="21"/>
                      <a:pt x="58" y="23"/>
                      <a:pt x="56" y="23"/>
                    </a:cubicBezTo>
                    <a:cubicBezTo>
                      <a:pt x="31" y="32"/>
                      <a:pt x="22" y="51"/>
                      <a:pt x="21" y="76"/>
                    </a:cubicBezTo>
                    <a:cubicBezTo>
                      <a:pt x="21" y="102"/>
                      <a:pt x="31" y="122"/>
                      <a:pt x="55" y="134"/>
                    </a:cubicBezTo>
                    <a:cubicBezTo>
                      <a:pt x="108" y="160"/>
                      <a:pt x="166" y="134"/>
                      <a:pt x="168" y="80"/>
                    </a:cubicBezTo>
                    <a:cubicBezTo>
                      <a:pt x="169" y="64"/>
                      <a:pt x="164" y="45"/>
                      <a:pt x="155" y="31"/>
                    </a:cubicBezTo>
                    <a:cubicBezTo>
                      <a:pt x="150" y="23"/>
                      <a:pt x="132" y="23"/>
                      <a:pt x="1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42"/>
              <p:cNvSpPr>
                <a:spLocks noEditPoints="1"/>
              </p:cNvSpPr>
              <p:nvPr/>
            </p:nvSpPr>
            <p:spPr bwMode="auto">
              <a:xfrm>
                <a:off x="10118725" y="4567238"/>
                <a:ext cx="596900" cy="549275"/>
              </a:xfrm>
              <a:custGeom>
                <a:avLst/>
                <a:gdLst>
                  <a:gd name="T0" fmla="*/ 97 w 189"/>
                  <a:gd name="T1" fmla="*/ 1 h 174"/>
                  <a:gd name="T2" fmla="*/ 188 w 189"/>
                  <a:gd name="T3" fmla="*/ 86 h 174"/>
                  <a:gd name="T4" fmla="*/ 93 w 189"/>
                  <a:gd name="T5" fmla="*/ 173 h 174"/>
                  <a:gd name="T6" fmla="*/ 2 w 189"/>
                  <a:gd name="T7" fmla="*/ 88 h 174"/>
                  <a:gd name="T8" fmla="*/ 97 w 189"/>
                  <a:gd name="T9" fmla="*/ 1 h 174"/>
                  <a:gd name="T10" fmla="*/ 90 w 189"/>
                  <a:gd name="T11" fmla="*/ 152 h 174"/>
                  <a:gd name="T12" fmla="*/ 128 w 189"/>
                  <a:gd name="T13" fmla="*/ 143 h 174"/>
                  <a:gd name="T14" fmla="*/ 169 w 189"/>
                  <a:gd name="T15" fmla="*/ 79 h 174"/>
                  <a:gd name="T16" fmla="*/ 117 w 189"/>
                  <a:gd name="T17" fmla="*/ 25 h 174"/>
                  <a:gd name="T18" fmla="*/ 72 w 189"/>
                  <a:gd name="T19" fmla="*/ 27 h 174"/>
                  <a:gd name="T20" fmla="*/ 21 w 189"/>
                  <a:gd name="T21" fmla="*/ 95 h 174"/>
                  <a:gd name="T22" fmla="*/ 90 w 189"/>
                  <a:gd name="T23" fmla="*/ 15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74">
                    <a:moveTo>
                      <a:pt x="97" y="1"/>
                    </a:moveTo>
                    <a:cubicBezTo>
                      <a:pt x="150" y="0"/>
                      <a:pt x="187" y="34"/>
                      <a:pt x="188" y="86"/>
                    </a:cubicBezTo>
                    <a:cubicBezTo>
                      <a:pt x="189" y="135"/>
                      <a:pt x="149" y="171"/>
                      <a:pt x="93" y="173"/>
                    </a:cubicBezTo>
                    <a:cubicBezTo>
                      <a:pt x="40" y="174"/>
                      <a:pt x="3" y="140"/>
                      <a:pt x="2" y="88"/>
                    </a:cubicBezTo>
                    <a:cubicBezTo>
                      <a:pt x="0" y="38"/>
                      <a:pt x="40" y="2"/>
                      <a:pt x="97" y="1"/>
                    </a:cubicBezTo>
                    <a:close/>
                    <a:moveTo>
                      <a:pt x="90" y="152"/>
                    </a:moveTo>
                    <a:cubicBezTo>
                      <a:pt x="103" y="149"/>
                      <a:pt x="116" y="147"/>
                      <a:pt x="128" y="143"/>
                    </a:cubicBezTo>
                    <a:cubicBezTo>
                      <a:pt x="157" y="133"/>
                      <a:pt x="171" y="108"/>
                      <a:pt x="169" y="79"/>
                    </a:cubicBezTo>
                    <a:cubicBezTo>
                      <a:pt x="166" y="51"/>
                      <a:pt x="147" y="29"/>
                      <a:pt x="117" y="25"/>
                    </a:cubicBezTo>
                    <a:cubicBezTo>
                      <a:pt x="102" y="23"/>
                      <a:pt x="86" y="24"/>
                      <a:pt x="72" y="27"/>
                    </a:cubicBezTo>
                    <a:cubicBezTo>
                      <a:pt x="36" y="36"/>
                      <a:pt x="17" y="63"/>
                      <a:pt x="21" y="95"/>
                    </a:cubicBezTo>
                    <a:cubicBezTo>
                      <a:pt x="25" y="130"/>
                      <a:pt x="51" y="151"/>
                      <a:pt x="90"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43"/>
              <p:cNvSpPr>
                <a:spLocks noEditPoints="1"/>
              </p:cNvSpPr>
              <p:nvPr/>
            </p:nvSpPr>
            <p:spPr bwMode="auto">
              <a:xfrm>
                <a:off x="10036175" y="5557838"/>
                <a:ext cx="587375" cy="544513"/>
              </a:xfrm>
              <a:custGeom>
                <a:avLst/>
                <a:gdLst>
                  <a:gd name="T0" fmla="*/ 86 w 186"/>
                  <a:gd name="T1" fmla="*/ 0 h 172"/>
                  <a:gd name="T2" fmla="*/ 186 w 186"/>
                  <a:gd name="T3" fmla="*/ 86 h 172"/>
                  <a:gd name="T4" fmla="*/ 98 w 186"/>
                  <a:gd name="T5" fmla="*/ 172 h 172"/>
                  <a:gd name="T6" fmla="*/ 0 w 186"/>
                  <a:gd name="T7" fmla="*/ 87 h 172"/>
                  <a:gd name="T8" fmla="*/ 86 w 186"/>
                  <a:gd name="T9" fmla="*/ 0 h 172"/>
                  <a:gd name="T10" fmla="*/ 167 w 186"/>
                  <a:gd name="T11" fmla="*/ 89 h 172"/>
                  <a:gd name="T12" fmla="*/ 87 w 186"/>
                  <a:gd name="T13" fmla="*/ 22 h 172"/>
                  <a:gd name="T14" fmla="*/ 19 w 186"/>
                  <a:gd name="T15" fmla="*/ 82 h 172"/>
                  <a:gd name="T16" fmla="*/ 102 w 186"/>
                  <a:gd name="T17" fmla="*/ 151 h 172"/>
                  <a:gd name="T18" fmla="*/ 167 w 186"/>
                  <a:gd name="T19"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172">
                    <a:moveTo>
                      <a:pt x="86" y="0"/>
                    </a:moveTo>
                    <a:cubicBezTo>
                      <a:pt x="144" y="0"/>
                      <a:pt x="186" y="36"/>
                      <a:pt x="186" y="86"/>
                    </a:cubicBezTo>
                    <a:cubicBezTo>
                      <a:pt x="186" y="136"/>
                      <a:pt x="149" y="172"/>
                      <a:pt x="98" y="172"/>
                    </a:cubicBezTo>
                    <a:cubicBezTo>
                      <a:pt x="42" y="172"/>
                      <a:pt x="0" y="135"/>
                      <a:pt x="0" y="87"/>
                    </a:cubicBezTo>
                    <a:cubicBezTo>
                      <a:pt x="0" y="36"/>
                      <a:pt x="36" y="0"/>
                      <a:pt x="86" y="0"/>
                    </a:cubicBezTo>
                    <a:close/>
                    <a:moveTo>
                      <a:pt x="167" y="89"/>
                    </a:moveTo>
                    <a:cubicBezTo>
                      <a:pt x="168" y="51"/>
                      <a:pt x="135" y="23"/>
                      <a:pt x="87" y="22"/>
                    </a:cubicBezTo>
                    <a:cubicBezTo>
                      <a:pt x="48" y="21"/>
                      <a:pt x="20" y="45"/>
                      <a:pt x="19" y="82"/>
                    </a:cubicBezTo>
                    <a:cubicBezTo>
                      <a:pt x="17" y="121"/>
                      <a:pt x="52" y="150"/>
                      <a:pt x="102" y="151"/>
                    </a:cubicBezTo>
                    <a:cubicBezTo>
                      <a:pt x="138" y="151"/>
                      <a:pt x="166" y="125"/>
                      <a:pt x="167"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44"/>
              <p:cNvSpPr>
                <a:spLocks noEditPoints="1"/>
              </p:cNvSpPr>
              <p:nvPr/>
            </p:nvSpPr>
            <p:spPr bwMode="auto">
              <a:xfrm>
                <a:off x="7259637" y="8429625"/>
                <a:ext cx="542925" cy="587375"/>
              </a:xfrm>
              <a:custGeom>
                <a:avLst/>
                <a:gdLst>
                  <a:gd name="T0" fmla="*/ 171 w 172"/>
                  <a:gd name="T1" fmla="*/ 94 h 186"/>
                  <a:gd name="T2" fmla="*/ 85 w 172"/>
                  <a:gd name="T3" fmla="*/ 186 h 186"/>
                  <a:gd name="T4" fmla="*/ 0 w 172"/>
                  <a:gd name="T5" fmla="*/ 93 h 186"/>
                  <a:gd name="T6" fmla="*/ 86 w 172"/>
                  <a:gd name="T7" fmla="*/ 0 h 186"/>
                  <a:gd name="T8" fmla="*/ 171 w 172"/>
                  <a:gd name="T9" fmla="*/ 94 h 186"/>
                  <a:gd name="T10" fmla="*/ 19 w 172"/>
                  <a:gd name="T11" fmla="*/ 93 h 186"/>
                  <a:gd name="T12" fmla="*/ 22 w 172"/>
                  <a:gd name="T13" fmla="*/ 95 h 186"/>
                  <a:gd name="T14" fmla="*/ 27 w 172"/>
                  <a:gd name="T15" fmla="*/ 124 h 186"/>
                  <a:gd name="T16" fmla="*/ 87 w 172"/>
                  <a:gd name="T17" fmla="*/ 168 h 186"/>
                  <a:gd name="T18" fmla="*/ 145 w 172"/>
                  <a:gd name="T19" fmla="*/ 124 h 186"/>
                  <a:gd name="T20" fmla="*/ 141 w 172"/>
                  <a:gd name="T21" fmla="*/ 54 h 186"/>
                  <a:gd name="T22" fmla="*/ 38 w 172"/>
                  <a:gd name="T23" fmla="*/ 42 h 186"/>
                  <a:gd name="T24" fmla="*/ 19 w 172"/>
                  <a:gd name="T25"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86">
                    <a:moveTo>
                      <a:pt x="171" y="94"/>
                    </a:moveTo>
                    <a:cubicBezTo>
                      <a:pt x="171" y="150"/>
                      <a:pt x="137" y="186"/>
                      <a:pt x="85" y="186"/>
                    </a:cubicBezTo>
                    <a:cubicBezTo>
                      <a:pt x="35" y="186"/>
                      <a:pt x="0" y="147"/>
                      <a:pt x="0" y="93"/>
                    </a:cubicBezTo>
                    <a:cubicBezTo>
                      <a:pt x="1" y="38"/>
                      <a:pt x="36" y="0"/>
                      <a:pt x="86" y="0"/>
                    </a:cubicBezTo>
                    <a:cubicBezTo>
                      <a:pt x="138" y="1"/>
                      <a:pt x="172" y="38"/>
                      <a:pt x="171" y="94"/>
                    </a:cubicBezTo>
                    <a:close/>
                    <a:moveTo>
                      <a:pt x="19" y="93"/>
                    </a:moveTo>
                    <a:cubicBezTo>
                      <a:pt x="20" y="94"/>
                      <a:pt x="21" y="94"/>
                      <a:pt x="22" y="95"/>
                    </a:cubicBezTo>
                    <a:cubicBezTo>
                      <a:pt x="23" y="105"/>
                      <a:pt x="24" y="115"/>
                      <a:pt x="27" y="124"/>
                    </a:cubicBezTo>
                    <a:cubicBezTo>
                      <a:pt x="35" y="151"/>
                      <a:pt x="59" y="168"/>
                      <a:pt x="87" y="168"/>
                    </a:cubicBezTo>
                    <a:cubicBezTo>
                      <a:pt x="114" y="168"/>
                      <a:pt x="137" y="151"/>
                      <a:pt x="145" y="124"/>
                    </a:cubicBezTo>
                    <a:cubicBezTo>
                      <a:pt x="152" y="101"/>
                      <a:pt x="152" y="77"/>
                      <a:pt x="141" y="54"/>
                    </a:cubicBezTo>
                    <a:cubicBezTo>
                      <a:pt x="122" y="13"/>
                      <a:pt x="64" y="5"/>
                      <a:pt x="38" y="42"/>
                    </a:cubicBezTo>
                    <a:cubicBezTo>
                      <a:pt x="28" y="57"/>
                      <a:pt x="25" y="76"/>
                      <a:pt x="19"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45"/>
              <p:cNvSpPr/>
              <p:nvPr/>
            </p:nvSpPr>
            <p:spPr bwMode="auto">
              <a:xfrm>
                <a:off x="8739187" y="7469188"/>
                <a:ext cx="692150" cy="695325"/>
              </a:xfrm>
              <a:custGeom>
                <a:avLst/>
                <a:gdLst>
                  <a:gd name="T0" fmla="*/ 0 w 219"/>
                  <a:gd name="T1" fmla="*/ 88 h 220"/>
                  <a:gd name="T2" fmla="*/ 96 w 219"/>
                  <a:gd name="T3" fmla="*/ 0 h 220"/>
                  <a:gd name="T4" fmla="*/ 109 w 219"/>
                  <a:gd name="T5" fmla="*/ 14 h 220"/>
                  <a:gd name="T6" fmla="*/ 29 w 219"/>
                  <a:gd name="T7" fmla="*/ 87 h 220"/>
                  <a:gd name="T8" fmla="*/ 68 w 219"/>
                  <a:gd name="T9" fmla="*/ 129 h 220"/>
                  <a:gd name="T10" fmla="*/ 143 w 219"/>
                  <a:gd name="T11" fmla="*/ 61 h 220"/>
                  <a:gd name="T12" fmla="*/ 156 w 219"/>
                  <a:gd name="T13" fmla="*/ 75 h 220"/>
                  <a:gd name="T14" fmla="*/ 81 w 219"/>
                  <a:gd name="T15" fmla="*/ 144 h 220"/>
                  <a:gd name="T16" fmla="*/ 124 w 219"/>
                  <a:gd name="T17" fmla="*/ 191 h 220"/>
                  <a:gd name="T18" fmla="*/ 205 w 219"/>
                  <a:gd name="T19" fmla="*/ 117 h 220"/>
                  <a:gd name="T20" fmla="*/ 219 w 219"/>
                  <a:gd name="T21" fmla="*/ 130 h 220"/>
                  <a:gd name="T22" fmla="*/ 120 w 219"/>
                  <a:gd name="T23" fmla="*/ 220 h 220"/>
                  <a:gd name="T24" fmla="*/ 0 w 219"/>
                  <a:gd name="T25" fmla="*/ 8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20">
                    <a:moveTo>
                      <a:pt x="0" y="88"/>
                    </a:moveTo>
                    <a:cubicBezTo>
                      <a:pt x="32" y="58"/>
                      <a:pt x="63" y="30"/>
                      <a:pt x="96" y="0"/>
                    </a:cubicBezTo>
                    <a:cubicBezTo>
                      <a:pt x="100" y="5"/>
                      <a:pt x="104" y="8"/>
                      <a:pt x="109" y="14"/>
                    </a:cubicBezTo>
                    <a:cubicBezTo>
                      <a:pt x="82" y="39"/>
                      <a:pt x="56" y="63"/>
                      <a:pt x="29" y="87"/>
                    </a:cubicBezTo>
                    <a:cubicBezTo>
                      <a:pt x="42" y="101"/>
                      <a:pt x="54" y="115"/>
                      <a:pt x="68" y="129"/>
                    </a:cubicBezTo>
                    <a:cubicBezTo>
                      <a:pt x="92" y="107"/>
                      <a:pt x="116" y="85"/>
                      <a:pt x="143" y="61"/>
                    </a:cubicBezTo>
                    <a:cubicBezTo>
                      <a:pt x="147" y="66"/>
                      <a:pt x="151" y="70"/>
                      <a:pt x="156" y="75"/>
                    </a:cubicBezTo>
                    <a:cubicBezTo>
                      <a:pt x="130" y="99"/>
                      <a:pt x="106" y="121"/>
                      <a:pt x="81" y="144"/>
                    </a:cubicBezTo>
                    <a:cubicBezTo>
                      <a:pt x="95" y="160"/>
                      <a:pt x="109" y="175"/>
                      <a:pt x="124" y="191"/>
                    </a:cubicBezTo>
                    <a:cubicBezTo>
                      <a:pt x="151" y="166"/>
                      <a:pt x="178" y="142"/>
                      <a:pt x="205" y="117"/>
                    </a:cubicBezTo>
                    <a:cubicBezTo>
                      <a:pt x="210" y="121"/>
                      <a:pt x="214" y="125"/>
                      <a:pt x="219" y="130"/>
                    </a:cubicBezTo>
                    <a:cubicBezTo>
                      <a:pt x="186" y="161"/>
                      <a:pt x="154" y="190"/>
                      <a:pt x="120" y="220"/>
                    </a:cubicBezTo>
                    <a:cubicBezTo>
                      <a:pt x="80" y="176"/>
                      <a:pt x="41" y="133"/>
                      <a:pt x="0"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46"/>
              <p:cNvSpPr/>
              <p:nvPr/>
            </p:nvSpPr>
            <p:spPr bwMode="auto">
              <a:xfrm>
                <a:off x="3890962" y="8069263"/>
                <a:ext cx="668338" cy="708025"/>
              </a:xfrm>
              <a:custGeom>
                <a:avLst/>
                <a:gdLst>
                  <a:gd name="T0" fmla="*/ 116 w 212"/>
                  <a:gd name="T1" fmla="*/ 29 h 224"/>
                  <a:gd name="T2" fmla="*/ 81 w 212"/>
                  <a:gd name="T3" fmla="*/ 74 h 224"/>
                  <a:gd name="T4" fmla="*/ 159 w 212"/>
                  <a:gd name="T5" fmla="*/ 136 h 224"/>
                  <a:gd name="T6" fmla="*/ 148 w 212"/>
                  <a:gd name="T7" fmla="*/ 151 h 224"/>
                  <a:gd name="T8" fmla="*/ 69 w 212"/>
                  <a:gd name="T9" fmla="*/ 90 h 224"/>
                  <a:gd name="T10" fmla="*/ 30 w 212"/>
                  <a:gd name="T11" fmla="*/ 140 h 224"/>
                  <a:gd name="T12" fmla="*/ 118 w 212"/>
                  <a:gd name="T13" fmla="*/ 209 h 224"/>
                  <a:gd name="T14" fmla="*/ 106 w 212"/>
                  <a:gd name="T15" fmla="*/ 224 h 224"/>
                  <a:gd name="T16" fmla="*/ 0 w 212"/>
                  <a:gd name="T17" fmla="*/ 142 h 224"/>
                  <a:gd name="T18" fmla="*/ 111 w 212"/>
                  <a:gd name="T19" fmla="*/ 0 h 224"/>
                  <a:gd name="T20" fmla="*/ 212 w 212"/>
                  <a:gd name="T21" fmla="*/ 79 h 224"/>
                  <a:gd name="T22" fmla="*/ 201 w 212"/>
                  <a:gd name="T23" fmla="*/ 95 h 224"/>
                  <a:gd name="T24" fmla="*/ 116 w 212"/>
                  <a:gd name="T25" fmla="*/ 2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2" h="224">
                    <a:moveTo>
                      <a:pt x="116" y="29"/>
                    </a:moveTo>
                    <a:cubicBezTo>
                      <a:pt x="104" y="45"/>
                      <a:pt x="93" y="59"/>
                      <a:pt x="81" y="74"/>
                    </a:cubicBezTo>
                    <a:cubicBezTo>
                      <a:pt x="107" y="95"/>
                      <a:pt x="133" y="115"/>
                      <a:pt x="159" y="136"/>
                    </a:cubicBezTo>
                    <a:cubicBezTo>
                      <a:pt x="155" y="141"/>
                      <a:pt x="152" y="145"/>
                      <a:pt x="148" y="151"/>
                    </a:cubicBezTo>
                    <a:cubicBezTo>
                      <a:pt x="122" y="131"/>
                      <a:pt x="96" y="111"/>
                      <a:pt x="69" y="90"/>
                    </a:cubicBezTo>
                    <a:cubicBezTo>
                      <a:pt x="56" y="107"/>
                      <a:pt x="43" y="123"/>
                      <a:pt x="30" y="140"/>
                    </a:cubicBezTo>
                    <a:cubicBezTo>
                      <a:pt x="59" y="163"/>
                      <a:pt x="88" y="185"/>
                      <a:pt x="118" y="209"/>
                    </a:cubicBezTo>
                    <a:cubicBezTo>
                      <a:pt x="114" y="214"/>
                      <a:pt x="110" y="218"/>
                      <a:pt x="106" y="224"/>
                    </a:cubicBezTo>
                    <a:cubicBezTo>
                      <a:pt x="71" y="197"/>
                      <a:pt x="36" y="170"/>
                      <a:pt x="0" y="142"/>
                    </a:cubicBezTo>
                    <a:cubicBezTo>
                      <a:pt x="37" y="94"/>
                      <a:pt x="74" y="48"/>
                      <a:pt x="111" y="0"/>
                    </a:cubicBezTo>
                    <a:cubicBezTo>
                      <a:pt x="145" y="26"/>
                      <a:pt x="178" y="52"/>
                      <a:pt x="212" y="79"/>
                    </a:cubicBezTo>
                    <a:cubicBezTo>
                      <a:pt x="208" y="84"/>
                      <a:pt x="205" y="88"/>
                      <a:pt x="201" y="95"/>
                    </a:cubicBezTo>
                    <a:cubicBezTo>
                      <a:pt x="173" y="73"/>
                      <a:pt x="146" y="52"/>
                      <a:pt x="1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47"/>
              <p:cNvSpPr/>
              <p:nvPr/>
            </p:nvSpPr>
            <p:spPr bwMode="auto">
              <a:xfrm>
                <a:off x="5043487" y="8496300"/>
                <a:ext cx="454025" cy="600075"/>
              </a:xfrm>
              <a:custGeom>
                <a:avLst/>
                <a:gdLst>
                  <a:gd name="T0" fmla="*/ 0 w 144"/>
                  <a:gd name="T1" fmla="*/ 132 h 190"/>
                  <a:gd name="T2" fmla="*/ 18 w 144"/>
                  <a:gd name="T3" fmla="*/ 131 h 190"/>
                  <a:gd name="T4" fmla="*/ 93 w 144"/>
                  <a:gd name="T5" fmla="*/ 170 h 190"/>
                  <a:gd name="T6" fmla="*/ 121 w 144"/>
                  <a:gd name="T7" fmla="*/ 142 h 190"/>
                  <a:gd name="T8" fmla="*/ 97 w 144"/>
                  <a:gd name="T9" fmla="*/ 113 h 190"/>
                  <a:gd name="T10" fmla="*/ 46 w 144"/>
                  <a:gd name="T11" fmla="*/ 98 h 190"/>
                  <a:gd name="T12" fmla="*/ 7 w 144"/>
                  <a:gd name="T13" fmla="*/ 50 h 190"/>
                  <a:gd name="T14" fmla="*/ 55 w 144"/>
                  <a:gd name="T15" fmla="*/ 7 h 190"/>
                  <a:gd name="T16" fmla="*/ 135 w 144"/>
                  <a:gd name="T17" fmla="*/ 56 h 190"/>
                  <a:gd name="T18" fmla="*/ 111 w 144"/>
                  <a:gd name="T19" fmla="*/ 46 h 190"/>
                  <a:gd name="T20" fmla="*/ 34 w 144"/>
                  <a:gd name="T21" fmla="*/ 36 h 190"/>
                  <a:gd name="T22" fmla="*/ 44 w 144"/>
                  <a:gd name="T23" fmla="*/ 75 h 190"/>
                  <a:gd name="T24" fmla="*/ 98 w 144"/>
                  <a:gd name="T25" fmla="*/ 90 h 190"/>
                  <a:gd name="T26" fmla="*/ 141 w 144"/>
                  <a:gd name="T27" fmla="*/ 144 h 190"/>
                  <a:gd name="T28" fmla="*/ 88 w 144"/>
                  <a:gd name="T29" fmla="*/ 190 h 190"/>
                  <a:gd name="T30" fmla="*/ 30 w 144"/>
                  <a:gd name="T31" fmla="*/ 181 h 190"/>
                  <a:gd name="T32" fmla="*/ 0 w 144"/>
                  <a:gd name="T33" fmla="*/ 13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4" h="190">
                    <a:moveTo>
                      <a:pt x="0" y="132"/>
                    </a:moveTo>
                    <a:cubicBezTo>
                      <a:pt x="7" y="132"/>
                      <a:pt x="13" y="131"/>
                      <a:pt x="18" y="131"/>
                    </a:cubicBezTo>
                    <a:cubicBezTo>
                      <a:pt x="32" y="165"/>
                      <a:pt x="58" y="179"/>
                      <a:pt x="93" y="170"/>
                    </a:cubicBezTo>
                    <a:cubicBezTo>
                      <a:pt x="108" y="166"/>
                      <a:pt x="119" y="158"/>
                      <a:pt x="121" y="142"/>
                    </a:cubicBezTo>
                    <a:cubicBezTo>
                      <a:pt x="122" y="125"/>
                      <a:pt x="111" y="118"/>
                      <a:pt x="97" y="113"/>
                    </a:cubicBezTo>
                    <a:cubicBezTo>
                      <a:pt x="80" y="108"/>
                      <a:pt x="63" y="104"/>
                      <a:pt x="46" y="98"/>
                    </a:cubicBezTo>
                    <a:cubicBezTo>
                      <a:pt x="17" y="89"/>
                      <a:pt x="4" y="73"/>
                      <a:pt x="7" y="50"/>
                    </a:cubicBezTo>
                    <a:cubicBezTo>
                      <a:pt x="9" y="27"/>
                      <a:pt x="27" y="11"/>
                      <a:pt x="55" y="7"/>
                    </a:cubicBezTo>
                    <a:cubicBezTo>
                      <a:pt x="100" y="0"/>
                      <a:pt x="130" y="19"/>
                      <a:pt x="135" y="56"/>
                    </a:cubicBezTo>
                    <a:cubicBezTo>
                      <a:pt x="124" y="60"/>
                      <a:pt x="117" y="60"/>
                      <a:pt x="111" y="46"/>
                    </a:cubicBezTo>
                    <a:cubicBezTo>
                      <a:pt x="100" y="22"/>
                      <a:pt x="52" y="17"/>
                      <a:pt x="34" y="36"/>
                    </a:cubicBezTo>
                    <a:cubicBezTo>
                      <a:pt x="22" y="50"/>
                      <a:pt x="26" y="68"/>
                      <a:pt x="44" y="75"/>
                    </a:cubicBezTo>
                    <a:cubicBezTo>
                      <a:pt x="62" y="81"/>
                      <a:pt x="80" y="85"/>
                      <a:pt x="98" y="90"/>
                    </a:cubicBezTo>
                    <a:cubicBezTo>
                      <a:pt x="131" y="100"/>
                      <a:pt x="144" y="117"/>
                      <a:pt x="141" y="144"/>
                    </a:cubicBezTo>
                    <a:cubicBezTo>
                      <a:pt x="138" y="169"/>
                      <a:pt x="118" y="189"/>
                      <a:pt x="88" y="190"/>
                    </a:cubicBezTo>
                    <a:cubicBezTo>
                      <a:pt x="69" y="190"/>
                      <a:pt x="48" y="188"/>
                      <a:pt x="30" y="181"/>
                    </a:cubicBezTo>
                    <a:cubicBezTo>
                      <a:pt x="10" y="174"/>
                      <a:pt x="1" y="156"/>
                      <a:pt x="0"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48"/>
              <p:cNvSpPr/>
              <p:nvPr/>
            </p:nvSpPr>
            <p:spPr bwMode="auto">
              <a:xfrm>
                <a:off x="9466262" y="6623050"/>
                <a:ext cx="706438" cy="663575"/>
              </a:xfrm>
              <a:custGeom>
                <a:avLst/>
                <a:gdLst>
                  <a:gd name="T0" fmla="*/ 139 w 224"/>
                  <a:gd name="T1" fmla="*/ 65 h 210"/>
                  <a:gd name="T2" fmla="*/ 92 w 224"/>
                  <a:gd name="T3" fmla="*/ 149 h 210"/>
                  <a:gd name="T4" fmla="*/ 166 w 224"/>
                  <a:gd name="T5" fmla="*/ 191 h 210"/>
                  <a:gd name="T6" fmla="*/ 156 w 224"/>
                  <a:gd name="T7" fmla="*/ 210 h 210"/>
                  <a:gd name="T8" fmla="*/ 0 w 224"/>
                  <a:gd name="T9" fmla="*/ 122 h 210"/>
                  <a:gd name="T10" fmla="*/ 10 w 224"/>
                  <a:gd name="T11" fmla="*/ 103 h 210"/>
                  <a:gd name="T12" fmla="*/ 75 w 224"/>
                  <a:gd name="T13" fmla="*/ 139 h 210"/>
                  <a:gd name="T14" fmla="*/ 122 w 224"/>
                  <a:gd name="T15" fmla="*/ 56 h 210"/>
                  <a:gd name="T16" fmla="*/ 59 w 224"/>
                  <a:gd name="T17" fmla="*/ 19 h 210"/>
                  <a:gd name="T18" fmla="*/ 68 w 224"/>
                  <a:gd name="T19" fmla="*/ 0 h 210"/>
                  <a:gd name="T20" fmla="*/ 224 w 224"/>
                  <a:gd name="T21" fmla="*/ 87 h 210"/>
                  <a:gd name="T22" fmla="*/ 215 w 224"/>
                  <a:gd name="T23" fmla="*/ 107 h 210"/>
                  <a:gd name="T24" fmla="*/ 139 w 224"/>
                  <a:gd name="T25" fmla="*/ 6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210">
                    <a:moveTo>
                      <a:pt x="139" y="65"/>
                    </a:moveTo>
                    <a:cubicBezTo>
                      <a:pt x="123" y="94"/>
                      <a:pt x="108" y="120"/>
                      <a:pt x="92" y="149"/>
                    </a:cubicBezTo>
                    <a:cubicBezTo>
                      <a:pt x="118" y="163"/>
                      <a:pt x="141" y="177"/>
                      <a:pt x="166" y="191"/>
                    </a:cubicBezTo>
                    <a:cubicBezTo>
                      <a:pt x="163" y="197"/>
                      <a:pt x="160" y="203"/>
                      <a:pt x="156" y="210"/>
                    </a:cubicBezTo>
                    <a:cubicBezTo>
                      <a:pt x="103" y="181"/>
                      <a:pt x="52" y="152"/>
                      <a:pt x="0" y="122"/>
                    </a:cubicBezTo>
                    <a:cubicBezTo>
                      <a:pt x="3" y="116"/>
                      <a:pt x="6" y="110"/>
                      <a:pt x="10" y="103"/>
                    </a:cubicBezTo>
                    <a:cubicBezTo>
                      <a:pt x="32" y="115"/>
                      <a:pt x="53" y="127"/>
                      <a:pt x="75" y="139"/>
                    </a:cubicBezTo>
                    <a:cubicBezTo>
                      <a:pt x="91" y="112"/>
                      <a:pt x="106" y="85"/>
                      <a:pt x="122" y="56"/>
                    </a:cubicBezTo>
                    <a:cubicBezTo>
                      <a:pt x="101" y="43"/>
                      <a:pt x="80" y="32"/>
                      <a:pt x="59" y="19"/>
                    </a:cubicBezTo>
                    <a:cubicBezTo>
                      <a:pt x="62" y="13"/>
                      <a:pt x="65" y="7"/>
                      <a:pt x="68" y="0"/>
                    </a:cubicBezTo>
                    <a:cubicBezTo>
                      <a:pt x="121" y="29"/>
                      <a:pt x="172" y="58"/>
                      <a:pt x="224" y="87"/>
                    </a:cubicBezTo>
                    <a:cubicBezTo>
                      <a:pt x="221" y="94"/>
                      <a:pt x="218" y="100"/>
                      <a:pt x="215" y="107"/>
                    </a:cubicBezTo>
                    <a:cubicBezTo>
                      <a:pt x="190" y="93"/>
                      <a:pt x="166" y="80"/>
                      <a:pt x="139"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49"/>
              <p:cNvSpPr/>
              <p:nvPr/>
            </p:nvSpPr>
            <p:spPr bwMode="auto">
              <a:xfrm>
                <a:off x="1860550" y="4411663"/>
                <a:ext cx="593725" cy="446088"/>
              </a:xfrm>
              <a:custGeom>
                <a:avLst/>
                <a:gdLst>
                  <a:gd name="T0" fmla="*/ 182 w 188"/>
                  <a:gd name="T1" fmla="*/ 23 h 141"/>
                  <a:gd name="T2" fmla="*/ 68 w 188"/>
                  <a:gd name="T3" fmla="*/ 23 h 141"/>
                  <a:gd name="T4" fmla="*/ 20 w 188"/>
                  <a:gd name="T5" fmla="*/ 77 h 141"/>
                  <a:gd name="T6" fmla="*/ 66 w 188"/>
                  <a:gd name="T7" fmla="*/ 119 h 141"/>
                  <a:gd name="T8" fmla="*/ 156 w 188"/>
                  <a:gd name="T9" fmla="*/ 119 h 141"/>
                  <a:gd name="T10" fmla="*/ 181 w 188"/>
                  <a:gd name="T11" fmla="*/ 119 h 141"/>
                  <a:gd name="T12" fmla="*/ 181 w 188"/>
                  <a:gd name="T13" fmla="*/ 139 h 141"/>
                  <a:gd name="T14" fmla="*/ 53 w 188"/>
                  <a:gd name="T15" fmla="*/ 139 h 141"/>
                  <a:gd name="T16" fmla="*/ 1 w 188"/>
                  <a:gd name="T17" fmla="*/ 69 h 141"/>
                  <a:gd name="T18" fmla="*/ 54 w 188"/>
                  <a:gd name="T19" fmla="*/ 3 h 141"/>
                  <a:gd name="T20" fmla="*/ 172 w 188"/>
                  <a:gd name="T21" fmla="*/ 1 h 141"/>
                  <a:gd name="T22" fmla="*/ 182 w 188"/>
                  <a:gd name="T23" fmla="*/ 2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41">
                    <a:moveTo>
                      <a:pt x="182" y="23"/>
                    </a:moveTo>
                    <a:cubicBezTo>
                      <a:pt x="142" y="23"/>
                      <a:pt x="105" y="22"/>
                      <a:pt x="68" y="23"/>
                    </a:cubicBezTo>
                    <a:cubicBezTo>
                      <a:pt x="32" y="24"/>
                      <a:pt x="18" y="41"/>
                      <a:pt x="20" y="77"/>
                    </a:cubicBezTo>
                    <a:cubicBezTo>
                      <a:pt x="22" y="104"/>
                      <a:pt x="35" y="117"/>
                      <a:pt x="66" y="119"/>
                    </a:cubicBezTo>
                    <a:cubicBezTo>
                      <a:pt x="96" y="120"/>
                      <a:pt x="126" y="119"/>
                      <a:pt x="156" y="119"/>
                    </a:cubicBezTo>
                    <a:cubicBezTo>
                      <a:pt x="164" y="119"/>
                      <a:pt x="172" y="119"/>
                      <a:pt x="181" y="119"/>
                    </a:cubicBezTo>
                    <a:cubicBezTo>
                      <a:pt x="181" y="127"/>
                      <a:pt x="181" y="133"/>
                      <a:pt x="181" y="139"/>
                    </a:cubicBezTo>
                    <a:cubicBezTo>
                      <a:pt x="138" y="139"/>
                      <a:pt x="96" y="141"/>
                      <a:pt x="53" y="139"/>
                    </a:cubicBezTo>
                    <a:cubicBezTo>
                      <a:pt x="17" y="136"/>
                      <a:pt x="0" y="111"/>
                      <a:pt x="1" y="69"/>
                    </a:cubicBezTo>
                    <a:cubicBezTo>
                      <a:pt x="1" y="28"/>
                      <a:pt x="18" y="6"/>
                      <a:pt x="54" y="3"/>
                    </a:cubicBezTo>
                    <a:cubicBezTo>
                      <a:pt x="93" y="0"/>
                      <a:pt x="133" y="1"/>
                      <a:pt x="172" y="1"/>
                    </a:cubicBezTo>
                    <a:cubicBezTo>
                      <a:pt x="188" y="0"/>
                      <a:pt x="182" y="12"/>
                      <a:pt x="18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50"/>
              <p:cNvSpPr/>
              <p:nvPr/>
            </p:nvSpPr>
            <p:spPr bwMode="auto">
              <a:xfrm>
                <a:off x="1927225" y="5018088"/>
                <a:ext cx="574675" cy="436563"/>
              </a:xfrm>
              <a:custGeom>
                <a:avLst/>
                <a:gdLst>
                  <a:gd name="T0" fmla="*/ 177 w 182"/>
                  <a:gd name="T1" fmla="*/ 0 h 138"/>
                  <a:gd name="T2" fmla="*/ 162 w 182"/>
                  <a:gd name="T3" fmla="*/ 21 h 138"/>
                  <a:gd name="T4" fmla="*/ 105 w 182"/>
                  <a:gd name="T5" fmla="*/ 20 h 138"/>
                  <a:gd name="T6" fmla="*/ 105 w 182"/>
                  <a:gd name="T7" fmla="*/ 117 h 138"/>
                  <a:gd name="T8" fmla="*/ 178 w 182"/>
                  <a:gd name="T9" fmla="*/ 117 h 138"/>
                  <a:gd name="T10" fmla="*/ 178 w 182"/>
                  <a:gd name="T11" fmla="*/ 138 h 138"/>
                  <a:gd name="T12" fmla="*/ 0 w 182"/>
                  <a:gd name="T13" fmla="*/ 138 h 138"/>
                  <a:gd name="T14" fmla="*/ 0 w 182"/>
                  <a:gd name="T15" fmla="*/ 118 h 138"/>
                  <a:gd name="T16" fmla="*/ 83 w 182"/>
                  <a:gd name="T17" fmla="*/ 118 h 138"/>
                  <a:gd name="T18" fmla="*/ 83 w 182"/>
                  <a:gd name="T19" fmla="*/ 20 h 138"/>
                  <a:gd name="T20" fmla="*/ 0 w 182"/>
                  <a:gd name="T21" fmla="*/ 20 h 138"/>
                  <a:gd name="T22" fmla="*/ 0 w 182"/>
                  <a:gd name="T23" fmla="*/ 0 h 138"/>
                  <a:gd name="T24" fmla="*/ 177 w 182"/>
                  <a:gd name="T2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38">
                    <a:moveTo>
                      <a:pt x="177" y="0"/>
                    </a:moveTo>
                    <a:cubicBezTo>
                      <a:pt x="182" y="17"/>
                      <a:pt x="176" y="21"/>
                      <a:pt x="162" y="21"/>
                    </a:cubicBezTo>
                    <a:cubicBezTo>
                      <a:pt x="144" y="20"/>
                      <a:pt x="125" y="20"/>
                      <a:pt x="105" y="20"/>
                    </a:cubicBezTo>
                    <a:cubicBezTo>
                      <a:pt x="105" y="53"/>
                      <a:pt x="105" y="84"/>
                      <a:pt x="105" y="117"/>
                    </a:cubicBezTo>
                    <a:cubicBezTo>
                      <a:pt x="129" y="117"/>
                      <a:pt x="153" y="117"/>
                      <a:pt x="178" y="117"/>
                    </a:cubicBezTo>
                    <a:cubicBezTo>
                      <a:pt x="178" y="125"/>
                      <a:pt x="178" y="131"/>
                      <a:pt x="178" y="138"/>
                    </a:cubicBezTo>
                    <a:cubicBezTo>
                      <a:pt x="119" y="138"/>
                      <a:pt x="60" y="138"/>
                      <a:pt x="0" y="138"/>
                    </a:cubicBezTo>
                    <a:cubicBezTo>
                      <a:pt x="0" y="131"/>
                      <a:pt x="0" y="126"/>
                      <a:pt x="0" y="118"/>
                    </a:cubicBezTo>
                    <a:cubicBezTo>
                      <a:pt x="28" y="118"/>
                      <a:pt x="55" y="118"/>
                      <a:pt x="83" y="118"/>
                    </a:cubicBezTo>
                    <a:cubicBezTo>
                      <a:pt x="83" y="85"/>
                      <a:pt x="83" y="54"/>
                      <a:pt x="83" y="20"/>
                    </a:cubicBezTo>
                    <a:cubicBezTo>
                      <a:pt x="55" y="20"/>
                      <a:pt x="28" y="20"/>
                      <a:pt x="0" y="20"/>
                    </a:cubicBezTo>
                    <a:cubicBezTo>
                      <a:pt x="0" y="12"/>
                      <a:pt x="0" y="7"/>
                      <a:pt x="0" y="0"/>
                    </a:cubicBezTo>
                    <a:cubicBezTo>
                      <a:pt x="60" y="0"/>
                      <a:pt x="118" y="0"/>
                      <a:pt x="1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51"/>
              <p:cNvSpPr/>
              <p:nvPr/>
            </p:nvSpPr>
            <p:spPr bwMode="auto">
              <a:xfrm>
                <a:off x="2505075" y="6702425"/>
                <a:ext cx="661988" cy="665163"/>
              </a:xfrm>
              <a:custGeom>
                <a:avLst/>
                <a:gdLst>
                  <a:gd name="T0" fmla="*/ 195 w 210"/>
                  <a:gd name="T1" fmla="*/ 78 h 211"/>
                  <a:gd name="T2" fmla="*/ 210 w 210"/>
                  <a:gd name="T3" fmla="*/ 93 h 211"/>
                  <a:gd name="T4" fmla="*/ 124 w 210"/>
                  <a:gd name="T5" fmla="*/ 183 h 211"/>
                  <a:gd name="T6" fmla="*/ 31 w 210"/>
                  <a:gd name="T7" fmla="*/ 174 h 211"/>
                  <a:gd name="T8" fmla="*/ 28 w 210"/>
                  <a:gd name="T9" fmla="*/ 84 h 211"/>
                  <a:gd name="T10" fmla="*/ 114 w 210"/>
                  <a:gd name="T11" fmla="*/ 0 h 211"/>
                  <a:gd name="T12" fmla="*/ 130 w 210"/>
                  <a:gd name="T13" fmla="*/ 14 h 211"/>
                  <a:gd name="T14" fmla="*/ 70 w 210"/>
                  <a:gd name="T15" fmla="*/ 72 h 211"/>
                  <a:gd name="T16" fmla="*/ 45 w 210"/>
                  <a:gd name="T17" fmla="*/ 98 h 211"/>
                  <a:gd name="T18" fmla="*/ 47 w 210"/>
                  <a:gd name="T19" fmla="*/ 162 h 211"/>
                  <a:gd name="T20" fmla="*/ 113 w 210"/>
                  <a:gd name="T21" fmla="*/ 164 h 211"/>
                  <a:gd name="T22" fmla="*/ 195 w 210"/>
                  <a:gd name="T23" fmla="*/ 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11">
                    <a:moveTo>
                      <a:pt x="195" y="78"/>
                    </a:moveTo>
                    <a:cubicBezTo>
                      <a:pt x="203" y="86"/>
                      <a:pt x="208" y="91"/>
                      <a:pt x="210" y="93"/>
                    </a:cubicBezTo>
                    <a:cubicBezTo>
                      <a:pt x="180" y="125"/>
                      <a:pt x="154" y="156"/>
                      <a:pt x="124" y="183"/>
                    </a:cubicBezTo>
                    <a:cubicBezTo>
                      <a:pt x="93" y="211"/>
                      <a:pt x="63" y="207"/>
                      <a:pt x="31" y="174"/>
                    </a:cubicBezTo>
                    <a:cubicBezTo>
                      <a:pt x="2" y="145"/>
                      <a:pt x="0" y="114"/>
                      <a:pt x="28" y="84"/>
                    </a:cubicBezTo>
                    <a:cubicBezTo>
                      <a:pt x="55" y="55"/>
                      <a:pt x="85" y="28"/>
                      <a:pt x="114" y="0"/>
                    </a:cubicBezTo>
                    <a:cubicBezTo>
                      <a:pt x="118" y="3"/>
                      <a:pt x="123" y="7"/>
                      <a:pt x="130" y="14"/>
                    </a:cubicBezTo>
                    <a:cubicBezTo>
                      <a:pt x="109" y="34"/>
                      <a:pt x="89" y="53"/>
                      <a:pt x="70" y="72"/>
                    </a:cubicBezTo>
                    <a:cubicBezTo>
                      <a:pt x="61" y="80"/>
                      <a:pt x="53" y="88"/>
                      <a:pt x="45" y="98"/>
                    </a:cubicBezTo>
                    <a:cubicBezTo>
                      <a:pt x="25" y="122"/>
                      <a:pt x="25" y="141"/>
                      <a:pt x="47" y="162"/>
                    </a:cubicBezTo>
                    <a:cubicBezTo>
                      <a:pt x="70" y="185"/>
                      <a:pt x="90" y="186"/>
                      <a:pt x="113" y="164"/>
                    </a:cubicBezTo>
                    <a:cubicBezTo>
                      <a:pt x="141" y="137"/>
                      <a:pt x="166" y="109"/>
                      <a:pt x="195"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52"/>
              <p:cNvSpPr>
                <a:spLocks noEditPoints="1"/>
              </p:cNvSpPr>
              <p:nvPr/>
            </p:nvSpPr>
            <p:spPr bwMode="auto">
              <a:xfrm>
                <a:off x="1965325" y="5564188"/>
                <a:ext cx="606425" cy="512763"/>
              </a:xfrm>
              <a:custGeom>
                <a:avLst/>
                <a:gdLst>
                  <a:gd name="T0" fmla="*/ 31 w 192"/>
                  <a:gd name="T1" fmla="*/ 162 h 162"/>
                  <a:gd name="T2" fmla="*/ 42 w 192"/>
                  <a:gd name="T3" fmla="*/ 128 h 162"/>
                  <a:gd name="T4" fmla="*/ 69 w 192"/>
                  <a:gd name="T5" fmla="*/ 71 h 162"/>
                  <a:gd name="T6" fmla="*/ 69 w 192"/>
                  <a:gd name="T7" fmla="*/ 69 h 162"/>
                  <a:gd name="T8" fmla="*/ 25 w 192"/>
                  <a:gd name="T9" fmla="*/ 26 h 162"/>
                  <a:gd name="T10" fmla="*/ 4 w 192"/>
                  <a:gd name="T11" fmla="*/ 0 h 162"/>
                  <a:gd name="T12" fmla="*/ 77 w 192"/>
                  <a:gd name="T13" fmla="*/ 14 h 162"/>
                  <a:gd name="T14" fmla="*/ 178 w 192"/>
                  <a:gd name="T15" fmla="*/ 35 h 162"/>
                  <a:gd name="T16" fmla="*/ 191 w 192"/>
                  <a:gd name="T17" fmla="*/ 47 h 162"/>
                  <a:gd name="T18" fmla="*/ 186 w 192"/>
                  <a:gd name="T19" fmla="*/ 66 h 162"/>
                  <a:gd name="T20" fmla="*/ 122 w 192"/>
                  <a:gd name="T21" fmla="*/ 106 h 162"/>
                  <a:gd name="T22" fmla="*/ 31 w 192"/>
                  <a:gd name="T23" fmla="*/ 162 h 162"/>
                  <a:gd name="T24" fmla="*/ 92 w 192"/>
                  <a:gd name="T25" fmla="*/ 99 h 162"/>
                  <a:gd name="T26" fmla="*/ 173 w 192"/>
                  <a:gd name="T27" fmla="*/ 52 h 162"/>
                  <a:gd name="T28" fmla="*/ 81 w 192"/>
                  <a:gd name="T29" fmla="*/ 37 h 162"/>
                  <a:gd name="T30" fmla="*/ 92 w 192"/>
                  <a:gd name="T31" fmla="*/ 9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2" h="162">
                    <a:moveTo>
                      <a:pt x="31" y="162"/>
                    </a:moveTo>
                    <a:cubicBezTo>
                      <a:pt x="22" y="146"/>
                      <a:pt x="26" y="137"/>
                      <a:pt x="42" y="128"/>
                    </a:cubicBezTo>
                    <a:cubicBezTo>
                      <a:pt x="76" y="110"/>
                      <a:pt x="76" y="109"/>
                      <a:pt x="69" y="71"/>
                    </a:cubicBezTo>
                    <a:cubicBezTo>
                      <a:pt x="69" y="70"/>
                      <a:pt x="69" y="70"/>
                      <a:pt x="69" y="69"/>
                    </a:cubicBezTo>
                    <a:cubicBezTo>
                      <a:pt x="61" y="24"/>
                      <a:pt x="71" y="35"/>
                      <a:pt x="25" y="26"/>
                    </a:cubicBezTo>
                    <a:cubicBezTo>
                      <a:pt x="11" y="23"/>
                      <a:pt x="0" y="20"/>
                      <a:pt x="4" y="0"/>
                    </a:cubicBezTo>
                    <a:cubicBezTo>
                      <a:pt x="28" y="5"/>
                      <a:pt x="52" y="10"/>
                      <a:pt x="77" y="14"/>
                    </a:cubicBezTo>
                    <a:cubicBezTo>
                      <a:pt x="110" y="21"/>
                      <a:pt x="144" y="28"/>
                      <a:pt x="178" y="35"/>
                    </a:cubicBezTo>
                    <a:cubicBezTo>
                      <a:pt x="183" y="36"/>
                      <a:pt x="190" y="42"/>
                      <a:pt x="191" y="47"/>
                    </a:cubicBezTo>
                    <a:cubicBezTo>
                      <a:pt x="192" y="53"/>
                      <a:pt x="190" y="63"/>
                      <a:pt x="186" y="66"/>
                    </a:cubicBezTo>
                    <a:cubicBezTo>
                      <a:pt x="165" y="80"/>
                      <a:pt x="144" y="93"/>
                      <a:pt x="122" y="106"/>
                    </a:cubicBezTo>
                    <a:cubicBezTo>
                      <a:pt x="92" y="125"/>
                      <a:pt x="61" y="144"/>
                      <a:pt x="31" y="162"/>
                    </a:cubicBezTo>
                    <a:close/>
                    <a:moveTo>
                      <a:pt x="92" y="99"/>
                    </a:moveTo>
                    <a:cubicBezTo>
                      <a:pt x="120" y="83"/>
                      <a:pt x="145" y="69"/>
                      <a:pt x="173" y="52"/>
                    </a:cubicBezTo>
                    <a:cubicBezTo>
                      <a:pt x="140" y="47"/>
                      <a:pt x="112" y="42"/>
                      <a:pt x="81" y="37"/>
                    </a:cubicBezTo>
                    <a:cubicBezTo>
                      <a:pt x="85" y="59"/>
                      <a:pt x="88" y="78"/>
                      <a:pt x="92"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53"/>
              <p:cNvSpPr/>
              <p:nvPr/>
            </p:nvSpPr>
            <p:spPr bwMode="auto">
              <a:xfrm>
                <a:off x="5321300" y="414338"/>
                <a:ext cx="296863" cy="725488"/>
              </a:xfrm>
              <a:custGeom>
                <a:avLst/>
                <a:gdLst>
                  <a:gd name="T0" fmla="*/ 51 w 94"/>
                  <a:gd name="T1" fmla="*/ 57 h 230"/>
                  <a:gd name="T2" fmla="*/ 0 w 94"/>
                  <a:gd name="T3" fmla="*/ 47 h 230"/>
                  <a:gd name="T4" fmla="*/ 55 w 94"/>
                  <a:gd name="T5" fmla="*/ 9 h 230"/>
                  <a:gd name="T6" fmla="*/ 80 w 94"/>
                  <a:gd name="T7" fmla="*/ 24 h 230"/>
                  <a:gd name="T8" fmla="*/ 74 w 94"/>
                  <a:gd name="T9" fmla="*/ 61 h 230"/>
                  <a:gd name="T10" fmla="*/ 66 w 94"/>
                  <a:gd name="T11" fmla="*/ 126 h 230"/>
                  <a:gd name="T12" fmla="*/ 94 w 94"/>
                  <a:gd name="T13" fmla="*/ 117 h 230"/>
                  <a:gd name="T14" fmla="*/ 90 w 94"/>
                  <a:gd name="T15" fmla="*/ 132 h 230"/>
                  <a:gd name="T16" fmla="*/ 68 w 94"/>
                  <a:gd name="T17" fmla="*/ 210 h 230"/>
                  <a:gd name="T18" fmla="*/ 57 w 94"/>
                  <a:gd name="T19" fmla="*/ 228 h 230"/>
                  <a:gd name="T20" fmla="*/ 31 w 94"/>
                  <a:gd name="T21" fmla="*/ 223 h 230"/>
                  <a:gd name="T22" fmla="*/ 29 w 94"/>
                  <a:gd name="T23" fmla="*/ 203 h 230"/>
                  <a:gd name="T24" fmla="*/ 49 w 94"/>
                  <a:gd name="T25" fmla="*/ 155 h 230"/>
                  <a:gd name="T26" fmla="*/ 12 w 94"/>
                  <a:gd name="T27" fmla="*/ 151 h 230"/>
                  <a:gd name="T28" fmla="*/ 30 w 94"/>
                  <a:gd name="T29" fmla="*/ 131 h 230"/>
                  <a:gd name="T30" fmla="*/ 51 w 94"/>
                  <a:gd name="T31" fmla="*/ 95 h 230"/>
                  <a:gd name="T32" fmla="*/ 51 w 94"/>
                  <a:gd name="T33" fmla="*/ 5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230">
                    <a:moveTo>
                      <a:pt x="51" y="57"/>
                    </a:moveTo>
                    <a:cubicBezTo>
                      <a:pt x="32" y="54"/>
                      <a:pt x="13" y="71"/>
                      <a:pt x="0" y="47"/>
                    </a:cubicBezTo>
                    <a:cubicBezTo>
                      <a:pt x="18" y="34"/>
                      <a:pt x="36" y="20"/>
                      <a:pt x="55" y="9"/>
                    </a:cubicBezTo>
                    <a:cubicBezTo>
                      <a:pt x="70" y="0"/>
                      <a:pt x="80" y="7"/>
                      <a:pt x="80" y="24"/>
                    </a:cubicBezTo>
                    <a:cubicBezTo>
                      <a:pt x="80" y="36"/>
                      <a:pt x="76" y="48"/>
                      <a:pt x="74" y="61"/>
                    </a:cubicBezTo>
                    <a:cubicBezTo>
                      <a:pt x="71" y="81"/>
                      <a:pt x="69" y="102"/>
                      <a:pt x="66" y="126"/>
                    </a:cubicBezTo>
                    <a:cubicBezTo>
                      <a:pt x="79" y="122"/>
                      <a:pt x="86" y="120"/>
                      <a:pt x="94" y="117"/>
                    </a:cubicBezTo>
                    <a:cubicBezTo>
                      <a:pt x="93" y="123"/>
                      <a:pt x="93" y="128"/>
                      <a:pt x="90" y="132"/>
                    </a:cubicBezTo>
                    <a:cubicBezTo>
                      <a:pt x="75" y="156"/>
                      <a:pt x="64" y="180"/>
                      <a:pt x="68" y="210"/>
                    </a:cubicBezTo>
                    <a:cubicBezTo>
                      <a:pt x="69" y="216"/>
                      <a:pt x="62" y="226"/>
                      <a:pt x="57" y="228"/>
                    </a:cubicBezTo>
                    <a:cubicBezTo>
                      <a:pt x="49" y="230"/>
                      <a:pt x="38" y="228"/>
                      <a:pt x="31" y="223"/>
                    </a:cubicBezTo>
                    <a:cubicBezTo>
                      <a:pt x="27" y="221"/>
                      <a:pt x="27" y="209"/>
                      <a:pt x="29" y="203"/>
                    </a:cubicBezTo>
                    <a:cubicBezTo>
                      <a:pt x="34" y="187"/>
                      <a:pt x="42" y="172"/>
                      <a:pt x="49" y="155"/>
                    </a:cubicBezTo>
                    <a:cubicBezTo>
                      <a:pt x="39" y="154"/>
                      <a:pt x="29" y="153"/>
                      <a:pt x="12" y="151"/>
                    </a:cubicBezTo>
                    <a:cubicBezTo>
                      <a:pt x="20" y="142"/>
                      <a:pt x="24" y="133"/>
                      <a:pt x="30" y="131"/>
                    </a:cubicBezTo>
                    <a:cubicBezTo>
                      <a:pt x="48" y="125"/>
                      <a:pt x="51" y="111"/>
                      <a:pt x="51" y="95"/>
                    </a:cubicBezTo>
                    <a:cubicBezTo>
                      <a:pt x="50" y="83"/>
                      <a:pt x="51" y="70"/>
                      <a:pt x="51"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54"/>
              <p:cNvSpPr/>
              <p:nvPr/>
            </p:nvSpPr>
            <p:spPr bwMode="auto">
              <a:xfrm>
                <a:off x="9131300" y="7102475"/>
                <a:ext cx="603250" cy="615950"/>
              </a:xfrm>
              <a:custGeom>
                <a:avLst/>
                <a:gdLst>
                  <a:gd name="T0" fmla="*/ 122 w 191"/>
                  <a:gd name="T1" fmla="*/ 24 h 195"/>
                  <a:gd name="T2" fmla="*/ 99 w 191"/>
                  <a:gd name="T3" fmla="*/ 30 h 195"/>
                  <a:gd name="T4" fmla="*/ 44 w 191"/>
                  <a:gd name="T5" fmla="*/ 46 h 195"/>
                  <a:gd name="T6" fmla="*/ 32 w 191"/>
                  <a:gd name="T7" fmla="*/ 104 h 195"/>
                  <a:gd name="T8" fmla="*/ 77 w 191"/>
                  <a:gd name="T9" fmla="*/ 156 h 195"/>
                  <a:gd name="T10" fmla="*/ 143 w 191"/>
                  <a:gd name="T11" fmla="*/ 155 h 195"/>
                  <a:gd name="T12" fmla="*/ 160 w 191"/>
                  <a:gd name="T13" fmla="*/ 91 h 195"/>
                  <a:gd name="T14" fmla="*/ 157 w 191"/>
                  <a:gd name="T15" fmla="*/ 82 h 195"/>
                  <a:gd name="T16" fmla="*/ 173 w 191"/>
                  <a:gd name="T17" fmla="*/ 72 h 195"/>
                  <a:gd name="T18" fmla="*/ 172 w 191"/>
                  <a:gd name="T19" fmla="*/ 152 h 195"/>
                  <a:gd name="T20" fmla="*/ 84 w 191"/>
                  <a:gd name="T21" fmla="*/ 184 h 195"/>
                  <a:gd name="T22" fmla="*/ 17 w 191"/>
                  <a:gd name="T23" fmla="*/ 125 h 195"/>
                  <a:gd name="T24" fmla="*/ 32 w 191"/>
                  <a:gd name="T25" fmla="*/ 30 h 195"/>
                  <a:gd name="T26" fmla="*/ 120 w 191"/>
                  <a:gd name="T27" fmla="*/ 16 h 195"/>
                  <a:gd name="T28" fmla="*/ 122 w 191"/>
                  <a:gd name="T29" fmla="*/ 2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1" h="195">
                    <a:moveTo>
                      <a:pt x="122" y="24"/>
                    </a:moveTo>
                    <a:cubicBezTo>
                      <a:pt x="114" y="26"/>
                      <a:pt x="105" y="32"/>
                      <a:pt x="99" y="30"/>
                    </a:cubicBezTo>
                    <a:cubicBezTo>
                      <a:pt x="76" y="22"/>
                      <a:pt x="59" y="29"/>
                      <a:pt x="44" y="46"/>
                    </a:cubicBezTo>
                    <a:cubicBezTo>
                      <a:pt x="27" y="63"/>
                      <a:pt x="20" y="84"/>
                      <a:pt x="32" y="104"/>
                    </a:cubicBezTo>
                    <a:cubicBezTo>
                      <a:pt x="44" y="124"/>
                      <a:pt x="59" y="142"/>
                      <a:pt x="77" y="156"/>
                    </a:cubicBezTo>
                    <a:cubicBezTo>
                      <a:pt x="97" y="174"/>
                      <a:pt x="122" y="171"/>
                      <a:pt x="143" y="155"/>
                    </a:cubicBezTo>
                    <a:cubicBezTo>
                      <a:pt x="163" y="139"/>
                      <a:pt x="169" y="118"/>
                      <a:pt x="160" y="91"/>
                    </a:cubicBezTo>
                    <a:cubicBezTo>
                      <a:pt x="159" y="88"/>
                      <a:pt x="158" y="86"/>
                      <a:pt x="157" y="82"/>
                    </a:cubicBezTo>
                    <a:cubicBezTo>
                      <a:pt x="162" y="78"/>
                      <a:pt x="168" y="75"/>
                      <a:pt x="173" y="72"/>
                    </a:cubicBezTo>
                    <a:cubicBezTo>
                      <a:pt x="191" y="97"/>
                      <a:pt x="190" y="127"/>
                      <a:pt x="172" y="152"/>
                    </a:cubicBezTo>
                    <a:cubicBezTo>
                      <a:pt x="150" y="182"/>
                      <a:pt x="115" y="195"/>
                      <a:pt x="84" y="184"/>
                    </a:cubicBezTo>
                    <a:cubicBezTo>
                      <a:pt x="54" y="174"/>
                      <a:pt x="31" y="154"/>
                      <a:pt x="17" y="125"/>
                    </a:cubicBezTo>
                    <a:cubicBezTo>
                      <a:pt x="0" y="92"/>
                      <a:pt x="6" y="56"/>
                      <a:pt x="32" y="30"/>
                    </a:cubicBezTo>
                    <a:cubicBezTo>
                      <a:pt x="59" y="4"/>
                      <a:pt x="87" y="0"/>
                      <a:pt x="120" y="16"/>
                    </a:cubicBezTo>
                    <a:cubicBezTo>
                      <a:pt x="120" y="19"/>
                      <a:pt x="121" y="21"/>
                      <a:pt x="12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55"/>
              <p:cNvSpPr/>
              <p:nvPr/>
            </p:nvSpPr>
            <p:spPr bwMode="auto">
              <a:xfrm>
                <a:off x="7845425" y="8170863"/>
                <a:ext cx="430213" cy="665163"/>
              </a:xfrm>
              <a:custGeom>
                <a:avLst/>
                <a:gdLst>
                  <a:gd name="T0" fmla="*/ 55 w 136"/>
                  <a:gd name="T1" fmla="*/ 126 h 211"/>
                  <a:gd name="T2" fmla="*/ 85 w 136"/>
                  <a:gd name="T3" fmla="*/ 201 h 211"/>
                  <a:gd name="T4" fmla="*/ 65 w 136"/>
                  <a:gd name="T5" fmla="*/ 211 h 211"/>
                  <a:gd name="T6" fmla="*/ 0 w 136"/>
                  <a:gd name="T7" fmla="*/ 43 h 211"/>
                  <a:gd name="T8" fmla="*/ 110 w 136"/>
                  <a:gd name="T9" fmla="*/ 0 h 211"/>
                  <a:gd name="T10" fmla="*/ 104 w 136"/>
                  <a:gd name="T11" fmla="*/ 23 h 211"/>
                  <a:gd name="T12" fmla="*/ 27 w 136"/>
                  <a:gd name="T13" fmla="*/ 53 h 211"/>
                  <a:gd name="T14" fmla="*/ 48 w 136"/>
                  <a:gd name="T15" fmla="*/ 107 h 211"/>
                  <a:gd name="T16" fmla="*/ 126 w 136"/>
                  <a:gd name="T17" fmla="*/ 78 h 211"/>
                  <a:gd name="T18" fmla="*/ 121 w 136"/>
                  <a:gd name="T19" fmla="*/ 100 h 211"/>
                  <a:gd name="T20" fmla="*/ 55 w 136"/>
                  <a:gd name="T21" fmla="*/ 12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211">
                    <a:moveTo>
                      <a:pt x="55" y="126"/>
                    </a:moveTo>
                    <a:cubicBezTo>
                      <a:pt x="66" y="152"/>
                      <a:pt x="75" y="176"/>
                      <a:pt x="85" y="201"/>
                    </a:cubicBezTo>
                    <a:cubicBezTo>
                      <a:pt x="79" y="204"/>
                      <a:pt x="73" y="207"/>
                      <a:pt x="65" y="211"/>
                    </a:cubicBezTo>
                    <a:cubicBezTo>
                      <a:pt x="43" y="155"/>
                      <a:pt x="22" y="100"/>
                      <a:pt x="0" y="43"/>
                    </a:cubicBezTo>
                    <a:cubicBezTo>
                      <a:pt x="37" y="28"/>
                      <a:pt x="74" y="14"/>
                      <a:pt x="110" y="0"/>
                    </a:cubicBezTo>
                    <a:cubicBezTo>
                      <a:pt x="121" y="12"/>
                      <a:pt x="117" y="19"/>
                      <a:pt x="104" y="23"/>
                    </a:cubicBezTo>
                    <a:cubicBezTo>
                      <a:pt x="79" y="32"/>
                      <a:pt x="54" y="42"/>
                      <a:pt x="27" y="53"/>
                    </a:cubicBezTo>
                    <a:cubicBezTo>
                      <a:pt x="34" y="71"/>
                      <a:pt x="41" y="88"/>
                      <a:pt x="48" y="107"/>
                    </a:cubicBezTo>
                    <a:cubicBezTo>
                      <a:pt x="75" y="97"/>
                      <a:pt x="100" y="87"/>
                      <a:pt x="126" y="78"/>
                    </a:cubicBezTo>
                    <a:cubicBezTo>
                      <a:pt x="136" y="88"/>
                      <a:pt x="136" y="95"/>
                      <a:pt x="121" y="100"/>
                    </a:cubicBezTo>
                    <a:cubicBezTo>
                      <a:pt x="99" y="108"/>
                      <a:pt x="78" y="117"/>
                      <a:pt x="55" y="1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56"/>
              <p:cNvSpPr/>
              <p:nvPr/>
            </p:nvSpPr>
            <p:spPr bwMode="auto">
              <a:xfrm>
                <a:off x="3590925" y="7699375"/>
                <a:ext cx="584200" cy="606425"/>
              </a:xfrm>
              <a:custGeom>
                <a:avLst/>
                <a:gdLst>
                  <a:gd name="T0" fmla="*/ 185 w 185"/>
                  <a:gd name="T1" fmla="*/ 106 h 192"/>
                  <a:gd name="T2" fmla="*/ 25 w 185"/>
                  <a:gd name="T3" fmla="*/ 190 h 192"/>
                  <a:gd name="T4" fmla="*/ 8 w 185"/>
                  <a:gd name="T5" fmla="*/ 187 h 192"/>
                  <a:gd name="T6" fmla="*/ 2 w 185"/>
                  <a:gd name="T7" fmla="*/ 171 h 192"/>
                  <a:gd name="T8" fmla="*/ 62 w 185"/>
                  <a:gd name="T9" fmla="*/ 0 h 192"/>
                  <a:gd name="T10" fmla="*/ 74 w 185"/>
                  <a:gd name="T11" fmla="*/ 32 h 192"/>
                  <a:gd name="T12" fmla="*/ 19 w 185"/>
                  <a:gd name="T13" fmla="*/ 174 h 192"/>
                  <a:gd name="T14" fmla="*/ 93 w 185"/>
                  <a:gd name="T15" fmla="*/ 132 h 192"/>
                  <a:gd name="T16" fmla="*/ 154 w 185"/>
                  <a:gd name="T17" fmla="*/ 98 h 192"/>
                  <a:gd name="T18" fmla="*/ 185 w 185"/>
                  <a:gd name="T19" fmla="*/ 10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92">
                    <a:moveTo>
                      <a:pt x="185" y="106"/>
                    </a:moveTo>
                    <a:cubicBezTo>
                      <a:pt x="131" y="134"/>
                      <a:pt x="78" y="163"/>
                      <a:pt x="25" y="190"/>
                    </a:cubicBezTo>
                    <a:cubicBezTo>
                      <a:pt x="20" y="192"/>
                      <a:pt x="12" y="191"/>
                      <a:pt x="8" y="187"/>
                    </a:cubicBezTo>
                    <a:cubicBezTo>
                      <a:pt x="4" y="184"/>
                      <a:pt x="0" y="176"/>
                      <a:pt x="2" y="171"/>
                    </a:cubicBezTo>
                    <a:cubicBezTo>
                      <a:pt x="21" y="114"/>
                      <a:pt x="42" y="57"/>
                      <a:pt x="62" y="0"/>
                    </a:cubicBezTo>
                    <a:cubicBezTo>
                      <a:pt x="79" y="7"/>
                      <a:pt x="80" y="16"/>
                      <a:pt x="74" y="32"/>
                    </a:cubicBezTo>
                    <a:cubicBezTo>
                      <a:pt x="55" y="77"/>
                      <a:pt x="38" y="124"/>
                      <a:pt x="19" y="174"/>
                    </a:cubicBezTo>
                    <a:cubicBezTo>
                      <a:pt x="46" y="158"/>
                      <a:pt x="70" y="145"/>
                      <a:pt x="93" y="132"/>
                    </a:cubicBezTo>
                    <a:cubicBezTo>
                      <a:pt x="113" y="121"/>
                      <a:pt x="134" y="110"/>
                      <a:pt x="154" y="98"/>
                    </a:cubicBezTo>
                    <a:cubicBezTo>
                      <a:pt x="167" y="90"/>
                      <a:pt x="176" y="91"/>
                      <a:pt x="185"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57"/>
              <p:cNvSpPr/>
              <p:nvPr/>
            </p:nvSpPr>
            <p:spPr bwMode="auto">
              <a:xfrm>
                <a:off x="5883275" y="8593138"/>
                <a:ext cx="460375" cy="565150"/>
              </a:xfrm>
              <a:custGeom>
                <a:avLst/>
                <a:gdLst>
                  <a:gd name="T0" fmla="*/ 63 w 146"/>
                  <a:gd name="T1" fmla="*/ 18 h 179"/>
                  <a:gd name="T2" fmla="*/ 19 w 146"/>
                  <a:gd name="T3" fmla="*/ 18 h 179"/>
                  <a:gd name="T4" fmla="*/ 5 w 146"/>
                  <a:gd name="T5" fmla="*/ 0 h 179"/>
                  <a:gd name="T6" fmla="*/ 143 w 146"/>
                  <a:gd name="T7" fmla="*/ 0 h 179"/>
                  <a:gd name="T8" fmla="*/ 130 w 146"/>
                  <a:gd name="T9" fmla="*/ 18 h 179"/>
                  <a:gd name="T10" fmla="*/ 86 w 146"/>
                  <a:gd name="T11" fmla="*/ 18 h 179"/>
                  <a:gd name="T12" fmla="*/ 86 w 146"/>
                  <a:gd name="T13" fmla="*/ 177 h 179"/>
                  <a:gd name="T14" fmla="*/ 63 w 146"/>
                  <a:gd name="T15" fmla="*/ 179 h 179"/>
                  <a:gd name="T16" fmla="*/ 63 w 146"/>
                  <a:gd name="T17"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79">
                    <a:moveTo>
                      <a:pt x="63" y="18"/>
                    </a:moveTo>
                    <a:cubicBezTo>
                      <a:pt x="47" y="18"/>
                      <a:pt x="33" y="18"/>
                      <a:pt x="19" y="18"/>
                    </a:cubicBezTo>
                    <a:cubicBezTo>
                      <a:pt x="6" y="19"/>
                      <a:pt x="0" y="15"/>
                      <a:pt x="5" y="0"/>
                    </a:cubicBezTo>
                    <a:cubicBezTo>
                      <a:pt x="50" y="0"/>
                      <a:pt x="97" y="0"/>
                      <a:pt x="143" y="0"/>
                    </a:cubicBezTo>
                    <a:cubicBezTo>
                      <a:pt x="146" y="18"/>
                      <a:pt x="146" y="18"/>
                      <a:pt x="130" y="18"/>
                    </a:cubicBezTo>
                    <a:cubicBezTo>
                      <a:pt x="116" y="18"/>
                      <a:pt x="102" y="18"/>
                      <a:pt x="86" y="18"/>
                    </a:cubicBezTo>
                    <a:cubicBezTo>
                      <a:pt x="86" y="72"/>
                      <a:pt x="86" y="123"/>
                      <a:pt x="86" y="177"/>
                    </a:cubicBezTo>
                    <a:cubicBezTo>
                      <a:pt x="78" y="178"/>
                      <a:pt x="72" y="178"/>
                      <a:pt x="63" y="179"/>
                    </a:cubicBezTo>
                    <a:cubicBezTo>
                      <a:pt x="63" y="125"/>
                      <a:pt x="63" y="73"/>
                      <a:pt x="63"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58"/>
              <p:cNvSpPr/>
              <p:nvPr/>
            </p:nvSpPr>
            <p:spPr bwMode="auto">
              <a:xfrm>
                <a:off x="6465887" y="8618538"/>
                <a:ext cx="506413" cy="574675"/>
              </a:xfrm>
              <a:custGeom>
                <a:avLst/>
                <a:gdLst>
                  <a:gd name="T0" fmla="*/ 89 w 160"/>
                  <a:gd name="T1" fmla="*/ 182 h 182"/>
                  <a:gd name="T2" fmla="*/ 68 w 160"/>
                  <a:gd name="T3" fmla="*/ 182 h 182"/>
                  <a:gd name="T4" fmla="*/ 67 w 160"/>
                  <a:gd name="T5" fmla="*/ 125 h 182"/>
                  <a:gd name="T6" fmla="*/ 57 w 160"/>
                  <a:gd name="T7" fmla="*/ 92 h 182"/>
                  <a:gd name="T8" fmla="*/ 0 w 160"/>
                  <a:gd name="T9" fmla="*/ 5 h 182"/>
                  <a:gd name="T10" fmla="*/ 36 w 160"/>
                  <a:gd name="T11" fmla="*/ 19 h 182"/>
                  <a:gd name="T12" fmla="*/ 80 w 160"/>
                  <a:gd name="T13" fmla="*/ 88 h 182"/>
                  <a:gd name="T14" fmla="*/ 125 w 160"/>
                  <a:gd name="T15" fmla="*/ 19 h 182"/>
                  <a:gd name="T16" fmla="*/ 160 w 160"/>
                  <a:gd name="T17" fmla="*/ 5 h 182"/>
                  <a:gd name="T18" fmla="*/ 109 w 160"/>
                  <a:gd name="T19" fmla="*/ 77 h 182"/>
                  <a:gd name="T20" fmla="*/ 89 w 160"/>
                  <a:gd name="T21" fmla="*/ 141 h 182"/>
                  <a:gd name="T22" fmla="*/ 89 w 160"/>
                  <a:gd name="T23"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182">
                    <a:moveTo>
                      <a:pt x="89" y="182"/>
                    </a:moveTo>
                    <a:cubicBezTo>
                      <a:pt x="82" y="182"/>
                      <a:pt x="76" y="182"/>
                      <a:pt x="68" y="182"/>
                    </a:cubicBezTo>
                    <a:cubicBezTo>
                      <a:pt x="68" y="163"/>
                      <a:pt x="69" y="144"/>
                      <a:pt x="67" y="125"/>
                    </a:cubicBezTo>
                    <a:cubicBezTo>
                      <a:pt x="66" y="114"/>
                      <a:pt x="63" y="101"/>
                      <a:pt x="57" y="92"/>
                    </a:cubicBezTo>
                    <a:cubicBezTo>
                      <a:pt x="39" y="63"/>
                      <a:pt x="19" y="34"/>
                      <a:pt x="0" y="5"/>
                    </a:cubicBezTo>
                    <a:cubicBezTo>
                      <a:pt x="17" y="0"/>
                      <a:pt x="28" y="5"/>
                      <a:pt x="36" y="19"/>
                    </a:cubicBezTo>
                    <a:cubicBezTo>
                      <a:pt x="49" y="42"/>
                      <a:pt x="64" y="64"/>
                      <a:pt x="80" y="88"/>
                    </a:cubicBezTo>
                    <a:cubicBezTo>
                      <a:pt x="96" y="64"/>
                      <a:pt x="110" y="42"/>
                      <a:pt x="125" y="19"/>
                    </a:cubicBezTo>
                    <a:cubicBezTo>
                      <a:pt x="136" y="2"/>
                      <a:pt x="136" y="2"/>
                      <a:pt x="160" y="5"/>
                    </a:cubicBezTo>
                    <a:cubicBezTo>
                      <a:pt x="143" y="30"/>
                      <a:pt x="127" y="54"/>
                      <a:pt x="109" y="77"/>
                    </a:cubicBezTo>
                    <a:cubicBezTo>
                      <a:pt x="94" y="97"/>
                      <a:pt x="86" y="117"/>
                      <a:pt x="89" y="141"/>
                    </a:cubicBezTo>
                    <a:cubicBezTo>
                      <a:pt x="91" y="154"/>
                      <a:pt x="89" y="168"/>
                      <a:pt x="89" y="1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59"/>
              <p:cNvSpPr/>
              <p:nvPr/>
            </p:nvSpPr>
            <p:spPr bwMode="auto">
              <a:xfrm>
                <a:off x="9964737" y="3470275"/>
                <a:ext cx="581025" cy="506413"/>
              </a:xfrm>
              <a:custGeom>
                <a:avLst/>
                <a:gdLst>
                  <a:gd name="T0" fmla="*/ 90 w 184"/>
                  <a:gd name="T1" fmla="*/ 77 h 160"/>
                  <a:gd name="T2" fmla="*/ 20 w 184"/>
                  <a:gd name="T3" fmla="*/ 34 h 160"/>
                  <a:gd name="T4" fmla="*/ 4 w 184"/>
                  <a:gd name="T5" fmla="*/ 0 h 160"/>
                  <a:gd name="T6" fmla="*/ 81 w 184"/>
                  <a:gd name="T7" fmla="*/ 50 h 160"/>
                  <a:gd name="T8" fmla="*/ 142 w 184"/>
                  <a:gd name="T9" fmla="*/ 67 h 160"/>
                  <a:gd name="T10" fmla="*/ 184 w 184"/>
                  <a:gd name="T11" fmla="*/ 67 h 160"/>
                  <a:gd name="T12" fmla="*/ 184 w 184"/>
                  <a:gd name="T13" fmla="*/ 89 h 160"/>
                  <a:gd name="T14" fmla="*/ 127 w 184"/>
                  <a:gd name="T15" fmla="*/ 89 h 160"/>
                  <a:gd name="T16" fmla="*/ 94 w 184"/>
                  <a:gd name="T17" fmla="*/ 100 h 160"/>
                  <a:gd name="T18" fmla="*/ 9 w 184"/>
                  <a:gd name="T19" fmla="*/ 160 h 160"/>
                  <a:gd name="T20" fmla="*/ 22 w 184"/>
                  <a:gd name="T21" fmla="*/ 123 h 160"/>
                  <a:gd name="T22" fmla="*/ 90 w 184"/>
                  <a:gd name="T2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60">
                    <a:moveTo>
                      <a:pt x="90" y="77"/>
                    </a:moveTo>
                    <a:cubicBezTo>
                      <a:pt x="65" y="62"/>
                      <a:pt x="43" y="47"/>
                      <a:pt x="20" y="34"/>
                    </a:cubicBezTo>
                    <a:cubicBezTo>
                      <a:pt x="6" y="27"/>
                      <a:pt x="0" y="17"/>
                      <a:pt x="4" y="0"/>
                    </a:cubicBezTo>
                    <a:cubicBezTo>
                      <a:pt x="30" y="17"/>
                      <a:pt x="56" y="32"/>
                      <a:pt x="81" y="50"/>
                    </a:cubicBezTo>
                    <a:cubicBezTo>
                      <a:pt x="99" y="64"/>
                      <a:pt x="119" y="70"/>
                      <a:pt x="142" y="67"/>
                    </a:cubicBezTo>
                    <a:cubicBezTo>
                      <a:pt x="155" y="65"/>
                      <a:pt x="169" y="67"/>
                      <a:pt x="184" y="67"/>
                    </a:cubicBezTo>
                    <a:cubicBezTo>
                      <a:pt x="184" y="74"/>
                      <a:pt x="184" y="79"/>
                      <a:pt x="184" y="89"/>
                    </a:cubicBezTo>
                    <a:cubicBezTo>
                      <a:pt x="165" y="89"/>
                      <a:pt x="146" y="88"/>
                      <a:pt x="127" y="89"/>
                    </a:cubicBezTo>
                    <a:cubicBezTo>
                      <a:pt x="116" y="90"/>
                      <a:pt x="104" y="94"/>
                      <a:pt x="94" y="100"/>
                    </a:cubicBezTo>
                    <a:cubicBezTo>
                      <a:pt x="65" y="119"/>
                      <a:pt x="38" y="139"/>
                      <a:pt x="9" y="160"/>
                    </a:cubicBezTo>
                    <a:cubicBezTo>
                      <a:pt x="3" y="142"/>
                      <a:pt x="8" y="132"/>
                      <a:pt x="22" y="123"/>
                    </a:cubicBezTo>
                    <a:cubicBezTo>
                      <a:pt x="44" y="110"/>
                      <a:pt x="66" y="94"/>
                      <a:pt x="90"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60"/>
              <p:cNvSpPr/>
              <p:nvPr/>
            </p:nvSpPr>
            <p:spPr bwMode="auto">
              <a:xfrm>
                <a:off x="4057650" y="1123950"/>
                <a:ext cx="227013" cy="612775"/>
              </a:xfrm>
              <a:custGeom>
                <a:avLst/>
                <a:gdLst>
                  <a:gd name="T0" fmla="*/ 0 w 72"/>
                  <a:gd name="T1" fmla="*/ 3 h 194"/>
                  <a:gd name="T2" fmla="*/ 48 w 72"/>
                  <a:gd name="T3" fmla="*/ 34 h 194"/>
                  <a:gd name="T4" fmla="*/ 70 w 72"/>
                  <a:gd name="T5" fmla="*/ 180 h 194"/>
                  <a:gd name="T6" fmla="*/ 56 w 72"/>
                  <a:gd name="T7" fmla="*/ 191 h 194"/>
                  <a:gd name="T8" fmla="*/ 34 w 72"/>
                  <a:gd name="T9" fmla="*/ 162 h 194"/>
                  <a:gd name="T10" fmla="*/ 33 w 72"/>
                  <a:gd name="T11" fmla="*/ 140 h 194"/>
                  <a:gd name="T12" fmla="*/ 2 w 72"/>
                  <a:gd name="T13" fmla="*/ 16 h 194"/>
                  <a:gd name="T14" fmla="*/ 0 w 72"/>
                  <a:gd name="T15" fmla="*/ 3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94">
                    <a:moveTo>
                      <a:pt x="0" y="3"/>
                    </a:moveTo>
                    <a:cubicBezTo>
                      <a:pt x="24" y="0"/>
                      <a:pt x="45" y="13"/>
                      <a:pt x="48" y="34"/>
                    </a:cubicBezTo>
                    <a:cubicBezTo>
                      <a:pt x="56" y="82"/>
                      <a:pt x="63" y="131"/>
                      <a:pt x="70" y="180"/>
                    </a:cubicBezTo>
                    <a:cubicBezTo>
                      <a:pt x="72" y="192"/>
                      <a:pt x="65" y="194"/>
                      <a:pt x="56" y="191"/>
                    </a:cubicBezTo>
                    <a:cubicBezTo>
                      <a:pt x="42" y="187"/>
                      <a:pt x="34" y="178"/>
                      <a:pt x="34" y="162"/>
                    </a:cubicBezTo>
                    <a:cubicBezTo>
                      <a:pt x="34" y="155"/>
                      <a:pt x="35" y="147"/>
                      <a:pt x="33" y="140"/>
                    </a:cubicBezTo>
                    <a:cubicBezTo>
                      <a:pt x="23" y="99"/>
                      <a:pt x="13" y="57"/>
                      <a:pt x="2" y="16"/>
                    </a:cubicBezTo>
                    <a:cubicBezTo>
                      <a:pt x="1" y="12"/>
                      <a:pt x="1" y="8"/>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61"/>
              <p:cNvSpPr/>
              <p:nvPr/>
            </p:nvSpPr>
            <p:spPr bwMode="auto">
              <a:xfrm>
                <a:off x="8310562" y="7807325"/>
                <a:ext cx="530225" cy="615950"/>
              </a:xfrm>
              <a:custGeom>
                <a:avLst/>
                <a:gdLst>
                  <a:gd name="T0" fmla="*/ 60 w 168"/>
                  <a:gd name="T1" fmla="*/ 63 h 195"/>
                  <a:gd name="T2" fmla="*/ 11 w 168"/>
                  <a:gd name="T3" fmla="*/ 96 h 195"/>
                  <a:gd name="T4" fmla="*/ 0 w 168"/>
                  <a:gd name="T5" fmla="*/ 80 h 195"/>
                  <a:gd name="T6" fmla="*/ 116 w 168"/>
                  <a:gd name="T7" fmla="*/ 0 h 195"/>
                  <a:gd name="T8" fmla="*/ 127 w 168"/>
                  <a:gd name="T9" fmla="*/ 16 h 195"/>
                  <a:gd name="T10" fmla="*/ 78 w 168"/>
                  <a:gd name="T11" fmla="*/ 51 h 195"/>
                  <a:gd name="T12" fmla="*/ 168 w 168"/>
                  <a:gd name="T13" fmla="*/ 182 h 195"/>
                  <a:gd name="T14" fmla="*/ 150 w 168"/>
                  <a:gd name="T15" fmla="*/ 195 h 195"/>
                  <a:gd name="T16" fmla="*/ 60 w 168"/>
                  <a:gd name="T17" fmla="*/ 6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95">
                    <a:moveTo>
                      <a:pt x="60" y="63"/>
                    </a:moveTo>
                    <a:cubicBezTo>
                      <a:pt x="43" y="74"/>
                      <a:pt x="27" y="85"/>
                      <a:pt x="11" y="96"/>
                    </a:cubicBezTo>
                    <a:cubicBezTo>
                      <a:pt x="7" y="91"/>
                      <a:pt x="4" y="86"/>
                      <a:pt x="0" y="80"/>
                    </a:cubicBezTo>
                    <a:cubicBezTo>
                      <a:pt x="39" y="53"/>
                      <a:pt x="77" y="27"/>
                      <a:pt x="116" y="0"/>
                    </a:cubicBezTo>
                    <a:cubicBezTo>
                      <a:pt x="120" y="6"/>
                      <a:pt x="123" y="11"/>
                      <a:pt x="127" y="16"/>
                    </a:cubicBezTo>
                    <a:cubicBezTo>
                      <a:pt x="110" y="28"/>
                      <a:pt x="95" y="39"/>
                      <a:pt x="78" y="51"/>
                    </a:cubicBezTo>
                    <a:cubicBezTo>
                      <a:pt x="109" y="95"/>
                      <a:pt x="138" y="138"/>
                      <a:pt x="168" y="182"/>
                    </a:cubicBezTo>
                    <a:cubicBezTo>
                      <a:pt x="162" y="186"/>
                      <a:pt x="157" y="190"/>
                      <a:pt x="150" y="195"/>
                    </a:cubicBezTo>
                    <a:cubicBezTo>
                      <a:pt x="120" y="151"/>
                      <a:pt x="91" y="108"/>
                      <a:pt x="6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62"/>
              <p:cNvSpPr/>
              <p:nvPr/>
            </p:nvSpPr>
            <p:spPr bwMode="auto">
              <a:xfrm>
                <a:off x="10077450" y="5122863"/>
                <a:ext cx="568325" cy="350838"/>
              </a:xfrm>
              <a:custGeom>
                <a:avLst/>
                <a:gdLst>
                  <a:gd name="T0" fmla="*/ 180 w 180"/>
                  <a:gd name="T1" fmla="*/ 111 h 111"/>
                  <a:gd name="T2" fmla="*/ 0 w 180"/>
                  <a:gd name="T3" fmla="*/ 103 h 111"/>
                  <a:gd name="T4" fmla="*/ 0 w 180"/>
                  <a:gd name="T5" fmla="*/ 82 h 111"/>
                  <a:gd name="T6" fmla="*/ 163 w 180"/>
                  <a:gd name="T7" fmla="*/ 88 h 111"/>
                  <a:gd name="T8" fmla="*/ 163 w 180"/>
                  <a:gd name="T9" fmla="*/ 13 h 111"/>
                  <a:gd name="T10" fmla="*/ 180 w 180"/>
                  <a:gd name="T11" fmla="*/ 1 h 111"/>
                  <a:gd name="T12" fmla="*/ 180 w 180"/>
                  <a:gd name="T13" fmla="*/ 111 h 111"/>
                </a:gdLst>
                <a:ahLst/>
                <a:cxnLst>
                  <a:cxn ang="0">
                    <a:pos x="T0" y="T1"/>
                  </a:cxn>
                  <a:cxn ang="0">
                    <a:pos x="T2" y="T3"/>
                  </a:cxn>
                  <a:cxn ang="0">
                    <a:pos x="T4" y="T5"/>
                  </a:cxn>
                  <a:cxn ang="0">
                    <a:pos x="T6" y="T7"/>
                  </a:cxn>
                  <a:cxn ang="0">
                    <a:pos x="T8" y="T9"/>
                  </a:cxn>
                  <a:cxn ang="0">
                    <a:pos x="T10" y="T11"/>
                  </a:cxn>
                  <a:cxn ang="0">
                    <a:pos x="T12" y="T13"/>
                  </a:cxn>
                </a:cxnLst>
                <a:rect l="0" t="0" r="r" b="b"/>
                <a:pathLst>
                  <a:path w="180" h="111">
                    <a:moveTo>
                      <a:pt x="180" y="111"/>
                    </a:moveTo>
                    <a:cubicBezTo>
                      <a:pt x="117" y="108"/>
                      <a:pt x="59" y="106"/>
                      <a:pt x="0" y="103"/>
                    </a:cubicBezTo>
                    <a:cubicBezTo>
                      <a:pt x="0" y="96"/>
                      <a:pt x="0" y="90"/>
                      <a:pt x="0" y="82"/>
                    </a:cubicBezTo>
                    <a:cubicBezTo>
                      <a:pt x="53" y="84"/>
                      <a:pt x="106" y="86"/>
                      <a:pt x="163" y="88"/>
                    </a:cubicBezTo>
                    <a:cubicBezTo>
                      <a:pt x="163" y="62"/>
                      <a:pt x="163" y="37"/>
                      <a:pt x="163" y="13"/>
                    </a:cubicBezTo>
                    <a:cubicBezTo>
                      <a:pt x="164" y="0"/>
                      <a:pt x="164" y="0"/>
                      <a:pt x="180" y="1"/>
                    </a:cubicBezTo>
                    <a:cubicBezTo>
                      <a:pt x="180" y="36"/>
                      <a:pt x="180" y="72"/>
                      <a:pt x="18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63"/>
              <p:cNvSpPr/>
              <p:nvPr/>
            </p:nvSpPr>
            <p:spPr bwMode="auto">
              <a:xfrm>
                <a:off x="3316287" y="7596188"/>
                <a:ext cx="441325" cy="434975"/>
              </a:xfrm>
              <a:custGeom>
                <a:avLst/>
                <a:gdLst>
                  <a:gd name="T0" fmla="*/ 12 w 140"/>
                  <a:gd name="T1" fmla="*/ 138 h 138"/>
                  <a:gd name="T2" fmla="*/ 0 w 140"/>
                  <a:gd name="T3" fmla="*/ 127 h 138"/>
                  <a:gd name="T4" fmla="*/ 128 w 140"/>
                  <a:gd name="T5" fmla="*/ 0 h 138"/>
                  <a:gd name="T6" fmla="*/ 140 w 140"/>
                  <a:gd name="T7" fmla="*/ 11 h 138"/>
                  <a:gd name="T8" fmla="*/ 12 w 140"/>
                  <a:gd name="T9" fmla="*/ 138 h 138"/>
                </a:gdLst>
                <a:ahLst/>
                <a:cxnLst>
                  <a:cxn ang="0">
                    <a:pos x="T0" y="T1"/>
                  </a:cxn>
                  <a:cxn ang="0">
                    <a:pos x="T2" y="T3"/>
                  </a:cxn>
                  <a:cxn ang="0">
                    <a:pos x="T4" y="T5"/>
                  </a:cxn>
                  <a:cxn ang="0">
                    <a:pos x="T6" y="T7"/>
                  </a:cxn>
                  <a:cxn ang="0">
                    <a:pos x="T8" y="T9"/>
                  </a:cxn>
                </a:cxnLst>
                <a:rect l="0" t="0" r="r" b="b"/>
                <a:pathLst>
                  <a:path w="140" h="138">
                    <a:moveTo>
                      <a:pt x="12" y="138"/>
                    </a:moveTo>
                    <a:cubicBezTo>
                      <a:pt x="8" y="135"/>
                      <a:pt x="4" y="131"/>
                      <a:pt x="0" y="127"/>
                    </a:cubicBezTo>
                    <a:cubicBezTo>
                      <a:pt x="43" y="84"/>
                      <a:pt x="85" y="42"/>
                      <a:pt x="128" y="0"/>
                    </a:cubicBezTo>
                    <a:cubicBezTo>
                      <a:pt x="131" y="3"/>
                      <a:pt x="136" y="7"/>
                      <a:pt x="140" y="11"/>
                    </a:cubicBezTo>
                    <a:cubicBezTo>
                      <a:pt x="98" y="54"/>
                      <a:pt x="56" y="95"/>
                      <a:pt x="12"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4"/>
              <p:cNvSpPr/>
              <p:nvPr/>
            </p:nvSpPr>
            <p:spPr bwMode="auto">
              <a:xfrm>
                <a:off x="9301162" y="1531938"/>
                <a:ext cx="284163" cy="347663"/>
              </a:xfrm>
              <a:custGeom>
                <a:avLst/>
                <a:gdLst>
                  <a:gd name="T0" fmla="*/ 73 w 90"/>
                  <a:gd name="T1" fmla="*/ 73 h 110"/>
                  <a:gd name="T2" fmla="*/ 30 w 90"/>
                  <a:gd name="T3" fmla="*/ 107 h 110"/>
                  <a:gd name="T4" fmla="*/ 22 w 90"/>
                  <a:gd name="T5" fmla="*/ 110 h 110"/>
                  <a:gd name="T6" fmla="*/ 20 w 90"/>
                  <a:gd name="T7" fmla="*/ 100 h 110"/>
                  <a:gd name="T8" fmla="*/ 22 w 90"/>
                  <a:gd name="T9" fmla="*/ 79 h 110"/>
                  <a:gd name="T10" fmla="*/ 1 w 90"/>
                  <a:gd name="T11" fmla="*/ 88 h 110"/>
                  <a:gd name="T12" fmla="*/ 1 w 90"/>
                  <a:gd name="T13" fmla="*/ 78 h 110"/>
                  <a:gd name="T14" fmla="*/ 60 w 90"/>
                  <a:gd name="T15" fmla="*/ 21 h 110"/>
                  <a:gd name="T16" fmla="*/ 44 w 90"/>
                  <a:gd name="T17" fmla="*/ 49 h 110"/>
                  <a:gd name="T18" fmla="*/ 69 w 90"/>
                  <a:gd name="T19" fmla="*/ 31 h 110"/>
                  <a:gd name="T20" fmla="*/ 84 w 90"/>
                  <a:gd name="T21" fmla="*/ 0 h 110"/>
                  <a:gd name="T22" fmla="*/ 74 w 90"/>
                  <a:gd name="T23" fmla="*/ 57 h 110"/>
                  <a:gd name="T24" fmla="*/ 73 w 90"/>
                  <a:gd name="T25" fmla="*/ 73 h 110"/>
                  <a:gd name="T26" fmla="*/ 73 w 90"/>
                  <a:gd name="T27" fmla="*/ 7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10">
                    <a:moveTo>
                      <a:pt x="73" y="73"/>
                    </a:moveTo>
                    <a:cubicBezTo>
                      <a:pt x="59" y="84"/>
                      <a:pt x="45" y="96"/>
                      <a:pt x="30" y="107"/>
                    </a:cubicBezTo>
                    <a:cubicBezTo>
                      <a:pt x="28" y="109"/>
                      <a:pt x="25" y="109"/>
                      <a:pt x="22" y="110"/>
                    </a:cubicBezTo>
                    <a:cubicBezTo>
                      <a:pt x="21" y="107"/>
                      <a:pt x="20" y="103"/>
                      <a:pt x="20" y="100"/>
                    </a:cubicBezTo>
                    <a:cubicBezTo>
                      <a:pt x="20" y="94"/>
                      <a:pt x="21" y="88"/>
                      <a:pt x="22" y="79"/>
                    </a:cubicBezTo>
                    <a:cubicBezTo>
                      <a:pt x="13" y="83"/>
                      <a:pt x="8" y="85"/>
                      <a:pt x="1" y="88"/>
                    </a:cubicBezTo>
                    <a:cubicBezTo>
                      <a:pt x="1" y="84"/>
                      <a:pt x="0" y="80"/>
                      <a:pt x="1" y="78"/>
                    </a:cubicBezTo>
                    <a:cubicBezTo>
                      <a:pt x="15" y="53"/>
                      <a:pt x="25" y="25"/>
                      <a:pt x="60" y="21"/>
                    </a:cubicBezTo>
                    <a:cubicBezTo>
                      <a:pt x="55" y="30"/>
                      <a:pt x="49" y="39"/>
                      <a:pt x="44" y="49"/>
                    </a:cubicBezTo>
                    <a:cubicBezTo>
                      <a:pt x="60" y="53"/>
                      <a:pt x="62" y="52"/>
                      <a:pt x="69" y="31"/>
                    </a:cubicBezTo>
                    <a:cubicBezTo>
                      <a:pt x="73" y="21"/>
                      <a:pt x="77" y="10"/>
                      <a:pt x="84" y="0"/>
                    </a:cubicBezTo>
                    <a:cubicBezTo>
                      <a:pt x="90" y="21"/>
                      <a:pt x="84" y="39"/>
                      <a:pt x="74" y="57"/>
                    </a:cubicBezTo>
                    <a:cubicBezTo>
                      <a:pt x="72" y="62"/>
                      <a:pt x="73" y="68"/>
                      <a:pt x="73" y="73"/>
                    </a:cubicBezTo>
                    <a:cubicBezTo>
                      <a:pt x="73" y="73"/>
                      <a:pt x="73" y="73"/>
                      <a:pt x="73"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65"/>
              <p:cNvSpPr/>
              <p:nvPr/>
            </p:nvSpPr>
            <p:spPr bwMode="auto">
              <a:xfrm>
                <a:off x="5705475" y="8605838"/>
                <a:ext cx="60325" cy="558800"/>
              </a:xfrm>
              <a:custGeom>
                <a:avLst/>
                <a:gdLst>
                  <a:gd name="T0" fmla="*/ 0 w 19"/>
                  <a:gd name="T1" fmla="*/ 0 h 177"/>
                  <a:gd name="T2" fmla="*/ 19 w 19"/>
                  <a:gd name="T3" fmla="*/ 0 h 177"/>
                  <a:gd name="T4" fmla="*/ 19 w 19"/>
                  <a:gd name="T5" fmla="*/ 177 h 177"/>
                  <a:gd name="T6" fmla="*/ 0 w 19"/>
                  <a:gd name="T7" fmla="*/ 177 h 177"/>
                  <a:gd name="T8" fmla="*/ 0 w 19"/>
                  <a:gd name="T9" fmla="*/ 0 h 177"/>
                </a:gdLst>
                <a:ahLst/>
                <a:cxnLst>
                  <a:cxn ang="0">
                    <a:pos x="T0" y="T1"/>
                  </a:cxn>
                  <a:cxn ang="0">
                    <a:pos x="T2" y="T3"/>
                  </a:cxn>
                  <a:cxn ang="0">
                    <a:pos x="T4" y="T5"/>
                  </a:cxn>
                  <a:cxn ang="0">
                    <a:pos x="T6" y="T7"/>
                  </a:cxn>
                  <a:cxn ang="0">
                    <a:pos x="T8" y="T9"/>
                  </a:cxn>
                </a:cxnLst>
                <a:rect l="0" t="0" r="r" b="b"/>
                <a:pathLst>
                  <a:path w="19" h="177">
                    <a:moveTo>
                      <a:pt x="0" y="0"/>
                    </a:moveTo>
                    <a:cubicBezTo>
                      <a:pt x="7" y="0"/>
                      <a:pt x="12" y="0"/>
                      <a:pt x="19" y="0"/>
                    </a:cubicBezTo>
                    <a:cubicBezTo>
                      <a:pt x="19" y="60"/>
                      <a:pt x="19" y="118"/>
                      <a:pt x="19" y="177"/>
                    </a:cubicBezTo>
                    <a:cubicBezTo>
                      <a:pt x="12" y="177"/>
                      <a:pt x="7" y="177"/>
                      <a:pt x="0" y="177"/>
                    </a:cubicBezTo>
                    <a:cubicBezTo>
                      <a:pt x="0" y="119"/>
                      <a:pt x="0" y="6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66"/>
              <p:cNvSpPr/>
              <p:nvPr/>
            </p:nvSpPr>
            <p:spPr bwMode="auto">
              <a:xfrm>
                <a:off x="3948112" y="785813"/>
                <a:ext cx="160338" cy="319088"/>
              </a:xfrm>
              <a:custGeom>
                <a:avLst/>
                <a:gdLst>
                  <a:gd name="T0" fmla="*/ 0 w 51"/>
                  <a:gd name="T1" fmla="*/ 0 h 101"/>
                  <a:gd name="T2" fmla="*/ 27 w 51"/>
                  <a:gd name="T3" fmla="*/ 101 h 101"/>
                  <a:gd name="T4" fmla="*/ 0 w 51"/>
                  <a:gd name="T5" fmla="*/ 0 h 101"/>
                </a:gdLst>
                <a:ahLst/>
                <a:cxnLst>
                  <a:cxn ang="0">
                    <a:pos x="T0" y="T1"/>
                  </a:cxn>
                  <a:cxn ang="0">
                    <a:pos x="T2" y="T3"/>
                  </a:cxn>
                  <a:cxn ang="0">
                    <a:pos x="T4" y="T5"/>
                  </a:cxn>
                </a:cxnLst>
                <a:rect l="0" t="0" r="r" b="b"/>
                <a:pathLst>
                  <a:path w="51" h="101">
                    <a:moveTo>
                      <a:pt x="0" y="0"/>
                    </a:moveTo>
                    <a:cubicBezTo>
                      <a:pt x="37" y="18"/>
                      <a:pt x="51" y="73"/>
                      <a:pt x="27" y="101"/>
                    </a:cubicBezTo>
                    <a:cubicBezTo>
                      <a:pt x="11" y="70"/>
                      <a:pt x="10" y="3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67"/>
              <p:cNvSpPr/>
              <p:nvPr/>
            </p:nvSpPr>
            <p:spPr bwMode="auto">
              <a:xfrm>
                <a:off x="2949575" y="1828800"/>
                <a:ext cx="130175" cy="227013"/>
              </a:xfrm>
              <a:custGeom>
                <a:avLst/>
                <a:gdLst>
                  <a:gd name="T0" fmla="*/ 0 w 41"/>
                  <a:gd name="T1" fmla="*/ 66 h 72"/>
                  <a:gd name="T2" fmla="*/ 20 w 41"/>
                  <a:gd name="T3" fmla="*/ 12 h 72"/>
                  <a:gd name="T4" fmla="*/ 40 w 41"/>
                  <a:gd name="T5" fmla="*/ 12 h 72"/>
                  <a:gd name="T6" fmla="*/ 32 w 41"/>
                  <a:gd name="T7" fmla="*/ 58 h 72"/>
                  <a:gd name="T8" fmla="*/ 0 w 41"/>
                  <a:gd name="T9" fmla="*/ 66 h 72"/>
                </a:gdLst>
                <a:ahLst/>
                <a:cxnLst>
                  <a:cxn ang="0">
                    <a:pos x="T0" y="T1"/>
                  </a:cxn>
                  <a:cxn ang="0">
                    <a:pos x="T2" y="T3"/>
                  </a:cxn>
                  <a:cxn ang="0">
                    <a:pos x="T4" y="T5"/>
                  </a:cxn>
                  <a:cxn ang="0">
                    <a:pos x="T6" y="T7"/>
                  </a:cxn>
                  <a:cxn ang="0">
                    <a:pos x="T8" y="T9"/>
                  </a:cxn>
                </a:cxnLst>
                <a:rect l="0" t="0" r="r" b="b"/>
                <a:pathLst>
                  <a:path w="41" h="72">
                    <a:moveTo>
                      <a:pt x="0" y="66"/>
                    </a:moveTo>
                    <a:cubicBezTo>
                      <a:pt x="7" y="47"/>
                      <a:pt x="13" y="29"/>
                      <a:pt x="20" y="12"/>
                    </a:cubicBezTo>
                    <a:cubicBezTo>
                      <a:pt x="26" y="0"/>
                      <a:pt x="39" y="4"/>
                      <a:pt x="40" y="12"/>
                    </a:cubicBezTo>
                    <a:cubicBezTo>
                      <a:pt x="41" y="27"/>
                      <a:pt x="38" y="44"/>
                      <a:pt x="32" y="58"/>
                    </a:cubicBezTo>
                    <a:cubicBezTo>
                      <a:pt x="26" y="72"/>
                      <a:pt x="12" y="70"/>
                      <a:pt x="0"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68"/>
              <p:cNvSpPr/>
              <p:nvPr/>
            </p:nvSpPr>
            <p:spPr bwMode="auto">
              <a:xfrm>
                <a:off x="3170237" y="1566863"/>
                <a:ext cx="171450" cy="182563"/>
              </a:xfrm>
              <a:custGeom>
                <a:avLst/>
                <a:gdLst>
                  <a:gd name="T0" fmla="*/ 39 w 54"/>
                  <a:gd name="T1" fmla="*/ 58 h 58"/>
                  <a:gd name="T2" fmla="*/ 0 w 54"/>
                  <a:gd name="T3" fmla="*/ 12 h 58"/>
                  <a:gd name="T4" fmla="*/ 42 w 54"/>
                  <a:gd name="T5" fmla="*/ 11 h 58"/>
                  <a:gd name="T6" fmla="*/ 39 w 54"/>
                  <a:gd name="T7" fmla="*/ 58 h 58"/>
                </a:gdLst>
                <a:ahLst/>
                <a:cxnLst>
                  <a:cxn ang="0">
                    <a:pos x="T0" y="T1"/>
                  </a:cxn>
                  <a:cxn ang="0">
                    <a:pos x="T2" y="T3"/>
                  </a:cxn>
                  <a:cxn ang="0">
                    <a:pos x="T4" y="T5"/>
                  </a:cxn>
                  <a:cxn ang="0">
                    <a:pos x="T6" y="T7"/>
                  </a:cxn>
                </a:cxnLst>
                <a:rect l="0" t="0" r="r" b="b"/>
                <a:pathLst>
                  <a:path w="54" h="58">
                    <a:moveTo>
                      <a:pt x="39" y="58"/>
                    </a:moveTo>
                    <a:cubicBezTo>
                      <a:pt x="26" y="42"/>
                      <a:pt x="13" y="27"/>
                      <a:pt x="0" y="12"/>
                    </a:cubicBezTo>
                    <a:cubicBezTo>
                      <a:pt x="10" y="1"/>
                      <a:pt x="30" y="0"/>
                      <a:pt x="42" y="11"/>
                    </a:cubicBezTo>
                    <a:cubicBezTo>
                      <a:pt x="54" y="21"/>
                      <a:pt x="53" y="40"/>
                      <a:pt x="3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69"/>
              <p:cNvSpPr/>
              <p:nvPr/>
            </p:nvSpPr>
            <p:spPr bwMode="auto">
              <a:xfrm>
                <a:off x="4606925" y="1317625"/>
                <a:ext cx="120650" cy="176213"/>
              </a:xfrm>
              <a:custGeom>
                <a:avLst/>
                <a:gdLst>
                  <a:gd name="T0" fmla="*/ 4 w 38"/>
                  <a:gd name="T1" fmla="*/ 56 h 56"/>
                  <a:gd name="T2" fmla="*/ 0 w 38"/>
                  <a:gd name="T3" fmla="*/ 2 h 56"/>
                  <a:gd name="T4" fmla="*/ 37 w 38"/>
                  <a:gd name="T5" fmla="*/ 30 h 56"/>
                  <a:gd name="T6" fmla="*/ 4 w 38"/>
                  <a:gd name="T7" fmla="*/ 56 h 56"/>
                </a:gdLst>
                <a:ahLst/>
                <a:cxnLst>
                  <a:cxn ang="0">
                    <a:pos x="T0" y="T1"/>
                  </a:cxn>
                  <a:cxn ang="0">
                    <a:pos x="T2" y="T3"/>
                  </a:cxn>
                  <a:cxn ang="0">
                    <a:pos x="T4" y="T5"/>
                  </a:cxn>
                  <a:cxn ang="0">
                    <a:pos x="T6" y="T7"/>
                  </a:cxn>
                </a:cxnLst>
                <a:rect l="0" t="0" r="r" b="b"/>
                <a:pathLst>
                  <a:path w="38" h="56">
                    <a:moveTo>
                      <a:pt x="4" y="56"/>
                    </a:moveTo>
                    <a:cubicBezTo>
                      <a:pt x="2" y="36"/>
                      <a:pt x="1" y="19"/>
                      <a:pt x="0" y="2"/>
                    </a:cubicBezTo>
                    <a:cubicBezTo>
                      <a:pt x="15" y="0"/>
                      <a:pt x="36" y="13"/>
                      <a:pt x="37" y="30"/>
                    </a:cubicBezTo>
                    <a:cubicBezTo>
                      <a:pt x="38" y="53"/>
                      <a:pt x="17" y="50"/>
                      <a:pt x="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70"/>
              <p:cNvSpPr/>
              <p:nvPr/>
            </p:nvSpPr>
            <p:spPr bwMode="auto">
              <a:xfrm>
                <a:off x="3133725" y="2346325"/>
                <a:ext cx="93663" cy="174625"/>
              </a:xfrm>
              <a:custGeom>
                <a:avLst/>
                <a:gdLst>
                  <a:gd name="T0" fmla="*/ 11 w 30"/>
                  <a:gd name="T1" fmla="*/ 53 h 55"/>
                  <a:gd name="T2" fmla="*/ 0 w 30"/>
                  <a:gd name="T3" fmla="*/ 4 h 55"/>
                  <a:gd name="T4" fmla="*/ 7 w 30"/>
                  <a:gd name="T5" fmla="*/ 0 h 55"/>
                  <a:gd name="T6" fmla="*/ 29 w 30"/>
                  <a:gd name="T7" fmla="*/ 34 h 55"/>
                  <a:gd name="T8" fmla="*/ 16 w 30"/>
                  <a:gd name="T9" fmla="*/ 55 h 55"/>
                  <a:gd name="T10" fmla="*/ 11 w 30"/>
                  <a:gd name="T11" fmla="*/ 53 h 55"/>
                </a:gdLst>
                <a:ahLst/>
                <a:cxnLst>
                  <a:cxn ang="0">
                    <a:pos x="T0" y="T1"/>
                  </a:cxn>
                  <a:cxn ang="0">
                    <a:pos x="T2" y="T3"/>
                  </a:cxn>
                  <a:cxn ang="0">
                    <a:pos x="T4" y="T5"/>
                  </a:cxn>
                  <a:cxn ang="0">
                    <a:pos x="T6" y="T7"/>
                  </a:cxn>
                  <a:cxn ang="0">
                    <a:pos x="T8" y="T9"/>
                  </a:cxn>
                  <a:cxn ang="0">
                    <a:pos x="T10" y="T11"/>
                  </a:cxn>
                </a:cxnLst>
                <a:rect l="0" t="0" r="r" b="b"/>
                <a:pathLst>
                  <a:path w="30" h="55">
                    <a:moveTo>
                      <a:pt x="11" y="53"/>
                    </a:moveTo>
                    <a:cubicBezTo>
                      <a:pt x="7" y="37"/>
                      <a:pt x="4" y="20"/>
                      <a:pt x="0" y="4"/>
                    </a:cubicBezTo>
                    <a:cubicBezTo>
                      <a:pt x="3" y="3"/>
                      <a:pt x="5" y="1"/>
                      <a:pt x="7" y="0"/>
                    </a:cubicBezTo>
                    <a:cubicBezTo>
                      <a:pt x="15" y="11"/>
                      <a:pt x="24" y="22"/>
                      <a:pt x="29" y="34"/>
                    </a:cubicBezTo>
                    <a:cubicBezTo>
                      <a:pt x="30" y="39"/>
                      <a:pt x="20" y="48"/>
                      <a:pt x="16" y="55"/>
                    </a:cubicBezTo>
                    <a:cubicBezTo>
                      <a:pt x="14" y="54"/>
                      <a:pt x="12" y="54"/>
                      <a:pt x="11"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2" name="组合 161"/>
            <p:cNvGrpSpPr/>
            <p:nvPr/>
          </p:nvGrpSpPr>
          <p:grpSpPr>
            <a:xfrm>
              <a:off x="-144004" y="1927523"/>
              <a:ext cx="11938942" cy="2817067"/>
              <a:chOff x="-89842" y="1364187"/>
              <a:chExt cx="16362362" cy="3860800"/>
            </a:xfrm>
            <a:solidFill>
              <a:srgbClr val="2159A5"/>
            </a:solidFill>
          </p:grpSpPr>
          <p:sp>
            <p:nvSpPr>
              <p:cNvPr id="163" name="Freeform 85"/>
              <p:cNvSpPr>
                <a:spLocks noEditPoints="1"/>
              </p:cNvSpPr>
              <p:nvPr/>
            </p:nvSpPr>
            <p:spPr bwMode="auto">
              <a:xfrm>
                <a:off x="14472295" y="1364187"/>
                <a:ext cx="1749425" cy="2384425"/>
              </a:xfrm>
              <a:custGeom>
                <a:avLst/>
                <a:gdLst>
                  <a:gd name="T0" fmla="*/ 246 w 554"/>
                  <a:gd name="T1" fmla="*/ 705 h 754"/>
                  <a:gd name="T2" fmla="*/ 304 w 554"/>
                  <a:gd name="T3" fmla="*/ 662 h 754"/>
                  <a:gd name="T4" fmla="*/ 290 w 554"/>
                  <a:gd name="T5" fmla="*/ 474 h 754"/>
                  <a:gd name="T6" fmla="*/ 132 w 554"/>
                  <a:gd name="T7" fmla="*/ 616 h 754"/>
                  <a:gd name="T8" fmla="*/ 10 w 554"/>
                  <a:gd name="T9" fmla="*/ 585 h 754"/>
                  <a:gd name="T10" fmla="*/ 12 w 554"/>
                  <a:gd name="T11" fmla="*/ 557 h 754"/>
                  <a:gd name="T12" fmla="*/ 235 w 554"/>
                  <a:gd name="T13" fmla="*/ 452 h 754"/>
                  <a:gd name="T14" fmla="*/ 340 w 554"/>
                  <a:gd name="T15" fmla="*/ 340 h 754"/>
                  <a:gd name="T16" fmla="*/ 322 w 554"/>
                  <a:gd name="T17" fmla="*/ 325 h 754"/>
                  <a:gd name="T18" fmla="*/ 206 w 554"/>
                  <a:gd name="T19" fmla="*/ 391 h 754"/>
                  <a:gd name="T20" fmla="*/ 158 w 554"/>
                  <a:gd name="T21" fmla="*/ 370 h 754"/>
                  <a:gd name="T22" fmla="*/ 201 w 554"/>
                  <a:gd name="T23" fmla="*/ 346 h 754"/>
                  <a:gd name="T24" fmla="*/ 388 w 554"/>
                  <a:gd name="T25" fmla="*/ 234 h 754"/>
                  <a:gd name="T26" fmla="*/ 436 w 554"/>
                  <a:gd name="T27" fmla="*/ 143 h 754"/>
                  <a:gd name="T28" fmla="*/ 407 w 554"/>
                  <a:gd name="T29" fmla="*/ 108 h 754"/>
                  <a:gd name="T30" fmla="*/ 362 w 554"/>
                  <a:gd name="T31" fmla="*/ 127 h 754"/>
                  <a:gd name="T32" fmla="*/ 364 w 554"/>
                  <a:gd name="T33" fmla="*/ 177 h 754"/>
                  <a:gd name="T34" fmla="*/ 244 w 554"/>
                  <a:gd name="T35" fmla="*/ 254 h 754"/>
                  <a:gd name="T36" fmla="*/ 249 w 554"/>
                  <a:gd name="T37" fmla="*/ 158 h 754"/>
                  <a:gd name="T38" fmla="*/ 207 w 554"/>
                  <a:gd name="T39" fmla="*/ 185 h 754"/>
                  <a:gd name="T40" fmla="*/ 216 w 554"/>
                  <a:gd name="T41" fmla="*/ 239 h 754"/>
                  <a:gd name="T42" fmla="*/ 219 w 554"/>
                  <a:gd name="T43" fmla="*/ 294 h 754"/>
                  <a:gd name="T44" fmla="*/ 163 w 554"/>
                  <a:gd name="T45" fmla="*/ 277 h 754"/>
                  <a:gd name="T46" fmla="*/ 146 w 554"/>
                  <a:gd name="T47" fmla="*/ 305 h 754"/>
                  <a:gd name="T48" fmla="*/ 119 w 554"/>
                  <a:gd name="T49" fmla="*/ 316 h 754"/>
                  <a:gd name="T50" fmla="*/ 58 w 554"/>
                  <a:gd name="T51" fmla="*/ 211 h 754"/>
                  <a:gd name="T52" fmla="*/ 34 w 554"/>
                  <a:gd name="T53" fmla="*/ 156 h 754"/>
                  <a:gd name="T54" fmla="*/ 104 w 554"/>
                  <a:gd name="T55" fmla="*/ 187 h 754"/>
                  <a:gd name="T56" fmla="*/ 114 w 554"/>
                  <a:gd name="T57" fmla="*/ 181 h 754"/>
                  <a:gd name="T58" fmla="*/ 36 w 554"/>
                  <a:gd name="T59" fmla="*/ 83 h 754"/>
                  <a:gd name="T60" fmla="*/ 46 w 554"/>
                  <a:gd name="T61" fmla="*/ 62 h 754"/>
                  <a:gd name="T62" fmla="*/ 172 w 554"/>
                  <a:gd name="T63" fmla="*/ 156 h 754"/>
                  <a:gd name="T64" fmla="*/ 214 w 554"/>
                  <a:gd name="T65" fmla="*/ 131 h 754"/>
                  <a:gd name="T66" fmla="*/ 191 w 554"/>
                  <a:gd name="T67" fmla="*/ 101 h 754"/>
                  <a:gd name="T68" fmla="*/ 185 w 554"/>
                  <a:gd name="T69" fmla="*/ 70 h 754"/>
                  <a:gd name="T70" fmla="*/ 252 w 554"/>
                  <a:gd name="T71" fmla="*/ 65 h 754"/>
                  <a:gd name="T72" fmla="*/ 293 w 554"/>
                  <a:gd name="T73" fmla="*/ 7 h 754"/>
                  <a:gd name="T74" fmla="*/ 344 w 554"/>
                  <a:gd name="T75" fmla="*/ 77 h 754"/>
                  <a:gd name="T76" fmla="*/ 330 w 554"/>
                  <a:gd name="T77" fmla="*/ 98 h 754"/>
                  <a:gd name="T78" fmla="*/ 409 w 554"/>
                  <a:gd name="T79" fmla="*/ 62 h 754"/>
                  <a:gd name="T80" fmla="*/ 471 w 554"/>
                  <a:gd name="T81" fmla="*/ 36 h 754"/>
                  <a:gd name="T82" fmla="*/ 553 w 554"/>
                  <a:gd name="T83" fmla="*/ 88 h 754"/>
                  <a:gd name="T84" fmla="*/ 543 w 554"/>
                  <a:gd name="T85" fmla="*/ 157 h 754"/>
                  <a:gd name="T86" fmla="*/ 426 w 554"/>
                  <a:gd name="T87" fmla="*/ 236 h 754"/>
                  <a:gd name="T88" fmla="*/ 459 w 554"/>
                  <a:gd name="T89" fmla="*/ 278 h 754"/>
                  <a:gd name="T90" fmla="*/ 438 w 554"/>
                  <a:gd name="T91" fmla="*/ 330 h 754"/>
                  <a:gd name="T92" fmla="*/ 393 w 554"/>
                  <a:gd name="T93" fmla="*/ 377 h 754"/>
                  <a:gd name="T94" fmla="*/ 494 w 554"/>
                  <a:gd name="T95" fmla="*/ 413 h 754"/>
                  <a:gd name="T96" fmla="*/ 417 w 554"/>
                  <a:gd name="T97" fmla="*/ 481 h 754"/>
                  <a:gd name="T98" fmla="*/ 398 w 554"/>
                  <a:gd name="T99" fmla="*/ 464 h 754"/>
                  <a:gd name="T100" fmla="*/ 354 w 554"/>
                  <a:gd name="T101" fmla="*/ 469 h 754"/>
                  <a:gd name="T102" fmla="*/ 376 w 554"/>
                  <a:gd name="T103" fmla="*/ 664 h 754"/>
                  <a:gd name="T104" fmla="*/ 343 w 554"/>
                  <a:gd name="T105" fmla="*/ 752 h 754"/>
                  <a:gd name="T106" fmla="*/ 209 w 554"/>
                  <a:gd name="T107" fmla="*/ 722 h 754"/>
                  <a:gd name="T108" fmla="*/ 200 w 554"/>
                  <a:gd name="T109" fmla="*/ 705 h 754"/>
                  <a:gd name="T110" fmla="*/ 304 w 554"/>
                  <a:gd name="T111" fmla="*/ 181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4" h="754">
                    <a:moveTo>
                      <a:pt x="200" y="705"/>
                    </a:moveTo>
                    <a:cubicBezTo>
                      <a:pt x="215" y="705"/>
                      <a:pt x="231" y="706"/>
                      <a:pt x="246" y="705"/>
                    </a:cubicBezTo>
                    <a:cubicBezTo>
                      <a:pt x="259" y="703"/>
                      <a:pt x="274" y="703"/>
                      <a:pt x="284" y="696"/>
                    </a:cubicBezTo>
                    <a:cubicBezTo>
                      <a:pt x="294" y="689"/>
                      <a:pt x="304" y="674"/>
                      <a:pt x="304" y="662"/>
                    </a:cubicBezTo>
                    <a:cubicBezTo>
                      <a:pt x="305" y="613"/>
                      <a:pt x="302" y="564"/>
                      <a:pt x="300" y="516"/>
                    </a:cubicBezTo>
                    <a:cubicBezTo>
                      <a:pt x="299" y="503"/>
                      <a:pt x="294" y="490"/>
                      <a:pt x="290" y="474"/>
                    </a:cubicBezTo>
                    <a:cubicBezTo>
                      <a:pt x="268" y="490"/>
                      <a:pt x="247" y="504"/>
                      <a:pt x="229" y="520"/>
                    </a:cubicBezTo>
                    <a:cubicBezTo>
                      <a:pt x="196" y="551"/>
                      <a:pt x="165" y="584"/>
                      <a:pt x="132" y="616"/>
                    </a:cubicBezTo>
                    <a:cubicBezTo>
                      <a:pt x="115" y="632"/>
                      <a:pt x="94" y="628"/>
                      <a:pt x="75" y="620"/>
                    </a:cubicBezTo>
                    <a:cubicBezTo>
                      <a:pt x="52" y="610"/>
                      <a:pt x="31" y="598"/>
                      <a:pt x="10" y="585"/>
                    </a:cubicBezTo>
                    <a:cubicBezTo>
                      <a:pt x="5" y="582"/>
                      <a:pt x="1" y="574"/>
                      <a:pt x="0" y="568"/>
                    </a:cubicBezTo>
                    <a:cubicBezTo>
                      <a:pt x="0" y="564"/>
                      <a:pt x="7" y="559"/>
                      <a:pt x="12" y="557"/>
                    </a:cubicBezTo>
                    <a:cubicBezTo>
                      <a:pt x="77" y="536"/>
                      <a:pt x="138" y="505"/>
                      <a:pt x="197" y="471"/>
                    </a:cubicBezTo>
                    <a:cubicBezTo>
                      <a:pt x="209" y="464"/>
                      <a:pt x="223" y="459"/>
                      <a:pt x="235" y="452"/>
                    </a:cubicBezTo>
                    <a:cubicBezTo>
                      <a:pt x="266" y="433"/>
                      <a:pt x="305" y="424"/>
                      <a:pt x="321" y="385"/>
                    </a:cubicBezTo>
                    <a:cubicBezTo>
                      <a:pt x="327" y="370"/>
                      <a:pt x="334" y="355"/>
                      <a:pt x="340" y="340"/>
                    </a:cubicBezTo>
                    <a:cubicBezTo>
                      <a:pt x="342" y="336"/>
                      <a:pt x="341" y="327"/>
                      <a:pt x="338" y="325"/>
                    </a:cubicBezTo>
                    <a:cubicBezTo>
                      <a:pt x="334" y="322"/>
                      <a:pt x="326" y="323"/>
                      <a:pt x="322" y="325"/>
                    </a:cubicBezTo>
                    <a:cubicBezTo>
                      <a:pt x="304" y="335"/>
                      <a:pt x="287" y="348"/>
                      <a:pt x="269" y="358"/>
                    </a:cubicBezTo>
                    <a:cubicBezTo>
                      <a:pt x="249" y="370"/>
                      <a:pt x="229" y="385"/>
                      <a:pt x="206" y="391"/>
                    </a:cubicBezTo>
                    <a:cubicBezTo>
                      <a:pt x="193" y="395"/>
                      <a:pt x="175" y="386"/>
                      <a:pt x="159" y="382"/>
                    </a:cubicBezTo>
                    <a:cubicBezTo>
                      <a:pt x="158" y="381"/>
                      <a:pt x="156" y="372"/>
                      <a:pt x="158" y="370"/>
                    </a:cubicBezTo>
                    <a:cubicBezTo>
                      <a:pt x="164" y="362"/>
                      <a:pt x="171" y="352"/>
                      <a:pt x="184" y="353"/>
                    </a:cubicBezTo>
                    <a:cubicBezTo>
                      <a:pt x="190" y="353"/>
                      <a:pt x="196" y="348"/>
                      <a:pt x="201" y="346"/>
                    </a:cubicBezTo>
                    <a:cubicBezTo>
                      <a:pt x="242" y="325"/>
                      <a:pt x="281" y="303"/>
                      <a:pt x="322" y="284"/>
                    </a:cubicBezTo>
                    <a:cubicBezTo>
                      <a:pt x="348" y="272"/>
                      <a:pt x="373" y="260"/>
                      <a:pt x="388" y="234"/>
                    </a:cubicBezTo>
                    <a:cubicBezTo>
                      <a:pt x="396" y="218"/>
                      <a:pt x="404" y="202"/>
                      <a:pt x="412" y="186"/>
                    </a:cubicBezTo>
                    <a:cubicBezTo>
                      <a:pt x="420" y="171"/>
                      <a:pt x="430" y="158"/>
                      <a:pt x="436" y="143"/>
                    </a:cubicBezTo>
                    <a:cubicBezTo>
                      <a:pt x="440" y="133"/>
                      <a:pt x="441" y="120"/>
                      <a:pt x="437" y="112"/>
                    </a:cubicBezTo>
                    <a:cubicBezTo>
                      <a:pt x="431" y="102"/>
                      <a:pt x="418" y="101"/>
                      <a:pt x="407" y="108"/>
                    </a:cubicBezTo>
                    <a:cubicBezTo>
                      <a:pt x="404" y="110"/>
                      <a:pt x="399" y="109"/>
                      <a:pt x="396" y="111"/>
                    </a:cubicBezTo>
                    <a:cubicBezTo>
                      <a:pt x="384" y="116"/>
                      <a:pt x="373" y="121"/>
                      <a:pt x="362" y="127"/>
                    </a:cubicBezTo>
                    <a:cubicBezTo>
                      <a:pt x="347" y="135"/>
                      <a:pt x="345" y="143"/>
                      <a:pt x="354" y="159"/>
                    </a:cubicBezTo>
                    <a:cubicBezTo>
                      <a:pt x="357" y="165"/>
                      <a:pt x="361" y="171"/>
                      <a:pt x="364" y="177"/>
                    </a:cubicBezTo>
                    <a:cubicBezTo>
                      <a:pt x="375" y="199"/>
                      <a:pt x="373" y="219"/>
                      <a:pt x="357" y="239"/>
                    </a:cubicBezTo>
                    <a:cubicBezTo>
                      <a:pt x="322" y="282"/>
                      <a:pt x="276" y="280"/>
                      <a:pt x="244" y="254"/>
                    </a:cubicBezTo>
                    <a:cubicBezTo>
                      <a:pt x="240" y="251"/>
                      <a:pt x="236" y="245"/>
                      <a:pt x="235" y="241"/>
                    </a:cubicBezTo>
                    <a:cubicBezTo>
                      <a:pt x="233" y="213"/>
                      <a:pt x="236" y="186"/>
                      <a:pt x="249" y="158"/>
                    </a:cubicBezTo>
                    <a:cubicBezTo>
                      <a:pt x="244" y="159"/>
                      <a:pt x="237" y="159"/>
                      <a:pt x="233" y="162"/>
                    </a:cubicBezTo>
                    <a:cubicBezTo>
                      <a:pt x="224" y="169"/>
                      <a:pt x="215" y="176"/>
                      <a:pt x="207" y="185"/>
                    </a:cubicBezTo>
                    <a:cubicBezTo>
                      <a:pt x="203" y="189"/>
                      <a:pt x="201" y="197"/>
                      <a:pt x="202" y="202"/>
                    </a:cubicBezTo>
                    <a:cubicBezTo>
                      <a:pt x="206" y="215"/>
                      <a:pt x="212" y="227"/>
                      <a:pt x="216" y="239"/>
                    </a:cubicBezTo>
                    <a:cubicBezTo>
                      <a:pt x="221" y="250"/>
                      <a:pt x="226" y="260"/>
                      <a:pt x="227" y="271"/>
                    </a:cubicBezTo>
                    <a:cubicBezTo>
                      <a:pt x="228" y="279"/>
                      <a:pt x="225" y="292"/>
                      <a:pt x="219" y="294"/>
                    </a:cubicBezTo>
                    <a:cubicBezTo>
                      <a:pt x="211" y="298"/>
                      <a:pt x="199" y="296"/>
                      <a:pt x="190" y="293"/>
                    </a:cubicBezTo>
                    <a:cubicBezTo>
                      <a:pt x="180" y="289"/>
                      <a:pt x="172" y="282"/>
                      <a:pt x="163" y="277"/>
                    </a:cubicBezTo>
                    <a:cubicBezTo>
                      <a:pt x="152" y="270"/>
                      <a:pt x="147" y="273"/>
                      <a:pt x="147" y="286"/>
                    </a:cubicBezTo>
                    <a:cubicBezTo>
                      <a:pt x="147" y="292"/>
                      <a:pt x="148" y="299"/>
                      <a:pt x="146" y="305"/>
                    </a:cubicBezTo>
                    <a:cubicBezTo>
                      <a:pt x="145" y="311"/>
                      <a:pt x="142" y="320"/>
                      <a:pt x="139" y="320"/>
                    </a:cubicBezTo>
                    <a:cubicBezTo>
                      <a:pt x="133" y="322"/>
                      <a:pt x="123" y="320"/>
                      <a:pt x="119" y="316"/>
                    </a:cubicBezTo>
                    <a:cubicBezTo>
                      <a:pt x="110" y="307"/>
                      <a:pt x="102" y="296"/>
                      <a:pt x="96" y="284"/>
                    </a:cubicBezTo>
                    <a:cubicBezTo>
                      <a:pt x="83" y="260"/>
                      <a:pt x="71" y="235"/>
                      <a:pt x="58" y="211"/>
                    </a:cubicBezTo>
                    <a:cubicBezTo>
                      <a:pt x="52" y="200"/>
                      <a:pt x="43" y="191"/>
                      <a:pt x="37" y="180"/>
                    </a:cubicBezTo>
                    <a:cubicBezTo>
                      <a:pt x="34" y="173"/>
                      <a:pt x="35" y="164"/>
                      <a:pt x="34" y="156"/>
                    </a:cubicBezTo>
                    <a:cubicBezTo>
                      <a:pt x="42" y="156"/>
                      <a:pt x="52" y="152"/>
                      <a:pt x="58" y="156"/>
                    </a:cubicBezTo>
                    <a:cubicBezTo>
                      <a:pt x="73" y="166"/>
                      <a:pt x="93" y="170"/>
                      <a:pt x="104" y="187"/>
                    </a:cubicBezTo>
                    <a:cubicBezTo>
                      <a:pt x="106" y="189"/>
                      <a:pt x="110" y="189"/>
                      <a:pt x="113" y="191"/>
                    </a:cubicBezTo>
                    <a:cubicBezTo>
                      <a:pt x="113" y="187"/>
                      <a:pt x="115" y="183"/>
                      <a:pt x="114" y="181"/>
                    </a:cubicBezTo>
                    <a:cubicBezTo>
                      <a:pt x="100" y="160"/>
                      <a:pt x="86" y="138"/>
                      <a:pt x="71" y="118"/>
                    </a:cubicBezTo>
                    <a:cubicBezTo>
                      <a:pt x="61" y="105"/>
                      <a:pt x="47" y="96"/>
                      <a:pt x="36" y="83"/>
                    </a:cubicBezTo>
                    <a:cubicBezTo>
                      <a:pt x="33" y="79"/>
                      <a:pt x="33" y="71"/>
                      <a:pt x="34" y="65"/>
                    </a:cubicBezTo>
                    <a:cubicBezTo>
                      <a:pt x="34" y="63"/>
                      <a:pt x="43" y="60"/>
                      <a:pt x="46" y="62"/>
                    </a:cubicBezTo>
                    <a:cubicBezTo>
                      <a:pt x="82" y="75"/>
                      <a:pt x="116" y="92"/>
                      <a:pt x="142" y="121"/>
                    </a:cubicBezTo>
                    <a:cubicBezTo>
                      <a:pt x="152" y="132"/>
                      <a:pt x="162" y="144"/>
                      <a:pt x="172" y="156"/>
                    </a:cubicBezTo>
                    <a:cubicBezTo>
                      <a:pt x="177" y="161"/>
                      <a:pt x="182" y="164"/>
                      <a:pt x="188" y="156"/>
                    </a:cubicBezTo>
                    <a:cubicBezTo>
                      <a:pt x="196" y="147"/>
                      <a:pt x="205" y="139"/>
                      <a:pt x="214" y="131"/>
                    </a:cubicBezTo>
                    <a:cubicBezTo>
                      <a:pt x="221" y="124"/>
                      <a:pt x="220" y="119"/>
                      <a:pt x="212" y="114"/>
                    </a:cubicBezTo>
                    <a:cubicBezTo>
                      <a:pt x="205" y="109"/>
                      <a:pt x="197" y="106"/>
                      <a:pt x="191" y="101"/>
                    </a:cubicBezTo>
                    <a:cubicBezTo>
                      <a:pt x="185" y="96"/>
                      <a:pt x="179" y="90"/>
                      <a:pt x="177" y="83"/>
                    </a:cubicBezTo>
                    <a:cubicBezTo>
                      <a:pt x="175" y="80"/>
                      <a:pt x="182" y="70"/>
                      <a:pt x="185" y="70"/>
                    </a:cubicBezTo>
                    <a:cubicBezTo>
                      <a:pt x="200" y="70"/>
                      <a:pt x="215" y="73"/>
                      <a:pt x="230" y="73"/>
                    </a:cubicBezTo>
                    <a:cubicBezTo>
                      <a:pt x="237" y="73"/>
                      <a:pt x="246" y="70"/>
                      <a:pt x="252" y="65"/>
                    </a:cubicBezTo>
                    <a:cubicBezTo>
                      <a:pt x="263" y="54"/>
                      <a:pt x="269" y="41"/>
                      <a:pt x="269" y="25"/>
                    </a:cubicBezTo>
                    <a:cubicBezTo>
                      <a:pt x="268" y="7"/>
                      <a:pt x="278" y="0"/>
                      <a:pt x="293" y="7"/>
                    </a:cubicBezTo>
                    <a:cubicBezTo>
                      <a:pt x="313" y="16"/>
                      <a:pt x="331" y="27"/>
                      <a:pt x="348" y="39"/>
                    </a:cubicBezTo>
                    <a:cubicBezTo>
                      <a:pt x="360" y="47"/>
                      <a:pt x="358" y="63"/>
                      <a:pt x="344" y="77"/>
                    </a:cubicBezTo>
                    <a:cubicBezTo>
                      <a:pt x="340" y="81"/>
                      <a:pt x="336" y="85"/>
                      <a:pt x="332" y="90"/>
                    </a:cubicBezTo>
                    <a:cubicBezTo>
                      <a:pt x="331" y="91"/>
                      <a:pt x="331" y="93"/>
                      <a:pt x="330" y="98"/>
                    </a:cubicBezTo>
                    <a:cubicBezTo>
                      <a:pt x="338" y="95"/>
                      <a:pt x="343" y="93"/>
                      <a:pt x="349" y="91"/>
                    </a:cubicBezTo>
                    <a:cubicBezTo>
                      <a:pt x="369" y="81"/>
                      <a:pt x="389" y="72"/>
                      <a:pt x="409" y="62"/>
                    </a:cubicBezTo>
                    <a:cubicBezTo>
                      <a:pt x="423" y="55"/>
                      <a:pt x="436" y="46"/>
                      <a:pt x="451" y="40"/>
                    </a:cubicBezTo>
                    <a:cubicBezTo>
                      <a:pt x="457" y="37"/>
                      <a:pt x="464" y="36"/>
                      <a:pt x="471" y="36"/>
                    </a:cubicBezTo>
                    <a:cubicBezTo>
                      <a:pt x="502" y="39"/>
                      <a:pt x="529" y="50"/>
                      <a:pt x="549" y="76"/>
                    </a:cubicBezTo>
                    <a:cubicBezTo>
                      <a:pt x="551" y="79"/>
                      <a:pt x="553" y="84"/>
                      <a:pt x="553" y="88"/>
                    </a:cubicBezTo>
                    <a:cubicBezTo>
                      <a:pt x="554" y="105"/>
                      <a:pt x="554" y="122"/>
                      <a:pt x="553" y="139"/>
                    </a:cubicBezTo>
                    <a:cubicBezTo>
                      <a:pt x="553" y="145"/>
                      <a:pt x="548" y="154"/>
                      <a:pt x="543" y="157"/>
                    </a:cubicBezTo>
                    <a:cubicBezTo>
                      <a:pt x="517" y="171"/>
                      <a:pt x="490" y="183"/>
                      <a:pt x="466" y="199"/>
                    </a:cubicBezTo>
                    <a:cubicBezTo>
                      <a:pt x="450" y="208"/>
                      <a:pt x="438" y="223"/>
                      <a:pt x="426" y="236"/>
                    </a:cubicBezTo>
                    <a:cubicBezTo>
                      <a:pt x="424" y="238"/>
                      <a:pt x="425" y="246"/>
                      <a:pt x="428" y="248"/>
                    </a:cubicBezTo>
                    <a:cubicBezTo>
                      <a:pt x="438" y="259"/>
                      <a:pt x="449" y="268"/>
                      <a:pt x="459" y="278"/>
                    </a:cubicBezTo>
                    <a:cubicBezTo>
                      <a:pt x="472" y="291"/>
                      <a:pt x="473" y="299"/>
                      <a:pt x="460" y="313"/>
                    </a:cubicBezTo>
                    <a:cubicBezTo>
                      <a:pt x="454" y="319"/>
                      <a:pt x="445" y="324"/>
                      <a:pt x="438" y="330"/>
                    </a:cubicBezTo>
                    <a:cubicBezTo>
                      <a:pt x="422" y="343"/>
                      <a:pt x="406" y="357"/>
                      <a:pt x="391" y="371"/>
                    </a:cubicBezTo>
                    <a:cubicBezTo>
                      <a:pt x="392" y="373"/>
                      <a:pt x="393" y="375"/>
                      <a:pt x="393" y="377"/>
                    </a:cubicBezTo>
                    <a:cubicBezTo>
                      <a:pt x="400" y="378"/>
                      <a:pt x="408" y="381"/>
                      <a:pt x="414" y="380"/>
                    </a:cubicBezTo>
                    <a:cubicBezTo>
                      <a:pt x="447" y="376"/>
                      <a:pt x="470" y="396"/>
                      <a:pt x="494" y="413"/>
                    </a:cubicBezTo>
                    <a:cubicBezTo>
                      <a:pt x="504" y="419"/>
                      <a:pt x="501" y="438"/>
                      <a:pt x="489" y="445"/>
                    </a:cubicBezTo>
                    <a:cubicBezTo>
                      <a:pt x="465" y="457"/>
                      <a:pt x="441" y="469"/>
                      <a:pt x="417" y="481"/>
                    </a:cubicBezTo>
                    <a:cubicBezTo>
                      <a:pt x="408" y="485"/>
                      <a:pt x="400" y="479"/>
                      <a:pt x="398" y="468"/>
                    </a:cubicBezTo>
                    <a:cubicBezTo>
                      <a:pt x="398" y="467"/>
                      <a:pt x="398" y="465"/>
                      <a:pt x="398" y="464"/>
                    </a:cubicBezTo>
                    <a:cubicBezTo>
                      <a:pt x="398" y="444"/>
                      <a:pt x="390" y="433"/>
                      <a:pt x="377" y="435"/>
                    </a:cubicBezTo>
                    <a:cubicBezTo>
                      <a:pt x="364" y="436"/>
                      <a:pt x="353" y="454"/>
                      <a:pt x="354" y="469"/>
                    </a:cubicBezTo>
                    <a:cubicBezTo>
                      <a:pt x="359" y="517"/>
                      <a:pt x="362" y="564"/>
                      <a:pt x="366" y="612"/>
                    </a:cubicBezTo>
                    <a:cubicBezTo>
                      <a:pt x="368" y="629"/>
                      <a:pt x="371" y="647"/>
                      <a:pt x="376" y="664"/>
                    </a:cubicBezTo>
                    <a:cubicBezTo>
                      <a:pt x="384" y="688"/>
                      <a:pt x="386" y="712"/>
                      <a:pt x="373" y="733"/>
                    </a:cubicBezTo>
                    <a:cubicBezTo>
                      <a:pt x="368" y="742"/>
                      <a:pt x="354" y="749"/>
                      <a:pt x="343" y="752"/>
                    </a:cubicBezTo>
                    <a:cubicBezTo>
                      <a:pt x="330" y="754"/>
                      <a:pt x="315" y="754"/>
                      <a:pt x="302" y="750"/>
                    </a:cubicBezTo>
                    <a:cubicBezTo>
                      <a:pt x="271" y="742"/>
                      <a:pt x="240" y="732"/>
                      <a:pt x="209" y="722"/>
                    </a:cubicBezTo>
                    <a:cubicBezTo>
                      <a:pt x="204" y="720"/>
                      <a:pt x="200" y="714"/>
                      <a:pt x="196" y="710"/>
                    </a:cubicBezTo>
                    <a:cubicBezTo>
                      <a:pt x="197" y="708"/>
                      <a:pt x="199" y="707"/>
                      <a:pt x="200" y="705"/>
                    </a:cubicBezTo>
                    <a:close/>
                    <a:moveTo>
                      <a:pt x="305" y="222"/>
                    </a:moveTo>
                    <a:cubicBezTo>
                      <a:pt x="323" y="211"/>
                      <a:pt x="322" y="195"/>
                      <a:pt x="304" y="181"/>
                    </a:cubicBezTo>
                    <a:cubicBezTo>
                      <a:pt x="289" y="195"/>
                      <a:pt x="289" y="209"/>
                      <a:pt x="305" y="2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86"/>
              <p:cNvSpPr>
                <a:spLocks noEditPoints="1"/>
              </p:cNvSpPr>
              <p:nvPr/>
            </p:nvSpPr>
            <p:spPr bwMode="auto">
              <a:xfrm>
                <a:off x="-89842" y="1399112"/>
                <a:ext cx="1747838" cy="2333625"/>
              </a:xfrm>
              <a:custGeom>
                <a:avLst/>
                <a:gdLst>
                  <a:gd name="T0" fmla="*/ 82 w 554"/>
                  <a:gd name="T1" fmla="*/ 477 h 738"/>
                  <a:gd name="T2" fmla="*/ 12 w 554"/>
                  <a:gd name="T3" fmla="*/ 449 h 738"/>
                  <a:gd name="T4" fmla="*/ 16 w 554"/>
                  <a:gd name="T5" fmla="*/ 425 h 738"/>
                  <a:gd name="T6" fmla="*/ 153 w 554"/>
                  <a:gd name="T7" fmla="*/ 368 h 738"/>
                  <a:gd name="T8" fmla="*/ 321 w 554"/>
                  <a:gd name="T9" fmla="*/ 303 h 738"/>
                  <a:gd name="T10" fmla="*/ 348 w 554"/>
                  <a:gd name="T11" fmla="*/ 188 h 738"/>
                  <a:gd name="T12" fmla="*/ 321 w 554"/>
                  <a:gd name="T13" fmla="*/ 26 h 738"/>
                  <a:gd name="T14" fmla="*/ 389 w 554"/>
                  <a:gd name="T15" fmla="*/ 11 h 738"/>
                  <a:gd name="T16" fmla="*/ 409 w 554"/>
                  <a:gd name="T17" fmla="*/ 168 h 738"/>
                  <a:gd name="T18" fmla="*/ 429 w 554"/>
                  <a:gd name="T19" fmla="*/ 260 h 738"/>
                  <a:gd name="T20" fmla="*/ 475 w 554"/>
                  <a:gd name="T21" fmla="*/ 261 h 738"/>
                  <a:gd name="T22" fmla="*/ 432 w 554"/>
                  <a:gd name="T23" fmla="*/ 308 h 738"/>
                  <a:gd name="T24" fmla="*/ 474 w 554"/>
                  <a:gd name="T25" fmla="*/ 483 h 738"/>
                  <a:gd name="T26" fmla="*/ 501 w 554"/>
                  <a:gd name="T27" fmla="*/ 513 h 738"/>
                  <a:gd name="T28" fmla="*/ 505 w 554"/>
                  <a:gd name="T29" fmla="*/ 417 h 738"/>
                  <a:gd name="T30" fmla="*/ 529 w 554"/>
                  <a:gd name="T31" fmla="*/ 409 h 738"/>
                  <a:gd name="T32" fmla="*/ 550 w 554"/>
                  <a:gd name="T33" fmla="*/ 580 h 738"/>
                  <a:gd name="T34" fmla="*/ 509 w 554"/>
                  <a:gd name="T35" fmla="*/ 684 h 738"/>
                  <a:gd name="T36" fmla="*/ 455 w 554"/>
                  <a:gd name="T37" fmla="*/ 614 h 738"/>
                  <a:gd name="T38" fmla="*/ 408 w 554"/>
                  <a:gd name="T39" fmla="*/ 525 h 738"/>
                  <a:gd name="T40" fmla="*/ 343 w 554"/>
                  <a:gd name="T41" fmla="*/ 567 h 738"/>
                  <a:gd name="T42" fmla="*/ 201 w 554"/>
                  <a:gd name="T43" fmla="*/ 672 h 738"/>
                  <a:gd name="T44" fmla="*/ 58 w 554"/>
                  <a:gd name="T45" fmla="*/ 726 h 738"/>
                  <a:gd name="T46" fmla="*/ 17 w 554"/>
                  <a:gd name="T47" fmla="*/ 701 h 738"/>
                  <a:gd name="T48" fmla="*/ 25 w 554"/>
                  <a:gd name="T49" fmla="*/ 678 h 738"/>
                  <a:gd name="T50" fmla="*/ 80 w 554"/>
                  <a:gd name="T51" fmla="*/ 658 h 738"/>
                  <a:gd name="T52" fmla="*/ 256 w 554"/>
                  <a:gd name="T53" fmla="*/ 563 h 738"/>
                  <a:gd name="T54" fmla="*/ 318 w 554"/>
                  <a:gd name="T55" fmla="*/ 486 h 738"/>
                  <a:gd name="T56" fmla="*/ 307 w 554"/>
                  <a:gd name="T57" fmla="*/ 457 h 738"/>
                  <a:gd name="T58" fmla="*/ 261 w 554"/>
                  <a:gd name="T59" fmla="*/ 512 h 738"/>
                  <a:gd name="T60" fmla="*/ 189 w 554"/>
                  <a:gd name="T61" fmla="*/ 489 h 738"/>
                  <a:gd name="T62" fmla="*/ 201 w 554"/>
                  <a:gd name="T63" fmla="*/ 434 h 738"/>
                  <a:gd name="T64" fmla="*/ 146 w 554"/>
                  <a:gd name="T65" fmla="*/ 422 h 738"/>
                  <a:gd name="T66" fmla="*/ 366 w 554"/>
                  <a:gd name="T67" fmla="*/ 351 h 738"/>
                  <a:gd name="T68" fmla="*/ 332 w 554"/>
                  <a:gd name="T69" fmla="*/ 362 h 738"/>
                  <a:gd name="T70" fmla="*/ 369 w 554"/>
                  <a:gd name="T71" fmla="*/ 443 h 738"/>
                  <a:gd name="T72" fmla="*/ 388 w 554"/>
                  <a:gd name="T73" fmla="*/ 432 h 738"/>
                  <a:gd name="T74" fmla="*/ 299 w 554"/>
                  <a:gd name="T75" fmla="*/ 415 h 738"/>
                  <a:gd name="T76" fmla="*/ 285 w 554"/>
                  <a:gd name="T77" fmla="*/ 375 h 738"/>
                  <a:gd name="T78" fmla="*/ 235 w 554"/>
                  <a:gd name="T79" fmla="*/ 416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54" h="738">
                    <a:moveTo>
                      <a:pt x="146" y="422"/>
                    </a:moveTo>
                    <a:cubicBezTo>
                      <a:pt x="136" y="449"/>
                      <a:pt x="107" y="460"/>
                      <a:pt x="82" y="477"/>
                    </a:cubicBezTo>
                    <a:cubicBezTo>
                      <a:pt x="69" y="485"/>
                      <a:pt x="61" y="476"/>
                      <a:pt x="52" y="471"/>
                    </a:cubicBezTo>
                    <a:cubicBezTo>
                      <a:pt x="38" y="465"/>
                      <a:pt x="25" y="458"/>
                      <a:pt x="12" y="449"/>
                    </a:cubicBezTo>
                    <a:cubicBezTo>
                      <a:pt x="7" y="446"/>
                      <a:pt x="4" y="439"/>
                      <a:pt x="0" y="434"/>
                    </a:cubicBezTo>
                    <a:cubicBezTo>
                      <a:pt x="5" y="431"/>
                      <a:pt x="10" y="427"/>
                      <a:pt x="16" y="425"/>
                    </a:cubicBezTo>
                    <a:cubicBezTo>
                      <a:pt x="29" y="419"/>
                      <a:pt x="42" y="416"/>
                      <a:pt x="55" y="410"/>
                    </a:cubicBezTo>
                    <a:cubicBezTo>
                      <a:pt x="88" y="397"/>
                      <a:pt x="120" y="382"/>
                      <a:pt x="153" y="368"/>
                    </a:cubicBezTo>
                    <a:cubicBezTo>
                      <a:pt x="175" y="359"/>
                      <a:pt x="197" y="349"/>
                      <a:pt x="219" y="340"/>
                    </a:cubicBezTo>
                    <a:cubicBezTo>
                      <a:pt x="252" y="327"/>
                      <a:pt x="287" y="315"/>
                      <a:pt x="321" y="303"/>
                    </a:cubicBezTo>
                    <a:cubicBezTo>
                      <a:pt x="342" y="295"/>
                      <a:pt x="357" y="282"/>
                      <a:pt x="352" y="253"/>
                    </a:cubicBezTo>
                    <a:cubicBezTo>
                      <a:pt x="347" y="232"/>
                      <a:pt x="348" y="210"/>
                      <a:pt x="348" y="188"/>
                    </a:cubicBezTo>
                    <a:cubicBezTo>
                      <a:pt x="349" y="154"/>
                      <a:pt x="344" y="121"/>
                      <a:pt x="334" y="89"/>
                    </a:cubicBezTo>
                    <a:cubicBezTo>
                      <a:pt x="328" y="69"/>
                      <a:pt x="325" y="47"/>
                      <a:pt x="321" y="26"/>
                    </a:cubicBezTo>
                    <a:cubicBezTo>
                      <a:pt x="319" y="12"/>
                      <a:pt x="328" y="0"/>
                      <a:pt x="342" y="1"/>
                    </a:cubicBezTo>
                    <a:cubicBezTo>
                      <a:pt x="358" y="3"/>
                      <a:pt x="375" y="4"/>
                      <a:pt x="389" y="11"/>
                    </a:cubicBezTo>
                    <a:cubicBezTo>
                      <a:pt x="407" y="20"/>
                      <a:pt x="416" y="39"/>
                      <a:pt x="416" y="59"/>
                    </a:cubicBezTo>
                    <a:cubicBezTo>
                      <a:pt x="417" y="96"/>
                      <a:pt x="416" y="132"/>
                      <a:pt x="409" y="168"/>
                    </a:cubicBezTo>
                    <a:cubicBezTo>
                      <a:pt x="403" y="195"/>
                      <a:pt x="411" y="225"/>
                      <a:pt x="414" y="254"/>
                    </a:cubicBezTo>
                    <a:cubicBezTo>
                      <a:pt x="415" y="263"/>
                      <a:pt x="422" y="263"/>
                      <a:pt x="429" y="260"/>
                    </a:cubicBezTo>
                    <a:cubicBezTo>
                      <a:pt x="435" y="257"/>
                      <a:pt x="441" y="254"/>
                      <a:pt x="448" y="252"/>
                    </a:cubicBezTo>
                    <a:cubicBezTo>
                      <a:pt x="458" y="249"/>
                      <a:pt x="469" y="248"/>
                      <a:pt x="475" y="261"/>
                    </a:cubicBezTo>
                    <a:cubicBezTo>
                      <a:pt x="479" y="271"/>
                      <a:pt x="474" y="289"/>
                      <a:pt x="465" y="294"/>
                    </a:cubicBezTo>
                    <a:cubicBezTo>
                      <a:pt x="454" y="300"/>
                      <a:pt x="443" y="304"/>
                      <a:pt x="432" y="308"/>
                    </a:cubicBezTo>
                    <a:cubicBezTo>
                      <a:pt x="422" y="312"/>
                      <a:pt x="421" y="318"/>
                      <a:pt x="422" y="327"/>
                    </a:cubicBezTo>
                    <a:cubicBezTo>
                      <a:pt x="430" y="382"/>
                      <a:pt x="443" y="436"/>
                      <a:pt x="474" y="483"/>
                    </a:cubicBezTo>
                    <a:cubicBezTo>
                      <a:pt x="481" y="494"/>
                      <a:pt x="488" y="504"/>
                      <a:pt x="495" y="515"/>
                    </a:cubicBezTo>
                    <a:cubicBezTo>
                      <a:pt x="497" y="515"/>
                      <a:pt x="499" y="514"/>
                      <a:pt x="501" y="513"/>
                    </a:cubicBezTo>
                    <a:cubicBezTo>
                      <a:pt x="502" y="505"/>
                      <a:pt x="503" y="496"/>
                      <a:pt x="503" y="488"/>
                    </a:cubicBezTo>
                    <a:cubicBezTo>
                      <a:pt x="504" y="464"/>
                      <a:pt x="504" y="441"/>
                      <a:pt x="505" y="417"/>
                    </a:cubicBezTo>
                    <a:cubicBezTo>
                      <a:pt x="506" y="412"/>
                      <a:pt x="511" y="406"/>
                      <a:pt x="514" y="400"/>
                    </a:cubicBezTo>
                    <a:cubicBezTo>
                      <a:pt x="519" y="403"/>
                      <a:pt x="526" y="405"/>
                      <a:pt x="529" y="409"/>
                    </a:cubicBezTo>
                    <a:cubicBezTo>
                      <a:pt x="545" y="428"/>
                      <a:pt x="554" y="450"/>
                      <a:pt x="553" y="476"/>
                    </a:cubicBezTo>
                    <a:cubicBezTo>
                      <a:pt x="552" y="511"/>
                      <a:pt x="552" y="545"/>
                      <a:pt x="550" y="580"/>
                    </a:cubicBezTo>
                    <a:cubicBezTo>
                      <a:pt x="548" y="606"/>
                      <a:pt x="543" y="632"/>
                      <a:pt x="539" y="658"/>
                    </a:cubicBezTo>
                    <a:cubicBezTo>
                      <a:pt x="537" y="676"/>
                      <a:pt x="522" y="680"/>
                      <a:pt x="509" y="684"/>
                    </a:cubicBezTo>
                    <a:cubicBezTo>
                      <a:pt x="496" y="688"/>
                      <a:pt x="485" y="679"/>
                      <a:pt x="479" y="668"/>
                    </a:cubicBezTo>
                    <a:cubicBezTo>
                      <a:pt x="470" y="651"/>
                      <a:pt x="464" y="632"/>
                      <a:pt x="455" y="614"/>
                    </a:cubicBezTo>
                    <a:cubicBezTo>
                      <a:pt x="448" y="598"/>
                      <a:pt x="440" y="583"/>
                      <a:pt x="431" y="568"/>
                    </a:cubicBezTo>
                    <a:cubicBezTo>
                      <a:pt x="424" y="554"/>
                      <a:pt x="415" y="540"/>
                      <a:pt x="408" y="525"/>
                    </a:cubicBezTo>
                    <a:cubicBezTo>
                      <a:pt x="402" y="515"/>
                      <a:pt x="395" y="513"/>
                      <a:pt x="386" y="522"/>
                    </a:cubicBezTo>
                    <a:cubicBezTo>
                      <a:pt x="372" y="536"/>
                      <a:pt x="357" y="552"/>
                      <a:pt x="343" y="567"/>
                    </a:cubicBezTo>
                    <a:cubicBezTo>
                      <a:pt x="318" y="592"/>
                      <a:pt x="290" y="613"/>
                      <a:pt x="258" y="629"/>
                    </a:cubicBezTo>
                    <a:cubicBezTo>
                      <a:pt x="237" y="639"/>
                      <a:pt x="220" y="658"/>
                      <a:pt x="201" y="672"/>
                    </a:cubicBezTo>
                    <a:cubicBezTo>
                      <a:pt x="169" y="695"/>
                      <a:pt x="138" y="718"/>
                      <a:pt x="100" y="731"/>
                    </a:cubicBezTo>
                    <a:cubicBezTo>
                      <a:pt x="85" y="736"/>
                      <a:pt x="72" y="738"/>
                      <a:pt x="58" y="726"/>
                    </a:cubicBezTo>
                    <a:cubicBezTo>
                      <a:pt x="50" y="719"/>
                      <a:pt x="38" y="715"/>
                      <a:pt x="28" y="710"/>
                    </a:cubicBezTo>
                    <a:cubicBezTo>
                      <a:pt x="24" y="707"/>
                      <a:pt x="19" y="705"/>
                      <a:pt x="17" y="701"/>
                    </a:cubicBezTo>
                    <a:cubicBezTo>
                      <a:pt x="13" y="697"/>
                      <a:pt x="10" y="690"/>
                      <a:pt x="11" y="685"/>
                    </a:cubicBezTo>
                    <a:cubicBezTo>
                      <a:pt x="12" y="682"/>
                      <a:pt x="20" y="680"/>
                      <a:pt x="25" y="678"/>
                    </a:cubicBezTo>
                    <a:cubicBezTo>
                      <a:pt x="33" y="675"/>
                      <a:pt x="42" y="672"/>
                      <a:pt x="51" y="668"/>
                    </a:cubicBezTo>
                    <a:cubicBezTo>
                      <a:pt x="61" y="665"/>
                      <a:pt x="70" y="662"/>
                      <a:pt x="80" y="658"/>
                    </a:cubicBezTo>
                    <a:cubicBezTo>
                      <a:pt x="109" y="645"/>
                      <a:pt x="138" y="634"/>
                      <a:pt x="165" y="619"/>
                    </a:cubicBezTo>
                    <a:cubicBezTo>
                      <a:pt x="197" y="602"/>
                      <a:pt x="226" y="582"/>
                      <a:pt x="256" y="563"/>
                    </a:cubicBezTo>
                    <a:cubicBezTo>
                      <a:pt x="272" y="553"/>
                      <a:pt x="286" y="541"/>
                      <a:pt x="301" y="531"/>
                    </a:cubicBezTo>
                    <a:cubicBezTo>
                      <a:pt x="320" y="517"/>
                      <a:pt x="323" y="508"/>
                      <a:pt x="318" y="486"/>
                    </a:cubicBezTo>
                    <a:cubicBezTo>
                      <a:pt x="318" y="485"/>
                      <a:pt x="318" y="483"/>
                      <a:pt x="317" y="482"/>
                    </a:cubicBezTo>
                    <a:cubicBezTo>
                      <a:pt x="314" y="473"/>
                      <a:pt x="311" y="465"/>
                      <a:pt x="307" y="457"/>
                    </a:cubicBezTo>
                    <a:cubicBezTo>
                      <a:pt x="300" y="462"/>
                      <a:pt x="291" y="466"/>
                      <a:pt x="286" y="473"/>
                    </a:cubicBezTo>
                    <a:cubicBezTo>
                      <a:pt x="276" y="485"/>
                      <a:pt x="268" y="498"/>
                      <a:pt x="261" y="512"/>
                    </a:cubicBezTo>
                    <a:cubicBezTo>
                      <a:pt x="251" y="532"/>
                      <a:pt x="224" y="538"/>
                      <a:pt x="204" y="530"/>
                    </a:cubicBezTo>
                    <a:cubicBezTo>
                      <a:pt x="191" y="525"/>
                      <a:pt x="185" y="506"/>
                      <a:pt x="189" y="489"/>
                    </a:cubicBezTo>
                    <a:cubicBezTo>
                      <a:pt x="192" y="480"/>
                      <a:pt x="196" y="470"/>
                      <a:pt x="198" y="461"/>
                    </a:cubicBezTo>
                    <a:cubicBezTo>
                      <a:pt x="200" y="452"/>
                      <a:pt x="202" y="443"/>
                      <a:pt x="201" y="434"/>
                    </a:cubicBezTo>
                    <a:cubicBezTo>
                      <a:pt x="200" y="421"/>
                      <a:pt x="189" y="416"/>
                      <a:pt x="176" y="420"/>
                    </a:cubicBezTo>
                    <a:cubicBezTo>
                      <a:pt x="168" y="422"/>
                      <a:pt x="158" y="421"/>
                      <a:pt x="146" y="422"/>
                    </a:cubicBezTo>
                    <a:close/>
                    <a:moveTo>
                      <a:pt x="388" y="432"/>
                    </a:moveTo>
                    <a:cubicBezTo>
                      <a:pt x="380" y="405"/>
                      <a:pt x="373" y="378"/>
                      <a:pt x="366" y="351"/>
                    </a:cubicBezTo>
                    <a:cubicBezTo>
                      <a:pt x="364" y="342"/>
                      <a:pt x="360" y="334"/>
                      <a:pt x="350" y="338"/>
                    </a:cubicBezTo>
                    <a:cubicBezTo>
                      <a:pt x="340" y="342"/>
                      <a:pt x="328" y="346"/>
                      <a:pt x="332" y="362"/>
                    </a:cubicBezTo>
                    <a:cubicBezTo>
                      <a:pt x="335" y="374"/>
                      <a:pt x="337" y="386"/>
                      <a:pt x="339" y="397"/>
                    </a:cubicBezTo>
                    <a:cubicBezTo>
                      <a:pt x="342" y="417"/>
                      <a:pt x="353" y="432"/>
                      <a:pt x="369" y="443"/>
                    </a:cubicBezTo>
                    <a:cubicBezTo>
                      <a:pt x="372" y="445"/>
                      <a:pt x="378" y="447"/>
                      <a:pt x="380" y="446"/>
                    </a:cubicBezTo>
                    <a:cubicBezTo>
                      <a:pt x="383" y="443"/>
                      <a:pt x="385" y="438"/>
                      <a:pt x="388" y="432"/>
                    </a:cubicBezTo>
                    <a:close/>
                    <a:moveTo>
                      <a:pt x="278" y="428"/>
                    </a:moveTo>
                    <a:cubicBezTo>
                      <a:pt x="285" y="424"/>
                      <a:pt x="298" y="421"/>
                      <a:pt x="299" y="415"/>
                    </a:cubicBezTo>
                    <a:cubicBezTo>
                      <a:pt x="301" y="404"/>
                      <a:pt x="297" y="391"/>
                      <a:pt x="295" y="378"/>
                    </a:cubicBezTo>
                    <a:cubicBezTo>
                      <a:pt x="294" y="377"/>
                      <a:pt x="287" y="374"/>
                      <a:pt x="285" y="375"/>
                    </a:cubicBezTo>
                    <a:cubicBezTo>
                      <a:pt x="267" y="382"/>
                      <a:pt x="250" y="389"/>
                      <a:pt x="233" y="398"/>
                    </a:cubicBezTo>
                    <a:cubicBezTo>
                      <a:pt x="223" y="403"/>
                      <a:pt x="224" y="412"/>
                      <a:pt x="235" y="416"/>
                    </a:cubicBezTo>
                    <a:cubicBezTo>
                      <a:pt x="248" y="421"/>
                      <a:pt x="261" y="424"/>
                      <a:pt x="278" y="4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87"/>
              <p:cNvSpPr>
                <a:spLocks noEditPoints="1"/>
              </p:cNvSpPr>
              <p:nvPr/>
            </p:nvSpPr>
            <p:spPr bwMode="auto">
              <a:xfrm>
                <a:off x="6426845" y="1607074"/>
                <a:ext cx="1130300" cy="1871663"/>
              </a:xfrm>
              <a:custGeom>
                <a:avLst/>
                <a:gdLst>
                  <a:gd name="T0" fmla="*/ 76 w 358"/>
                  <a:gd name="T1" fmla="*/ 252 h 592"/>
                  <a:gd name="T2" fmla="*/ 66 w 358"/>
                  <a:gd name="T3" fmla="*/ 278 h 592"/>
                  <a:gd name="T4" fmla="*/ 40 w 358"/>
                  <a:gd name="T5" fmla="*/ 284 h 592"/>
                  <a:gd name="T6" fmla="*/ 4 w 358"/>
                  <a:gd name="T7" fmla="*/ 226 h 592"/>
                  <a:gd name="T8" fmla="*/ 1 w 358"/>
                  <a:gd name="T9" fmla="*/ 202 h 592"/>
                  <a:gd name="T10" fmla="*/ 2 w 358"/>
                  <a:gd name="T11" fmla="*/ 143 h 592"/>
                  <a:gd name="T12" fmla="*/ 2 w 358"/>
                  <a:gd name="T13" fmla="*/ 137 h 592"/>
                  <a:gd name="T14" fmla="*/ 7 w 358"/>
                  <a:gd name="T15" fmla="*/ 115 h 592"/>
                  <a:gd name="T16" fmla="*/ 28 w 358"/>
                  <a:gd name="T17" fmla="*/ 127 h 592"/>
                  <a:gd name="T18" fmla="*/ 75 w 358"/>
                  <a:gd name="T19" fmla="*/ 212 h 592"/>
                  <a:gd name="T20" fmla="*/ 91 w 358"/>
                  <a:gd name="T21" fmla="*/ 216 h 592"/>
                  <a:gd name="T22" fmla="*/ 131 w 358"/>
                  <a:gd name="T23" fmla="*/ 149 h 592"/>
                  <a:gd name="T24" fmla="*/ 130 w 358"/>
                  <a:gd name="T25" fmla="*/ 138 h 592"/>
                  <a:gd name="T26" fmla="*/ 119 w 358"/>
                  <a:gd name="T27" fmla="*/ 140 h 592"/>
                  <a:gd name="T28" fmla="*/ 71 w 358"/>
                  <a:gd name="T29" fmla="*/ 150 h 592"/>
                  <a:gd name="T30" fmla="*/ 60 w 358"/>
                  <a:gd name="T31" fmla="*/ 144 h 592"/>
                  <a:gd name="T32" fmla="*/ 64 w 358"/>
                  <a:gd name="T33" fmla="*/ 130 h 592"/>
                  <a:gd name="T34" fmla="*/ 108 w 358"/>
                  <a:gd name="T35" fmla="*/ 100 h 592"/>
                  <a:gd name="T36" fmla="*/ 217 w 358"/>
                  <a:gd name="T37" fmla="*/ 31 h 592"/>
                  <a:gd name="T38" fmla="*/ 342 w 358"/>
                  <a:gd name="T39" fmla="*/ 41 h 592"/>
                  <a:gd name="T40" fmla="*/ 337 w 358"/>
                  <a:gd name="T41" fmla="*/ 89 h 592"/>
                  <a:gd name="T42" fmla="*/ 259 w 358"/>
                  <a:gd name="T43" fmla="*/ 166 h 592"/>
                  <a:gd name="T44" fmla="*/ 227 w 358"/>
                  <a:gd name="T45" fmla="*/ 253 h 592"/>
                  <a:gd name="T46" fmla="*/ 200 w 358"/>
                  <a:gd name="T47" fmla="*/ 285 h 592"/>
                  <a:gd name="T48" fmla="*/ 158 w 358"/>
                  <a:gd name="T49" fmla="*/ 313 h 592"/>
                  <a:gd name="T50" fmla="*/ 147 w 358"/>
                  <a:gd name="T51" fmla="*/ 362 h 592"/>
                  <a:gd name="T52" fmla="*/ 159 w 358"/>
                  <a:gd name="T53" fmla="*/ 369 h 592"/>
                  <a:gd name="T54" fmla="*/ 208 w 358"/>
                  <a:gd name="T55" fmla="*/ 391 h 592"/>
                  <a:gd name="T56" fmla="*/ 208 w 358"/>
                  <a:gd name="T57" fmla="*/ 423 h 592"/>
                  <a:gd name="T58" fmla="*/ 180 w 358"/>
                  <a:gd name="T59" fmla="*/ 450 h 592"/>
                  <a:gd name="T60" fmla="*/ 155 w 358"/>
                  <a:gd name="T61" fmla="*/ 494 h 592"/>
                  <a:gd name="T62" fmla="*/ 176 w 358"/>
                  <a:gd name="T63" fmla="*/ 511 h 592"/>
                  <a:gd name="T64" fmla="*/ 257 w 358"/>
                  <a:gd name="T65" fmla="*/ 506 h 592"/>
                  <a:gd name="T66" fmla="*/ 275 w 358"/>
                  <a:gd name="T67" fmla="*/ 514 h 592"/>
                  <a:gd name="T68" fmla="*/ 312 w 358"/>
                  <a:gd name="T69" fmla="*/ 545 h 592"/>
                  <a:gd name="T70" fmla="*/ 312 w 358"/>
                  <a:gd name="T71" fmla="*/ 560 h 592"/>
                  <a:gd name="T72" fmla="*/ 278 w 358"/>
                  <a:gd name="T73" fmla="*/ 569 h 592"/>
                  <a:gd name="T74" fmla="*/ 188 w 358"/>
                  <a:gd name="T75" fmla="*/ 572 h 592"/>
                  <a:gd name="T76" fmla="*/ 116 w 358"/>
                  <a:gd name="T77" fmla="*/ 588 h 592"/>
                  <a:gd name="T78" fmla="*/ 89 w 358"/>
                  <a:gd name="T79" fmla="*/ 589 h 592"/>
                  <a:gd name="T80" fmla="*/ 66 w 358"/>
                  <a:gd name="T81" fmla="*/ 573 h 592"/>
                  <a:gd name="T82" fmla="*/ 65 w 358"/>
                  <a:gd name="T83" fmla="*/ 501 h 592"/>
                  <a:gd name="T84" fmla="*/ 57 w 358"/>
                  <a:gd name="T85" fmla="*/ 450 h 592"/>
                  <a:gd name="T86" fmla="*/ 57 w 358"/>
                  <a:gd name="T87" fmla="*/ 421 h 592"/>
                  <a:gd name="T88" fmla="*/ 78 w 358"/>
                  <a:gd name="T89" fmla="*/ 387 h 592"/>
                  <a:gd name="T90" fmla="*/ 74 w 358"/>
                  <a:gd name="T91" fmla="*/ 346 h 592"/>
                  <a:gd name="T92" fmla="*/ 74 w 358"/>
                  <a:gd name="T93" fmla="*/ 298 h 592"/>
                  <a:gd name="T94" fmla="*/ 84 w 358"/>
                  <a:gd name="T95" fmla="*/ 266 h 592"/>
                  <a:gd name="T96" fmla="*/ 81 w 358"/>
                  <a:gd name="T97" fmla="*/ 252 h 592"/>
                  <a:gd name="T98" fmla="*/ 76 w 358"/>
                  <a:gd name="T99" fmla="*/ 252 h 592"/>
                  <a:gd name="T100" fmla="*/ 162 w 358"/>
                  <a:gd name="T101" fmla="*/ 191 h 592"/>
                  <a:gd name="T102" fmla="*/ 166 w 358"/>
                  <a:gd name="T103" fmla="*/ 198 h 592"/>
                  <a:gd name="T104" fmla="*/ 175 w 358"/>
                  <a:gd name="T105" fmla="*/ 191 h 592"/>
                  <a:gd name="T106" fmla="*/ 185 w 358"/>
                  <a:gd name="T107" fmla="*/ 161 h 592"/>
                  <a:gd name="T108" fmla="*/ 216 w 358"/>
                  <a:gd name="T109" fmla="*/ 97 h 592"/>
                  <a:gd name="T110" fmla="*/ 217 w 358"/>
                  <a:gd name="T111" fmla="*/ 84 h 592"/>
                  <a:gd name="T112" fmla="*/ 202 w 358"/>
                  <a:gd name="T113" fmla="*/ 84 h 592"/>
                  <a:gd name="T114" fmla="*/ 164 w 358"/>
                  <a:gd name="T115" fmla="*/ 110 h 592"/>
                  <a:gd name="T116" fmla="*/ 159 w 358"/>
                  <a:gd name="T117" fmla="*/ 133 h 592"/>
                  <a:gd name="T118" fmla="*/ 165 w 358"/>
                  <a:gd name="T119" fmla="*/ 164 h 592"/>
                  <a:gd name="T120" fmla="*/ 162 w 358"/>
                  <a:gd name="T121" fmla="*/ 191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8" h="592">
                    <a:moveTo>
                      <a:pt x="76" y="252"/>
                    </a:moveTo>
                    <a:cubicBezTo>
                      <a:pt x="73" y="261"/>
                      <a:pt x="70" y="270"/>
                      <a:pt x="66" y="278"/>
                    </a:cubicBezTo>
                    <a:cubicBezTo>
                      <a:pt x="60" y="292"/>
                      <a:pt x="49" y="295"/>
                      <a:pt x="40" y="284"/>
                    </a:cubicBezTo>
                    <a:cubicBezTo>
                      <a:pt x="27" y="265"/>
                      <a:pt x="15" y="246"/>
                      <a:pt x="4" y="226"/>
                    </a:cubicBezTo>
                    <a:cubicBezTo>
                      <a:pt x="0" y="219"/>
                      <a:pt x="1" y="210"/>
                      <a:pt x="1" y="202"/>
                    </a:cubicBezTo>
                    <a:cubicBezTo>
                      <a:pt x="1" y="182"/>
                      <a:pt x="2" y="163"/>
                      <a:pt x="2" y="143"/>
                    </a:cubicBezTo>
                    <a:cubicBezTo>
                      <a:pt x="2" y="141"/>
                      <a:pt x="1" y="139"/>
                      <a:pt x="2" y="137"/>
                    </a:cubicBezTo>
                    <a:cubicBezTo>
                      <a:pt x="3" y="130"/>
                      <a:pt x="3" y="118"/>
                      <a:pt x="7" y="115"/>
                    </a:cubicBezTo>
                    <a:cubicBezTo>
                      <a:pt x="17" y="109"/>
                      <a:pt x="21" y="120"/>
                      <a:pt x="28" y="127"/>
                    </a:cubicBezTo>
                    <a:cubicBezTo>
                      <a:pt x="51" y="151"/>
                      <a:pt x="66" y="180"/>
                      <a:pt x="75" y="212"/>
                    </a:cubicBezTo>
                    <a:cubicBezTo>
                      <a:pt x="78" y="220"/>
                      <a:pt x="83" y="222"/>
                      <a:pt x="91" y="216"/>
                    </a:cubicBezTo>
                    <a:cubicBezTo>
                      <a:pt x="116" y="200"/>
                      <a:pt x="126" y="176"/>
                      <a:pt x="131" y="149"/>
                    </a:cubicBezTo>
                    <a:cubicBezTo>
                      <a:pt x="132" y="146"/>
                      <a:pt x="130" y="142"/>
                      <a:pt x="130" y="138"/>
                    </a:cubicBezTo>
                    <a:cubicBezTo>
                      <a:pt x="126" y="138"/>
                      <a:pt x="122" y="139"/>
                      <a:pt x="119" y="140"/>
                    </a:cubicBezTo>
                    <a:cubicBezTo>
                      <a:pt x="103" y="143"/>
                      <a:pt x="87" y="147"/>
                      <a:pt x="71" y="150"/>
                    </a:cubicBezTo>
                    <a:cubicBezTo>
                      <a:pt x="68" y="150"/>
                      <a:pt x="60" y="147"/>
                      <a:pt x="60" y="144"/>
                    </a:cubicBezTo>
                    <a:cubicBezTo>
                      <a:pt x="58" y="140"/>
                      <a:pt x="61" y="132"/>
                      <a:pt x="64" y="130"/>
                    </a:cubicBezTo>
                    <a:cubicBezTo>
                      <a:pt x="78" y="119"/>
                      <a:pt x="93" y="110"/>
                      <a:pt x="108" y="100"/>
                    </a:cubicBezTo>
                    <a:cubicBezTo>
                      <a:pt x="144" y="77"/>
                      <a:pt x="182" y="56"/>
                      <a:pt x="217" y="31"/>
                    </a:cubicBezTo>
                    <a:cubicBezTo>
                      <a:pt x="261" y="0"/>
                      <a:pt x="310" y="14"/>
                      <a:pt x="342" y="41"/>
                    </a:cubicBezTo>
                    <a:cubicBezTo>
                      <a:pt x="358" y="54"/>
                      <a:pt x="355" y="77"/>
                      <a:pt x="337" y="89"/>
                    </a:cubicBezTo>
                    <a:cubicBezTo>
                      <a:pt x="306" y="109"/>
                      <a:pt x="274" y="131"/>
                      <a:pt x="259" y="166"/>
                    </a:cubicBezTo>
                    <a:cubicBezTo>
                      <a:pt x="247" y="194"/>
                      <a:pt x="228" y="221"/>
                      <a:pt x="227" y="253"/>
                    </a:cubicBezTo>
                    <a:cubicBezTo>
                      <a:pt x="226" y="270"/>
                      <a:pt x="212" y="277"/>
                      <a:pt x="200" y="285"/>
                    </a:cubicBezTo>
                    <a:cubicBezTo>
                      <a:pt x="185" y="293"/>
                      <a:pt x="170" y="301"/>
                      <a:pt x="158" y="313"/>
                    </a:cubicBezTo>
                    <a:cubicBezTo>
                      <a:pt x="145" y="326"/>
                      <a:pt x="145" y="345"/>
                      <a:pt x="147" y="362"/>
                    </a:cubicBezTo>
                    <a:cubicBezTo>
                      <a:pt x="147" y="365"/>
                      <a:pt x="155" y="369"/>
                      <a:pt x="159" y="369"/>
                    </a:cubicBezTo>
                    <a:cubicBezTo>
                      <a:pt x="181" y="364"/>
                      <a:pt x="196" y="373"/>
                      <a:pt x="208" y="391"/>
                    </a:cubicBezTo>
                    <a:cubicBezTo>
                      <a:pt x="216" y="402"/>
                      <a:pt x="217" y="413"/>
                      <a:pt x="208" y="423"/>
                    </a:cubicBezTo>
                    <a:cubicBezTo>
                      <a:pt x="199" y="433"/>
                      <a:pt x="189" y="441"/>
                      <a:pt x="180" y="450"/>
                    </a:cubicBezTo>
                    <a:cubicBezTo>
                      <a:pt x="166" y="462"/>
                      <a:pt x="155" y="474"/>
                      <a:pt x="155" y="494"/>
                    </a:cubicBezTo>
                    <a:cubicBezTo>
                      <a:pt x="155" y="510"/>
                      <a:pt x="161" y="517"/>
                      <a:pt x="176" y="511"/>
                    </a:cubicBezTo>
                    <a:cubicBezTo>
                      <a:pt x="203" y="501"/>
                      <a:pt x="230" y="505"/>
                      <a:pt x="257" y="506"/>
                    </a:cubicBezTo>
                    <a:cubicBezTo>
                      <a:pt x="263" y="506"/>
                      <a:pt x="270" y="510"/>
                      <a:pt x="275" y="514"/>
                    </a:cubicBezTo>
                    <a:cubicBezTo>
                      <a:pt x="287" y="524"/>
                      <a:pt x="299" y="535"/>
                      <a:pt x="312" y="545"/>
                    </a:cubicBezTo>
                    <a:cubicBezTo>
                      <a:pt x="321" y="551"/>
                      <a:pt x="318" y="557"/>
                      <a:pt x="312" y="560"/>
                    </a:cubicBezTo>
                    <a:cubicBezTo>
                      <a:pt x="301" y="564"/>
                      <a:pt x="289" y="569"/>
                      <a:pt x="278" y="569"/>
                    </a:cubicBezTo>
                    <a:cubicBezTo>
                      <a:pt x="248" y="571"/>
                      <a:pt x="218" y="569"/>
                      <a:pt x="188" y="572"/>
                    </a:cubicBezTo>
                    <a:cubicBezTo>
                      <a:pt x="164" y="575"/>
                      <a:pt x="140" y="583"/>
                      <a:pt x="116" y="588"/>
                    </a:cubicBezTo>
                    <a:cubicBezTo>
                      <a:pt x="107" y="590"/>
                      <a:pt x="97" y="592"/>
                      <a:pt x="89" y="589"/>
                    </a:cubicBezTo>
                    <a:cubicBezTo>
                      <a:pt x="80" y="587"/>
                      <a:pt x="71" y="581"/>
                      <a:pt x="66" y="573"/>
                    </a:cubicBezTo>
                    <a:cubicBezTo>
                      <a:pt x="43" y="535"/>
                      <a:pt x="41" y="540"/>
                      <a:pt x="65" y="501"/>
                    </a:cubicBezTo>
                    <a:cubicBezTo>
                      <a:pt x="79" y="479"/>
                      <a:pt x="77" y="468"/>
                      <a:pt x="57" y="450"/>
                    </a:cubicBezTo>
                    <a:cubicBezTo>
                      <a:pt x="46" y="439"/>
                      <a:pt x="45" y="432"/>
                      <a:pt x="57" y="421"/>
                    </a:cubicBezTo>
                    <a:cubicBezTo>
                      <a:pt x="67" y="411"/>
                      <a:pt x="74" y="401"/>
                      <a:pt x="78" y="387"/>
                    </a:cubicBezTo>
                    <a:cubicBezTo>
                      <a:pt x="82" y="372"/>
                      <a:pt x="82" y="359"/>
                      <a:pt x="74" y="346"/>
                    </a:cubicBezTo>
                    <a:cubicBezTo>
                      <a:pt x="64" y="330"/>
                      <a:pt x="66" y="315"/>
                      <a:pt x="74" y="298"/>
                    </a:cubicBezTo>
                    <a:cubicBezTo>
                      <a:pt x="78" y="288"/>
                      <a:pt x="81" y="277"/>
                      <a:pt x="84" y="266"/>
                    </a:cubicBezTo>
                    <a:cubicBezTo>
                      <a:pt x="85" y="261"/>
                      <a:pt x="82" y="256"/>
                      <a:pt x="81" y="252"/>
                    </a:cubicBezTo>
                    <a:cubicBezTo>
                      <a:pt x="80" y="252"/>
                      <a:pt x="78" y="252"/>
                      <a:pt x="76" y="252"/>
                    </a:cubicBezTo>
                    <a:close/>
                    <a:moveTo>
                      <a:pt x="162" y="191"/>
                    </a:moveTo>
                    <a:cubicBezTo>
                      <a:pt x="163" y="192"/>
                      <a:pt x="164" y="195"/>
                      <a:pt x="166" y="198"/>
                    </a:cubicBezTo>
                    <a:cubicBezTo>
                      <a:pt x="169" y="196"/>
                      <a:pt x="174" y="194"/>
                      <a:pt x="175" y="191"/>
                    </a:cubicBezTo>
                    <a:cubicBezTo>
                      <a:pt x="179" y="182"/>
                      <a:pt x="180" y="171"/>
                      <a:pt x="185" y="161"/>
                    </a:cubicBezTo>
                    <a:cubicBezTo>
                      <a:pt x="194" y="140"/>
                      <a:pt x="206" y="119"/>
                      <a:pt x="216" y="97"/>
                    </a:cubicBezTo>
                    <a:cubicBezTo>
                      <a:pt x="217" y="93"/>
                      <a:pt x="217" y="88"/>
                      <a:pt x="217" y="84"/>
                    </a:cubicBezTo>
                    <a:cubicBezTo>
                      <a:pt x="212" y="84"/>
                      <a:pt x="206" y="82"/>
                      <a:pt x="202" y="84"/>
                    </a:cubicBezTo>
                    <a:cubicBezTo>
                      <a:pt x="189" y="92"/>
                      <a:pt x="176" y="101"/>
                      <a:pt x="164" y="110"/>
                    </a:cubicBezTo>
                    <a:cubicBezTo>
                      <a:pt x="155" y="116"/>
                      <a:pt x="154" y="123"/>
                      <a:pt x="159" y="133"/>
                    </a:cubicBezTo>
                    <a:cubicBezTo>
                      <a:pt x="164" y="142"/>
                      <a:pt x="164" y="154"/>
                      <a:pt x="165" y="164"/>
                    </a:cubicBezTo>
                    <a:cubicBezTo>
                      <a:pt x="166" y="172"/>
                      <a:pt x="163" y="180"/>
                      <a:pt x="16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88"/>
              <p:cNvSpPr>
                <a:spLocks noEditPoints="1"/>
              </p:cNvSpPr>
              <p:nvPr/>
            </p:nvSpPr>
            <p:spPr bwMode="auto">
              <a:xfrm>
                <a:off x="3513783" y="1454674"/>
                <a:ext cx="1030288" cy="1951038"/>
              </a:xfrm>
              <a:custGeom>
                <a:avLst/>
                <a:gdLst>
                  <a:gd name="T0" fmla="*/ 170 w 326"/>
                  <a:gd name="T1" fmla="*/ 59 h 617"/>
                  <a:gd name="T2" fmla="*/ 214 w 326"/>
                  <a:gd name="T3" fmla="*/ 98 h 617"/>
                  <a:gd name="T4" fmla="*/ 243 w 326"/>
                  <a:gd name="T5" fmla="*/ 41 h 617"/>
                  <a:gd name="T6" fmla="*/ 263 w 326"/>
                  <a:gd name="T7" fmla="*/ 1 h 617"/>
                  <a:gd name="T8" fmla="*/ 275 w 326"/>
                  <a:gd name="T9" fmla="*/ 115 h 617"/>
                  <a:gd name="T10" fmla="*/ 222 w 326"/>
                  <a:gd name="T11" fmla="*/ 196 h 617"/>
                  <a:gd name="T12" fmla="*/ 281 w 326"/>
                  <a:gd name="T13" fmla="*/ 223 h 617"/>
                  <a:gd name="T14" fmla="*/ 253 w 326"/>
                  <a:gd name="T15" fmla="*/ 283 h 617"/>
                  <a:gd name="T16" fmla="*/ 234 w 326"/>
                  <a:gd name="T17" fmla="*/ 396 h 617"/>
                  <a:gd name="T18" fmla="*/ 210 w 326"/>
                  <a:gd name="T19" fmla="*/ 453 h 617"/>
                  <a:gd name="T20" fmla="*/ 241 w 326"/>
                  <a:gd name="T21" fmla="*/ 418 h 617"/>
                  <a:gd name="T22" fmla="*/ 292 w 326"/>
                  <a:gd name="T23" fmla="*/ 401 h 617"/>
                  <a:gd name="T24" fmla="*/ 311 w 326"/>
                  <a:gd name="T25" fmla="*/ 447 h 617"/>
                  <a:gd name="T26" fmla="*/ 173 w 326"/>
                  <a:gd name="T27" fmla="*/ 539 h 617"/>
                  <a:gd name="T28" fmla="*/ 92 w 326"/>
                  <a:gd name="T29" fmla="*/ 616 h 617"/>
                  <a:gd name="T30" fmla="*/ 114 w 326"/>
                  <a:gd name="T31" fmla="*/ 551 h 617"/>
                  <a:gd name="T32" fmla="*/ 87 w 326"/>
                  <a:gd name="T33" fmla="*/ 519 h 617"/>
                  <a:gd name="T34" fmla="*/ 87 w 326"/>
                  <a:gd name="T35" fmla="*/ 482 h 617"/>
                  <a:gd name="T36" fmla="*/ 134 w 326"/>
                  <a:gd name="T37" fmla="*/ 443 h 617"/>
                  <a:gd name="T38" fmla="*/ 102 w 326"/>
                  <a:gd name="T39" fmla="*/ 439 h 617"/>
                  <a:gd name="T40" fmla="*/ 40 w 326"/>
                  <a:gd name="T41" fmla="*/ 397 h 617"/>
                  <a:gd name="T42" fmla="*/ 78 w 326"/>
                  <a:gd name="T43" fmla="*/ 303 h 617"/>
                  <a:gd name="T44" fmla="*/ 7 w 326"/>
                  <a:gd name="T45" fmla="*/ 244 h 617"/>
                  <a:gd name="T46" fmla="*/ 76 w 326"/>
                  <a:gd name="T47" fmla="*/ 201 h 617"/>
                  <a:gd name="T48" fmla="*/ 123 w 326"/>
                  <a:gd name="T49" fmla="*/ 128 h 617"/>
                  <a:gd name="T50" fmla="*/ 150 w 326"/>
                  <a:gd name="T51" fmla="*/ 101 h 617"/>
                  <a:gd name="T52" fmla="*/ 130 w 326"/>
                  <a:gd name="T53" fmla="*/ 267 h 617"/>
                  <a:gd name="T54" fmla="*/ 128 w 326"/>
                  <a:gd name="T55" fmla="*/ 228 h 617"/>
                  <a:gd name="T56" fmla="*/ 99 w 326"/>
                  <a:gd name="T57" fmla="*/ 258 h 617"/>
                  <a:gd name="T58" fmla="*/ 175 w 326"/>
                  <a:gd name="T59" fmla="*/ 325 h 617"/>
                  <a:gd name="T60" fmla="*/ 129 w 326"/>
                  <a:gd name="T61" fmla="*/ 327 h 617"/>
                  <a:gd name="T62" fmla="*/ 139 w 326"/>
                  <a:gd name="T63" fmla="*/ 345 h 617"/>
                  <a:gd name="T64" fmla="*/ 175 w 326"/>
                  <a:gd name="T65" fmla="*/ 325 h 617"/>
                  <a:gd name="T66" fmla="*/ 149 w 326"/>
                  <a:gd name="T67" fmla="*/ 383 h 617"/>
                  <a:gd name="T68" fmla="*/ 143 w 326"/>
                  <a:gd name="T69" fmla="*/ 374 h 617"/>
                  <a:gd name="T70" fmla="*/ 111 w 326"/>
                  <a:gd name="T71" fmla="*/ 395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6" h="617">
                    <a:moveTo>
                      <a:pt x="172" y="131"/>
                    </a:moveTo>
                    <a:cubicBezTo>
                      <a:pt x="185" y="106"/>
                      <a:pt x="161" y="83"/>
                      <a:pt x="170" y="59"/>
                    </a:cubicBezTo>
                    <a:cubicBezTo>
                      <a:pt x="185" y="62"/>
                      <a:pt x="198" y="65"/>
                      <a:pt x="203" y="82"/>
                    </a:cubicBezTo>
                    <a:cubicBezTo>
                      <a:pt x="205" y="88"/>
                      <a:pt x="210" y="93"/>
                      <a:pt x="214" y="98"/>
                    </a:cubicBezTo>
                    <a:cubicBezTo>
                      <a:pt x="221" y="93"/>
                      <a:pt x="230" y="89"/>
                      <a:pt x="233" y="83"/>
                    </a:cubicBezTo>
                    <a:cubicBezTo>
                      <a:pt x="238" y="69"/>
                      <a:pt x="240" y="55"/>
                      <a:pt x="243" y="41"/>
                    </a:cubicBezTo>
                    <a:cubicBezTo>
                      <a:pt x="244" y="37"/>
                      <a:pt x="245" y="33"/>
                      <a:pt x="246" y="29"/>
                    </a:cubicBezTo>
                    <a:cubicBezTo>
                      <a:pt x="248" y="18"/>
                      <a:pt x="248" y="4"/>
                      <a:pt x="263" y="1"/>
                    </a:cubicBezTo>
                    <a:cubicBezTo>
                      <a:pt x="274" y="0"/>
                      <a:pt x="293" y="15"/>
                      <a:pt x="298" y="28"/>
                    </a:cubicBezTo>
                    <a:cubicBezTo>
                      <a:pt x="310" y="62"/>
                      <a:pt x="299" y="90"/>
                      <a:pt x="275" y="115"/>
                    </a:cubicBezTo>
                    <a:cubicBezTo>
                      <a:pt x="260" y="130"/>
                      <a:pt x="244" y="144"/>
                      <a:pt x="231" y="161"/>
                    </a:cubicBezTo>
                    <a:cubicBezTo>
                      <a:pt x="224" y="170"/>
                      <a:pt x="223" y="184"/>
                      <a:pt x="222" y="196"/>
                    </a:cubicBezTo>
                    <a:cubicBezTo>
                      <a:pt x="222" y="199"/>
                      <a:pt x="232" y="206"/>
                      <a:pt x="237" y="206"/>
                    </a:cubicBezTo>
                    <a:cubicBezTo>
                      <a:pt x="256" y="203"/>
                      <a:pt x="269" y="213"/>
                      <a:pt x="281" y="223"/>
                    </a:cubicBezTo>
                    <a:cubicBezTo>
                      <a:pt x="286" y="226"/>
                      <a:pt x="289" y="235"/>
                      <a:pt x="288" y="240"/>
                    </a:cubicBezTo>
                    <a:cubicBezTo>
                      <a:pt x="282" y="258"/>
                      <a:pt x="273" y="276"/>
                      <a:pt x="253" y="283"/>
                    </a:cubicBezTo>
                    <a:cubicBezTo>
                      <a:pt x="239" y="288"/>
                      <a:pt x="234" y="297"/>
                      <a:pt x="242" y="309"/>
                    </a:cubicBezTo>
                    <a:cubicBezTo>
                      <a:pt x="260" y="340"/>
                      <a:pt x="257" y="368"/>
                      <a:pt x="234" y="396"/>
                    </a:cubicBezTo>
                    <a:cubicBezTo>
                      <a:pt x="225" y="408"/>
                      <a:pt x="217" y="422"/>
                      <a:pt x="210" y="436"/>
                    </a:cubicBezTo>
                    <a:cubicBezTo>
                      <a:pt x="207" y="441"/>
                      <a:pt x="210" y="447"/>
                      <a:pt x="210" y="453"/>
                    </a:cubicBezTo>
                    <a:cubicBezTo>
                      <a:pt x="215" y="452"/>
                      <a:pt x="221" y="452"/>
                      <a:pt x="226" y="449"/>
                    </a:cubicBezTo>
                    <a:cubicBezTo>
                      <a:pt x="238" y="443"/>
                      <a:pt x="241" y="432"/>
                      <a:pt x="241" y="418"/>
                    </a:cubicBezTo>
                    <a:cubicBezTo>
                      <a:pt x="240" y="398"/>
                      <a:pt x="242" y="397"/>
                      <a:pt x="262" y="399"/>
                    </a:cubicBezTo>
                    <a:cubicBezTo>
                      <a:pt x="272" y="400"/>
                      <a:pt x="283" y="398"/>
                      <a:pt x="292" y="401"/>
                    </a:cubicBezTo>
                    <a:cubicBezTo>
                      <a:pt x="302" y="404"/>
                      <a:pt x="314" y="410"/>
                      <a:pt x="320" y="418"/>
                    </a:cubicBezTo>
                    <a:cubicBezTo>
                      <a:pt x="326" y="427"/>
                      <a:pt x="320" y="440"/>
                      <a:pt x="311" y="447"/>
                    </a:cubicBezTo>
                    <a:cubicBezTo>
                      <a:pt x="284" y="468"/>
                      <a:pt x="261" y="495"/>
                      <a:pt x="223" y="499"/>
                    </a:cubicBezTo>
                    <a:cubicBezTo>
                      <a:pt x="200" y="501"/>
                      <a:pt x="183" y="513"/>
                      <a:pt x="173" y="539"/>
                    </a:cubicBezTo>
                    <a:cubicBezTo>
                      <a:pt x="161" y="570"/>
                      <a:pt x="137" y="595"/>
                      <a:pt x="108" y="613"/>
                    </a:cubicBezTo>
                    <a:cubicBezTo>
                      <a:pt x="104" y="616"/>
                      <a:pt x="97" y="617"/>
                      <a:pt x="92" y="616"/>
                    </a:cubicBezTo>
                    <a:cubicBezTo>
                      <a:pt x="78" y="615"/>
                      <a:pt x="76" y="608"/>
                      <a:pt x="83" y="596"/>
                    </a:cubicBezTo>
                    <a:cubicBezTo>
                      <a:pt x="94" y="581"/>
                      <a:pt x="105" y="566"/>
                      <a:pt x="114" y="551"/>
                    </a:cubicBezTo>
                    <a:cubicBezTo>
                      <a:pt x="123" y="535"/>
                      <a:pt x="116" y="523"/>
                      <a:pt x="99" y="520"/>
                    </a:cubicBezTo>
                    <a:cubicBezTo>
                      <a:pt x="95" y="519"/>
                      <a:pt x="91" y="519"/>
                      <a:pt x="87" y="519"/>
                    </a:cubicBezTo>
                    <a:cubicBezTo>
                      <a:pt x="74" y="519"/>
                      <a:pt x="69" y="512"/>
                      <a:pt x="69" y="500"/>
                    </a:cubicBezTo>
                    <a:cubicBezTo>
                      <a:pt x="69" y="488"/>
                      <a:pt x="77" y="485"/>
                      <a:pt x="87" y="482"/>
                    </a:cubicBezTo>
                    <a:cubicBezTo>
                      <a:pt x="100" y="479"/>
                      <a:pt x="114" y="476"/>
                      <a:pt x="126" y="470"/>
                    </a:cubicBezTo>
                    <a:cubicBezTo>
                      <a:pt x="136" y="465"/>
                      <a:pt x="140" y="452"/>
                      <a:pt x="134" y="443"/>
                    </a:cubicBezTo>
                    <a:cubicBezTo>
                      <a:pt x="131" y="437"/>
                      <a:pt x="121" y="433"/>
                      <a:pt x="113" y="431"/>
                    </a:cubicBezTo>
                    <a:cubicBezTo>
                      <a:pt x="110" y="430"/>
                      <a:pt x="104" y="435"/>
                      <a:pt x="102" y="439"/>
                    </a:cubicBezTo>
                    <a:cubicBezTo>
                      <a:pt x="93" y="458"/>
                      <a:pt x="63" y="465"/>
                      <a:pt x="46" y="452"/>
                    </a:cubicBezTo>
                    <a:cubicBezTo>
                      <a:pt x="25" y="437"/>
                      <a:pt x="23" y="416"/>
                      <a:pt x="40" y="397"/>
                    </a:cubicBezTo>
                    <a:cubicBezTo>
                      <a:pt x="57" y="379"/>
                      <a:pt x="68" y="358"/>
                      <a:pt x="71" y="333"/>
                    </a:cubicBezTo>
                    <a:cubicBezTo>
                      <a:pt x="72" y="323"/>
                      <a:pt x="75" y="313"/>
                      <a:pt x="78" y="303"/>
                    </a:cubicBezTo>
                    <a:cubicBezTo>
                      <a:pt x="86" y="280"/>
                      <a:pt x="77" y="267"/>
                      <a:pt x="54" y="268"/>
                    </a:cubicBezTo>
                    <a:cubicBezTo>
                      <a:pt x="34" y="269"/>
                      <a:pt x="20" y="257"/>
                      <a:pt x="7" y="244"/>
                    </a:cubicBezTo>
                    <a:cubicBezTo>
                      <a:pt x="0" y="236"/>
                      <a:pt x="6" y="230"/>
                      <a:pt x="15" y="226"/>
                    </a:cubicBezTo>
                    <a:cubicBezTo>
                      <a:pt x="35" y="218"/>
                      <a:pt x="56" y="211"/>
                      <a:pt x="76" y="201"/>
                    </a:cubicBezTo>
                    <a:cubicBezTo>
                      <a:pt x="89" y="195"/>
                      <a:pt x="103" y="187"/>
                      <a:pt x="111" y="175"/>
                    </a:cubicBezTo>
                    <a:cubicBezTo>
                      <a:pt x="119" y="162"/>
                      <a:pt x="119" y="144"/>
                      <a:pt x="123" y="128"/>
                    </a:cubicBezTo>
                    <a:cubicBezTo>
                      <a:pt x="124" y="122"/>
                      <a:pt x="124" y="115"/>
                      <a:pt x="126" y="109"/>
                    </a:cubicBezTo>
                    <a:cubicBezTo>
                      <a:pt x="129" y="95"/>
                      <a:pt x="140" y="91"/>
                      <a:pt x="150" y="101"/>
                    </a:cubicBezTo>
                    <a:cubicBezTo>
                      <a:pt x="158" y="109"/>
                      <a:pt x="164" y="120"/>
                      <a:pt x="172" y="131"/>
                    </a:cubicBezTo>
                    <a:close/>
                    <a:moveTo>
                      <a:pt x="130" y="267"/>
                    </a:moveTo>
                    <a:cubicBezTo>
                      <a:pt x="143" y="267"/>
                      <a:pt x="152" y="259"/>
                      <a:pt x="151" y="249"/>
                    </a:cubicBezTo>
                    <a:cubicBezTo>
                      <a:pt x="150" y="238"/>
                      <a:pt x="136" y="224"/>
                      <a:pt x="128" y="228"/>
                    </a:cubicBezTo>
                    <a:cubicBezTo>
                      <a:pt x="117" y="232"/>
                      <a:pt x="107" y="240"/>
                      <a:pt x="97" y="247"/>
                    </a:cubicBezTo>
                    <a:cubicBezTo>
                      <a:pt x="96" y="248"/>
                      <a:pt x="97" y="257"/>
                      <a:pt x="99" y="258"/>
                    </a:cubicBezTo>
                    <a:cubicBezTo>
                      <a:pt x="110" y="262"/>
                      <a:pt x="121" y="265"/>
                      <a:pt x="130" y="267"/>
                    </a:cubicBezTo>
                    <a:close/>
                    <a:moveTo>
                      <a:pt x="175" y="325"/>
                    </a:moveTo>
                    <a:cubicBezTo>
                      <a:pt x="173" y="322"/>
                      <a:pt x="171" y="318"/>
                      <a:pt x="168" y="317"/>
                    </a:cubicBezTo>
                    <a:cubicBezTo>
                      <a:pt x="160" y="312"/>
                      <a:pt x="133" y="318"/>
                      <a:pt x="129" y="327"/>
                    </a:cubicBezTo>
                    <a:cubicBezTo>
                      <a:pt x="127" y="330"/>
                      <a:pt x="127" y="337"/>
                      <a:pt x="128" y="340"/>
                    </a:cubicBezTo>
                    <a:cubicBezTo>
                      <a:pt x="130" y="343"/>
                      <a:pt x="136" y="346"/>
                      <a:pt x="139" y="345"/>
                    </a:cubicBezTo>
                    <a:cubicBezTo>
                      <a:pt x="149" y="342"/>
                      <a:pt x="158" y="337"/>
                      <a:pt x="168" y="333"/>
                    </a:cubicBezTo>
                    <a:cubicBezTo>
                      <a:pt x="170" y="331"/>
                      <a:pt x="172" y="328"/>
                      <a:pt x="175" y="325"/>
                    </a:cubicBezTo>
                    <a:close/>
                    <a:moveTo>
                      <a:pt x="120" y="402"/>
                    </a:moveTo>
                    <a:cubicBezTo>
                      <a:pt x="130" y="396"/>
                      <a:pt x="140" y="389"/>
                      <a:pt x="149" y="383"/>
                    </a:cubicBezTo>
                    <a:cubicBezTo>
                      <a:pt x="151" y="382"/>
                      <a:pt x="151" y="377"/>
                      <a:pt x="150" y="376"/>
                    </a:cubicBezTo>
                    <a:cubicBezTo>
                      <a:pt x="148" y="375"/>
                      <a:pt x="145" y="374"/>
                      <a:pt x="143" y="374"/>
                    </a:cubicBezTo>
                    <a:cubicBezTo>
                      <a:pt x="133" y="377"/>
                      <a:pt x="124" y="380"/>
                      <a:pt x="115" y="384"/>
                    </a:cubicBezTo>
                    <a:cubicBezTo>
                      <a:pt x="112" y="386"/>
                      <a:pt x="111" y="392"/>
                      <a:pt x="111" y="395"/>
                    </a:cubicBezTo>
                    <a:cubicBezTo>
                      <a:pt x="111" y="397"/>
                      <a:pt x="115" y="399"/>
                      <a:pt x="120" y="4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89"/>
              <p:cNvSpPr/>
              <p:nvPr/>
            </p:nvSpPr>
            <p:spPr bwMode="auto">
              <a:xfrm>
                <a:off x="8684270" y="1822974"/>
                <a:ext cx="1670050" cy="1479550"/>
              </a:xfrm>
              <a:custGeom>
                <a:avLst/>
                <a:gdLst>
                  <a:gd name="T0" fmla="*/ 0 w 529"/>
                  <a:gd name="T1" fmla="*/ 393 h 468"/>
                  <a:gd name="T2" fmla="*/ 29 w 529"/>
                  <a:gd name="T3" fmla="*/ 365 h 468"/>
                  <a:gd name="T4" fmla="*/ 54 w 529"/>
                  <a:gd name="T5" fmla="*/ 358 h 468"/>
                  <a:gd name="T6" fmla="*/ 166 w 529"/>
                  <a:gd name="T7" fmla="*/ 323 h 468"/>
                  <a:gd name="T8" fmla="*/ 184 w 529"/>
                  <a:gd name="T9" fmla="*/ 311 h 468"/>
                  <a:gd name="T10" fmla="*/ 254 w 529"/>
                  <a:gd name="T11" fmla="*/ 227 h 468"/>
                  <a:gd name="T12" fmla="*/ 309 w 529"/>
                  <a:gd name="T13" fmla="*/ 162 h 468"/>
                  <a:gd name="T14" fmla="*/ 370 w 529"/>
                  <a:gd name="T15" fmla="*/ 78 h 468"/>
                  <a:gd name="T16" fmla="*/ 371 w 529"/>
                  <a:gd name="T17" fmla="*/ 67 h 468"/>
                  <a:gd name="T18" fmla="*/ 357 w 529"/>
                  <a:gd name="T19" fmla="*/ 65 h 468"/>
                  <a:gd name="T20" fmla="*/ 303 w 529"/>
                  <a:gd name="T21" fmla="*/ 90 h 468"/>
                  <a:gd name="T22" fmla="*/ 260 w 529"/>
                  <a:gd name="T23" fmla="*/ 113 h 468"/>
                  <a:gd name="T24" fmla="*/ 180 w 529"/>
                  <a:gd name="T25" fmla="*/ 99 h 468"/>
                  <a:gd name="T26" fmla="*/ 148 w 529"/>
                  <a:gd name="T27" fmla="*/ 66 h 468"/>
                  <a:gd name="T28" fmla="*/ 142 w 529"/>
                  <a:gd name="T29" fmla="*/ 42 h 468"/>
                  <a:gd name="T30" fmla="*/ 166 w 529"/>
                  <a:gd name="T31" fmla="*/ 33 h 468"/>
                  <a:gd name="T32" fmla="*/ 262 w 529"/>
                  <a:gd name="T33" fmla="*/ 36 h 468"/>
                  <a:gd name="T34" fmla="*/ 328 w 529"/>
                  <a:gd name="T35" fmla="*/ 19 h 468"/>
                  <a:gd name="T36" fmla="*/ 425 w 529"/>
                  <a:gd name="T37" fmla="*/ 11 h 468"/>
                  <a:gd name="T38" fmla="*/ 488 w 529"/>
                  <a:gd name="T39" fmla="*/ 28 h 468"/>
                  <a:gd name="T40" fmla="*/ 495 w 529"/>
                  <a:gd name="T41" fmla="*/ 63 h 468"/>
                  <a:gd name="T42" fmla="*/ 461 w 529"/>
                  <a:gd name="T43" fmla="*/ 93 h 468"/>
                  <a:gd name="T44" fmla="*/ 413 w 529"/>
                  <a:gd name="T45" fmla="*/ 137 h 468"/>
                  <a:gd name="T46" fmla="*/ 336 w 529"/>
                  <a:gd name="T47" fmla="*/ 232 h 468"/>
                  <a:gd name="T48" fmla="*/ 331 w 529"/>
                  <a:gd name="T49" fmla="*/ 239 h 468"/>
                  <a:gd name="T50" fmla="*/ 327 w 529"/>
                  <a:gd name="T51" fmla="*/ 257 h 468"/>
                  <a:gd name="T52" fmla="*/ 343 w 529"/>
                  <a:gd name="T53" fmla="*/ 257 h 468"/>
                  <a:gd name="T54" fmla="*/ 388 w 529"/>
                  <a:gd name="T55" fmla="*/ 237 h 468"/>
                  <a:gd name="T56" fmla="*/ 396 w 529"/>
                  <a:gd name="T57" fmla="*/ 234 h 468"/>
                  <a:gd name="T58" fmla="*/ 435 w 529"/>
                  <a:gd name="T59" fmla="*/ 217 h 468"/>
                  <a:gd name="T60" fmla="*/ 518 w 529"/>
                  <a:gd name="T61" fmla="*/ 223 h 468"/>
                  <a:gd name="T62" fmla="*/ 523 w 529"/>
                  <a:gd name="T63" fmla="*/ 254 h 468"/>
                  <a:gd name="T64" fmla="*/ 504 w 529"/>
                  <a:gd name="T65" fmla="*/ 273 h 468"/>
                  <a:gd name="T66" fmla="*/ 442 w 529"/>
                  <a:gd name="T67" fmla="*/ 293 h 468"/>
                  <a:gd name="T68" fmla="*/ 347 w 529"/>
                  <a:gd name="T69" fmla="*/ 322 h 468"/>
                  <a:gd name="T70" fmla="*/ 308 w 529"/>
                  <a:gd name="T71" fmla="*/ 340 h 468"/>
                  <a:gd name="T72" fmla="*/ 250 w 529"/>
                  <a:gd name="T73" fmla="*/ 363 h 468"/>
                  <a:gd name="T74" fmla="*/ 234 w 529"/>
                  <a:gd name="T75" fmla="*/ 370 h 468"/>
                  <a:gd name="T76" fmla="*/ 136 w 529"/>
                  <a:gd name="T77" fmla="*/ 429 h 468"/>
                  <a:gd name="T78" fmla="*/ 120 w 529"/>
                  <a:gd name="T79" fmla="*/ 442 h 468"/>
                  <a:gd name="T80" fmla="*/ 52 w 529"/>
                  <a:gd name="T81" fmla="*/ 452 h 468"/>
                  <a:gd name="T82" fmla="*/ 12 w 529"/>
                  <a:gd name="T83" fmla="*/ 419 h 468"/>
                  <a:gd name="T84" fmla="*/ 0 w 529"/>
                  <a:gd name="T85" fmla="*/ 39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9" h="468">
                    <a:moveTo>
                      <a:pt x="0" y="393"/>
                    </a:moveTo>
                    <a:cubicBezTo>
                      <a:pt x="5" y="371"/>
                      <a:pt x="7" y="369"/>
                      <a:pt x="29" y="365"/>
                    </a:cubicBezTo>
                    <a:cubicBezTo>
                      <a:pt x="37" y="364"/>
                      <a:pt x="47" y="362"/>
                      <a:pt x="54" y="358"/>
                    </a:cubicBezTo>
                    <a:cubicBezTo>
                      <a:pt x="90" y="340"/>
                      <a:pt x="129" y="335"/>
                      <a:pt x="166" y="323"/>
                    </a:cubicBezTo>
                    <a:cubicBezTo>
                      <a:pt x="173" y="320"/>
                      <a:pt x="180" y="316"/>
                      <a:pt x="184" y="311"/>
                    </a:cubicBezTo>
                    <a:cubicBezTo>
                      <a:pt x="208" y="283"/>
                      <a:pt x="231" y="255"/>
                      <a:pt x="254" y="227"/>
                    </a:cubicBezTo>
                    <a:cubicBezTo>
                      <a:pt x="272" y="205"/>
                      <a:pt x="291" y="184"/>
                      <a:pt x="309" y="162"/>
                    </a:cubicBezTo>
                    <a:cubicBezTo>
                      <a:pt x="330" y="135"/>
                      <a:pt x="350" y="107"/>
                      <a:pt x="370" y="78"/>
                    </a:cubicBezTo>
                    <a:cubicBezTo>
                      <a:pt x="372" y="76"/>
                      <a:pt x="372" y="68"/>
                      <a:pt x="371" y="67"/>
                    </a:cubicBezTo>
                    <a:cubicBezTo>
                      <a:pt x="367" y="64"/>
                      <a:pt x="361" y="63"/>
                      <a:pt x="357" y="65"/>
                    </a:cubicBezTo>
                    <a:cubicBezTo>
                      <a:pt x="339" y="73"/>
                      <a:pt x="321" y="82"/>
                      <a:pt x="303" y="90"/>
                    </a:cubicBezTo>
                    <a:cubicBezTo>
                      <a:pt x="289" y="98"/>
                      <a:pt x="274" y="105"/>
                      <a:pt x="260" y="113"/>
                    </a:cubicBezTo>
                    <a:cubicBezTo>
                      <a:pt x="230" y="129"/>
                      <a:pt x="204" y="119"/>
                      <a:pt x="180" y="99"/>
                    </a:cubicBezTo>
                    <a:cubicBezTo>
                      <a:pt x="168" y="90"/>
                      <a:pt x="157" y="78"/>
                      <a:pt x="148" y="66"/>
                    </a:cubicBezTo>
                    <a:cubicBezTo>
                      <a:pt x="143" y="60"/>
                      <a:pt x="139" y="47"/>
                      <a:pt x="142" y="42"/>
                    </a:cubicBezTo>
                    <a:cubicBezTo>
                      <a:pt x="146" y="36"/>
                      <a:pt x="158" y="33"/>
                      <a:pt x="166" y="33"/>
                    </a:cubicBezTo>
                    <a:cubicBezTo>
                      <a:pt x="198" y="33"/>
                      <a:pt x="230" y="38"/>
                      <a:pt x="262" y="36"/>
                    </a:cubicBezTo>
                    <a:cubicBezTo>
                      <a:pt x="284" y="35"/>
                      <a:pt x="306" y="27"/>
                      <a:pt x="328" y="19"/>
                    </a:cubicBezTo>
                    <a:cubicBezTo>
                      <a:pt x="360" y="8"/>
                      <a:pt x="391" y="0"/>
                      <a:pt x="425" y="11"/>
                    </a:cubicBezTo>
                    <a:cubicBezTo>
                      <a:pt x="446" y="17"/>
                      <a:pt x="468" y="20"/>
                      <a:pt x="488" y="28"/>
                    </a:cubicBezTo>
                    <a:cubicBezTo>
                      <a:pt x="508" y="36"/>
                      <a:pt x="510" y="47"/>
                      <a:pt x="495" y="63"/>
                    </a:cubicBezTo>
                    <a:cubicBezTo>
                      <a:pt x="485" y="74"/>
                      <a:pt x="473" y="83"/>
                      <a:pt x="461" y="93"/>
                    </a:cubicBezTo>
                    <a:cubicBezTo>
                      <a:pt x="445" y="108"/>
                      <a:pt x="427" y="121"/>
                      <a:pt x="413" y="137"/>
                    </a:cubicBezTo>
                    <a:cubicBezTo>
                      <a:pt x="386" y="168"/>
                      <a:pt x="361" y="200"/>
                      <a:pt x="336" y="232"/>
                    </a:cubicBezTo>
                    <a:cubicBezTo>
                      <a:pt x="334" y="234"/>
                      <a:pt x="331" y="237"/>
                      <a:pt x="331" y="239"/>
                    </a:cubicBezTo>
                    <a:cubicBezTo>
                      <a:pt x="329" y="245"/>
                      <a:pt x="328" y="251"/>
                      <a:pt x="327" y="257"/>
                    </a:cubicBezTo>
                    <a:cubicBezTo>
                      <a:pt x="332" y="257"/>
                      <a:pt x="339" y="259"/>
                      <a:pt x="343" y="257"/>
                    </a:cubicBezTo>
                    <a:cubicBezTo>
                      <a:pt x="358" y="251"/>
                      <a:pt x="373" y="244"/>
                      <a:pt x="388" y="237"/>
                    </a:cubicBezTo>
                    <a:cubicBezTo>
                      <a:pt x="390" y="235"/>
                      <a:pt x="393" y="235"/>
                      <a:pt x="396" y="234"/>
                    </a:cubicBezTo>
                    <a:cubicBezTo>
                      <a:pt x="409" y="228"/>
                      <a:pt x="423" y="224"/>
                      <a:pt x="435" y="217"/>
                    </a:cubicBezTo>
                    <a:cubicBezTo>
                      <a:pt x="458" y="202"/>
                      <a:pt x="498" y="204"/>
                      <a:pt x="518" y="223"/>
                    </a:cubicBezTo>
                    <a:cubicBezTo>
                      <a:pt x="528" y="232"/>
                      <a:pt x="529" y="244"/>
                      <a:pt x="523" y="254"/>
                    </a:cubicBezTo>
                    <a:cubicBezTo>
                      <a:pt x="520" y="262"/>
                      <a:pt x="512" y="269"/>
                      <a:pt x="504" y="273"/>
                    </a:cubicBezTo>
                    <a:cubicBezTo>
                      <a:pt x="484" y="281"/>
                      <a:pt x="463" y="286"/>
                      <a:pt x="442" y="293"/>
                    </a:cubicBezTo>
                    <a:cubicBezTo>
                      <a:pt x="411" y="303"/>
                      <a:pt x="379" y="312"/>
                      <a:pt x="347" y="322"/>
                    </a:cubicBezTo>
                    <a:cubicBezTo>
                      <a:pt x="334" y="327"/>
                      <a:pt x="322" y="335"/>
                      <a:pt x="308" y="340"/>
                    </a:cubicBezTo>
                    <a:cubicBezTo>
                      <a:pt x="289" y="348"/>
                      <a:pt x="270" y="355"/>
                      <a:pt x="250" y="363"/>
                    </a:cubicBezTo>
                    <a:cubicBezTo>
                      <a:pt x="245" y="365"/>
                      <a:pt x="239" y="367"/>
                      <a:pt x="234" y="370"/>
                    </a:cubicBezTo>
                    <a:cubicBezTo>
                      <a:pt x="201" y="390"/>
                      <a:pt x="169" y="409"/>
                      <a:pt x="136" y="429"/>
                    </a:cubicBezTo>
                    <a:cubicBezTo>
                      <a:pt x="130" y="433"/>
                      <a:pt x="125" y="438"/>
                      <a:pt x="120" y="442"/>
                    </a:cubicBezTo>
                    <a:cubicBezTo>
                      <a:pt x="97" y="465"/>
                      <a:pt x="79" y="468"/>
                      <a:pt x="52" y="452"/>
                    </a:cubicBezTo>
                    <a:cubicBezTo>
                      <a:pt x="37" y="444"/>
                      <a:pt x="24" y="432"/>
                      <a:pt x="12" y="419"/>
                    </a:cubicBezTo>
                    <a:cubicBezTo>
                      <a:pt x="6" y="413"/>
                      <a:pt x="4" y="402"/>
                      <a:pt x="0" y="3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90"/>
              <p:cNvSpPr/>
              <p:nvPr/>
            </p:nvSpPr>
            <p:spPr bwMode="auto">
              <a:xfrm>
                <a:off x="11498908" y="1676924"/>
                <a:ext cx="1487488" cy="1770063"/>
              </a:xfrm>
              <a:custGeom>
                <a:avLst/>
                <a:gdLst>
                  <a:gd name="T0" fmla="*/ 8 w 471"/>
                  <a:gd name="T1" fmla="*/ 550 h 560"/>
                  <a:gd name="T2" fmla="*/ 19 w 471"/>
                  <a:gd name="T3" fmla="*/ 541 h 560"/>
                  <a:gd name="T4" fmla="*/ 85 w 471"/>
                  <a:gd name="T5" fmla="*/ 512 h 560"/>
                  <a:gd name="T6" fmla="*/ 136 w 471"/>
                  <a:gd name="T7" fmla="*/ 471 h 560"/>
                  <a:gd name="T8" fmla="*/ 185 w 471"/>
                  <a:gd name="T9" fmla="*/ 420 h 560"/>
                  <a:gd name="T10" fmla="*/ 202 w 471"/>
                  <a:gd name="T11" fmla="*/ 386 h 560"/>
                  <a:gd name="T12" fmla="*/ 198 w 471"/>
                  <a:gd name="T13" fmla="*/ 382 h 560"/>
                  <a:gd name="T14" fmla="*/ 184 w 471"/>
                  <a:gd name="T15" fmla="*/ 389 h 560"/>
                  <a:gd name="T16" fmla="*/ 131 w 471"/>
                  <a:gd name="T17" fmla="*/ 429 h 560"/>
                  <a:gd name="T18" fmla="*/ 64 w 471"/>
                  <a:gd name="T19" fmla="*/ 431 h 560"/>
                  <a:gd name="T20" fmla="*/ 12 w 471"/>
                  <a:gd name="T21" fmla="*/ 396 h 560"/>
                  <a:gd name="T22" fmla="*/ 0 w 471"/>
                  <a:gd name="T23" fmla="*/ 382 h 560"/>
                  <a:gd name="T24" fmla="*/ 18 w 471"/>
                  <a:gd name="T25" fmla="*/ 370 h 560"/>
                  <a:gd name="T26" fmla="*/ 69 w 471"/>
                  <a:gd name="T27" fmla="*/ 357 h 560"/>
                  <a:gd name="T28" fmla="*/ 190 w 471"/>
                  <a:gd name="T29" fmla="*/ 301 h 560"/>
                  <a:gd name="T30" fmla="*/ 210 w 471"/>
                  <a:gd name="T31" fmla="*/ 290 h 560"/>
                  <a:gd name="T32" fmla="*/ 233 w 471"/>
                  <a:gd name="T33" fmla="*/ 251 h 560"/>
                  <a:gd name="T34" fmla="*/ 237 w 471"/>
                  <a:gd name="T35" fmla="*/ 223 h 560"/>
                  <a:gd name="T36" fmla="*/ 237 w 471"/>
                  <a:gd name="T37" fmla="*/ 200 h 560"/>
                  <a:gd name="T38" fmla="*/ 236 w 471"/>
                  <a:gd name="T39" fmla="*/ 190 h 560"/>
                  <a:gd name="T40" fmla="*/ 235 w 471"/>
                  <a:gd name="T41" fmla="*/ 103 h 560"/>
                  <a:gd name="T42" fmla="*/ 233 w 471"/>
                  <a:gd name="T43" fmla="*/ 79 h 560"/>
                  <a:gd name="T44" fmla="*/ 229 w 471"/>
                  <a:gd name="T45" fmla="*/ 58 h 560"/>
                  <a:gd name="T46" fmla="*/ 233 w 471"/>
                  <a:gd name="T47" fmla="*/ 5 h 560"/>
                  <a:gd name="T48" fmla="*/ 253 w 471"/>
                  <a:gd name="T49" fmla="*/ 3 h 560"/>
                  <a:gd name="T50" fmla="*/ 335 w 471"/>
                  <a:gd name="T51" fmla="*/ 69 h 560"/>
                  <a:gd name="T52" fmla="*/ 340 w 471"/>
                  <a:gd name="T53" fmla="*/ 101 h 560"/>
                  <a:gd name="T54" fmla="*/ 324 w 471"/>
                  <a:gd name="T55" fmla="*/ 208 h 560"/>
                  <a:gd name="T56" fmla="*/ 327 w 471"/>
                  <a:gd name="T57" fmla="*/ 222 h 560"/>
                  <a:gd name="T58" fmla="*/ 345 w 471"/>
                  <a:gd name="T59" fmla="*/ 219 h 560"/>
                  <a:gd name="T60" fmla="*/ 363 w 471"/>
                  <a:gd name="T61" fmla="*/ 205 h 560"/>
                  <a:gd name="T62" fmla="*/ 423 w 471"/>
                  <a:gd name="T63" fmla="*/ 182 h 560"/>
                  <a:gd name="T64" fmla="*/ 463 w 471"/>
                  <a:gd name="T65" fmla="*/ 199 h 560"/>
                  <a:gd name="T66" fmla="*/ 459 w 471"/>
                  <a:gd name="T67" fmla="*/ 222 h 560"/>
                  <a:gd name="T68" fmla="*/ 332 w 471"/>
                  <a:gd name="T69" fmla="*/ 289 h 560"/>
                  <a:gd name="T70" fmla="*/ 291 w 471"/>
                  <a:gd name="T71" fmla="*/ 348 h 560"/>
                  <a:gd name="T72" fmla="*/ 265 w 471"/>
                  <a:gd name="T73" fmla="*/ 414 h 560"/>
                  <a:gd name="T74" fmla="*/ 211 w 471"/>
                  <a:gd name="T75" fmla="*/ 499 h 560"/>
                  <a:gd name="T76" fmla="*/ 125 w 471"/>
                  <a:gd name="T77" fmla="*/ 547 h 560"/>
                  <a:gd name="T78" fmla="*/ 68 w 471"/>
                  <a:gd name="T79" fmla="*/ 558 h 560"/>
                  <a:gd name="T80" fmla="*/ 10 w 471"/>
                  <a:gd name="T81" fmla="*/ 555 h 560"/>
                  <a:gd name="T82" fmla="*/ 8 w 471"/>
                  <a:gd name="T83" fmla="*/ 55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1" h="560">
                    <a:moveTo>
                      <a:pt x="8" y="550"/>
                    </a:moveTo>
                    <a:cubicBezTo>
                      <a:pt x="12" y="547"/>
                      <a:pt x="15" y="543"/>
                      <a:pt x="19" y="541"/>
                    </a:cubicBezTo>
                    <a:cubicBezTo>
                      <a:pt x="41" y="531"/>
                      <a:pt x="63" y="521"/>
                      <a:pt x="85" y="512"/>
                    </a:cubicBezTo>
                    <a:cubicBezTo>
                      <a:pt x="107" y="505"/>
                      <a:pt x="121" y="488"/>
                      <a:pt x="136" y="471"/>
                    </a:cubicBezTo>
                    <a:cubicBezTo>
                      <a:pt x="152" y="454"/>
                      <a:pt x="170" y="438"/>
                      <a:pt x="185" y="420"/>
                    </a:cubicBezTo>
                    <a:cubicBezTo>
                      <a:pt x="193" y="410"/>
                      <a:pt x="196" y="397"/>
                      <a:pt x="202" y="386"/>
                    </a:cubicBezTo>
                    <a:cubicBezTo>
                      <a:pt x="201" y="385"/>
                      <a:pt x="199" y="384"/>
                      <a:pt x="198" y="382"/>
                    </a:cubicBezTo>
                    <a:cubicBezTo>
                      <a:pt x="193" y="384"/>
                      <a:pt x="188" y="386"/>
                      <a:pt x="184" y="389"/>
                    </a:cubicBezTo>
                    <a:cubicBezTo>
                      <a:pt x="166" y="402"/>
                      <a:pt x="149" y="416"/>
                      <a:pt x="131" y="429"/>
                    </a:cubicBezTo>
                    <a:cubicBezTo>
                      <a:pt x="110" y="444"/>
                      <a:pt x="84" y="445"/>
                      <a:pt x="64" y="431"/>
                    </a:cubicBezTo>
                    <a:cubicBezTo>
                      <a:pt x="47" y="419"/>
                      <a:pt x="29" y="408"/>
                      <a:pt x="12" y="396"/>
                    </a:cubicBezTo>
                    <a:cubicBezTo>
                      <a:pt x="7" y="392"/>
                      <a:pt x="4" y="387"/>
                      <a:pt x="0" y="382"/>
                    </a:cubicBezTo>
                    <a:cubicBezTo>
                      <a:pt x="6" y="378"/>
                      <a:pt x="11" y="372"/>
                      <a:pt x="18" y="370"/>
                    </a:cubicBezTo>
                    <a:cubicBezTo>
                      <a:pt x="35" y="365"/>
                      <a:pt x="53" y="364"/>
                      <a:pt x="69" y="357"/>
                    </a:cubicBezTo>
                    <a:cubicBezTo>
                      <a:pt x="110" y="339"/>
                      <a:pt x="150" y="319"/>
                      <a:pt x="190" y="301"/>
                    </a:cubicBezTo>
                    <a:cubicBezTo>
                      <a:pt x="197" y="297"/>
                      <a:pt x="204" y="294"/>
                      <a:pt x="210" y="290"/>
                    </a:cubicBezTo>
                    <a:cubicBezTo>
                      <a:pt x="224" y="281"/>
                      <a:pt x="234" y="270"/>
                      <a:pt x="233" y="251"/>
                    </a:cubicBezTo>
                    <a:cubicBezTo>
                      <a:pt x="232" y="242"/>
                      <a:pt x="236" y="233"/>
                      <a:pt x="237" y="223"/>
                    </a:cubicBezTo>
                    <a:cubicBezTo>
                      <a:pt x="238" y="215"/>
                      <a:pt x="237" y="208"/>
                      <a:pt x="237" y="200"/>
                    </a:cubicBezTo>
                    <a:cubicBezTo>
                      <a:pt x="237" y="197"/>
                      <a:pt x="235" y="193"/>
                      <a:pt x="236" y="190"/>
                    </a:cubicBezTo>
                    <a:cubicBezTo>
                      <a:pt x="244" y="161"/>
                      <a:pt x="243" y="132"/>
                      <a:pt x="235" y="103"/>
                    </a:cubicBezTo>
                    <a:cubicBezTo>
                      <a:pt x="233" y="95"/>
                      <a:pt x="234" y="87"/>
                      <a:pt x="233" y="79"/>
                    </a:cubicBezTo>
                    <a:cubicBezTo>
                      <a:pt x="232" y="72"/>
                      <a:pt x="229" y="65"/>
                      <a:pt x="229" y="58"/>
                    </a:cubicBezTo>
                    <a:cubicBezTo>
                      <a:pt x="229" y="40"/>
                      <a:pt x="230" y="23"/>
                      <a:pt x="233" y="5"/>
                    </a:cubicBezTo>
                    <a:cubicBezTo>
                      <a:pt x="234" y="3"/>
                      <a:pt x="249" y="0"/>
                      <a:pt x="253" y="3"/>
                    </a:cubicBezTo>
                    <a:cubicBezTo>
                      <a:pt x="283" y="22"/>
                      <a:pt x="313" y="41"/>
                      <a:pt x="335" y="69"/>
                    </a:cubicBezTo>
                    <a:cubicBezTo>
                      <a:pt x="341" y="76"/>
                      <a:pt x="341" y="90"/>
                      <a:pt x="340" y="101"/>
                    </a:cubicBezTo>
                    <a:cubicBezTo>
                      <a:pt x="335" y="137"/>
                      <a:pt x="329" y="173"/>
                      <a:pt x="324" y="208"/>
                    </a:cubicBezTo>
                    <a:cubicBezTo>
                      <a:pt x="323" y="213"/>
                      <a:pt x="325" y="222"/>
                      <a:pt x="327" y="222"/>
                    </a:cubicBezTo>
                    <a:cubicBezTo>
                      <a:pt x="333" y="223"/>
                      <a:pt x="340" y="222"/>
                      <a:pt x="345" y="219"/>
                    </a:cubicBezTo>
                    <a:cubicBezTo>
                      <a:pt x="351" y="215"/>
                      <a:pt x="357" y="210"/>
                      <a:pt x="363" y="205"/>
                    </a:cubicBezTo>
                    <a:cubicBezTo>
                      <a:pt x="380" y="191"/>
                      <a:pt x="397" y="180"/>
                      <a:pt x="423" y="182"/>
                    </a:cubicBezTo>
                    <a:cubicBezTo>
                      <a:pt x="440" y="183"/>
                      <a:pt x="452" y="187"/>
                      <a:pt x="463" y="199"/>
                    </a:cubicBezTo>
                    <a:cubicBezTo>
                      <a:pt x="471" y="207"/>
                      <a:pt x="469" y="218"/>
                      <a:pt x="459" y="222"/>
                    </a:cubicBezTo>
                    <a:cubicBezTo>
                      <a:pt x="413" y="238"/>
                      <a:pt x="374" y="265"/>
                      <a:pt x="332" y="289"/>
                    </a:cubicBezTo>
                    <a:cubicBezTo>
                      <a:pt x="307" y="304"/>
                      <a:pt x="300" y="325"/>
                      <a:pt x="291" y="348"/>
                    </a:cubicBezTo>
                    <a:cubicBezTo>
                      <a:pt x="282" y="370"/>
                      <a:pt x="275" y="393"/>
                      <a:pt x="265" y="414"/>
                    </a:cubicBezTo>
                    <a:cubicBezTo>
                      <a:pt x="250" y="444"/>
                      <a:pt x="236" y="475"/>
                      <a:pt x="211" y="499"/>
                    </a:cubicBezTo>
                    <a:cubicBezTo>
                      <a:pt x="187" y="522"/>
                      <a:pt x="157" y="538"/>
                      <a:pt x="125" y="547"/>
                    </a:cubicBezTo>
                    <a:cubicBezTo>
                      <a:pt x="106" y="552"/>
                      <a:pt x="87" y="557"/>
                      <a:pt x="68" y="558"/>
                    </a:cubicBezTo>
                    <a:cubicBezTo>
                      <a:pt x="49" y="560"/>
                      <a:pt x="29" y="556"/>
                      <a:pt x="10" y="555"/>
                    </a:cubicBezTo>
                    <a:cubicBezTo>
                      <a:pt x="9" y="554"/>
                      <a:pt x="9" y="552"/>
                      <a:pt x="8" y="5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91"/>
              <p:cNvSpPr/>
              <p:nvPr/>
            </p:nvSpPr>
            <p:spPr bwMode="auto">
              <a:xfrm>
                <a:off x="5672783" y="2015062"/>
                <a:ext cx="741363" cy="1412875"/>
              </a:xfrm>
              <a:custGeom>
                <a:avLst/>
                <a:gdLst>
                  <a:gd name="T0" fmla="*/ 192 w 235"/>
                  <a:gd name="T1" fmla="*/ 241 h 447"/>
                  <a:gd name="T2" fmla="*/ 211 w 235"/>
                  <a:gd name="T3" fmla="*/ 220 h 447"/>
                  <a:gd name="T4" fmla="*/ 233 w 235"/>
                  <a:gd name="T5" fmla="*/ 216 h 447"/>
                  <a:gd name="T6" fmla="*/ 231 w 235"/>
                  <a:gd name="T7" fmla="*/ 234 h 447"/>
                  <a:gd name="T8" fmla="*/ 185 w 235"/>
                  <a:gd name="T9" fmla="*/ 341 h 447"/>
                  <a:gd name="T10" fmla="*/ 173 w 235"/>
                  <a:gd name="T11" fmla="*/ 399 h 447"/>
                  <a:gd name="T12" fmla="*/ 122 w 235"/>
                  <a:gd name="T13" fmla="*/ 442 h 447"/>
                  <a:gd name="T14" fmla="*/ 77 w 235"/>
                  <a:gd name="T15" fmla="*/ 440 h 447"/>
                  <a:gd name="T16" fmla="*/ 57 w 235"/>
                  <a:gd name="T17" fmla="*/ 430 h 447"/>
                  <a:gd name="T18" fmla="*/ 63 w 235"/>
                  <a:gd name="T19" fmla="*/ 411 h 447"/>
                  <a:gd name="T20" fmla="*/ 103 w 235"/>
                  <a:gd name="T21" fmla="*/ 346 h 447"/>
                  <a:gd name="T22" fmla="*/ 126 w 235"/>
                  <a:gd name="T23" fmla="*/ 285 h 447"/>
                  <a:gd name="T24" fmla="*/ 108 w 235"/>
                  <a:gd name="T25" fmla="*/ 291 h 447"/>
                  <a:gd name="T26" fmla="*/ 41 w 235"/>
                  <a:gd name="T27" fmla="*/ 275 h 447"/>
                  <a:gd name="T28" fmla="*/ 43 w 235"/>
                  <a:gd name="T29" fmla="*/ 261 h 447"/>
                  <a:gd name="T30" fmla="*/ 62 w 235"/>
                  <a:gd name="T31" fmla="*/ 248 h 447"/>
                  <a:gd name="T32" fmla="*/ 108 w 235"/>
                  <a:gd name="T33" fmla="*/ 220 h 447"/>
                  <a:gd name="T34" fmla="*/ 130 w 235"/>
                  <a:gd name="T35" fmla="*/ 179 h 447"/>
                  <a:gd name="T36" fmla="*/ 134 w 235"/>
                  <a:gd name="T37" fmla="*/ 106 h 447"/>
                  <a:gd name="T38" fmla="*/ 131 w 235"/>
                  <a:gd name="T39" fmla="*/ 92 h 447"/>
                  <a:gd name="T40" fmla="*/ 117 w 235"/>
                  <a:gd name="T41" fmla="*/ 97 h 447"/>
                  <a:gd name="T42" fmla="*/ 116 w 235"/>
                  <a:gd name="T43" fmla="*/ 98 h 447"/>
                  <a:gd name="T44" fmla="*/ 12 w 235"/>
                  <a:gd name="T45" fmla="*/ 97 h 447"/>
                  <a:gd name="T46" fmla="*/ 12 w 235"/>
                  <a:gd name="T47" fmla="*/ 68 h 447"/>
                  <a:gd name="T48" fmla="*/ 44 w 235"/>
                  <a:gd name="T49" fmla="*/ 55 h 447"/>
                  <a:gd name="T50" fmla="*/ 88 w 235"/>
                  <a:gd name="T51" fmla="*/ 31 h 447"/>
                  <a:gd name="T52" fmla="*/ 138 w 235"/>
                  <a:gd name="T53" fmla="*/ 3 h 447"/>
                  <a:gd name="T54" fmla="*/ 170 w 235"/>
                  <a:gd name="T55" fmla="*/ 3 h 447"/>
                  <a:gd name="T56" fmla="*/ 207 w 235"/>
                  <a:gd name="T57" fmla="*/ 23 h 447"/>
                  <a:gd name="T58" fmla="*/ 217 w 235"/>
                  <a:gd name="T59" fmla="*/ 50 h 447"/>
                  <a:gd name="T60" fmla="*/ 195 w 235"/>
                  <a:gd name="T61" fmla="*/ 122 h 447"/>
                  <a:gd name="T62" fmla="*/ 189 w 235"/>
                  <a:gd name="T63" fmla="*/ 178 h 447"/>
                  <a:gd name="T64" fmla="*/ 190 w 235"/>
                  <a:gd name="T65" fmla="*/ 229 h 447"/>
                  <a:gd name="T66" fmla="*/ 192 w 235"/>
                  <a:gd name="T67" fmla="*/ 241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5" h="447">
                    <a:moveTo>
                      <a:pt x="192" y="241"/>
                    </a:moveTo>
                    <a:cubicBezTo>
                      <a:pt x="201" y="232"/>
                      <a:pt x="206" y="226"/>
                      <a:pt x="211" y="220"/>
                    </a:cubicBezTo>
                    <a:cubicBezTo>
                      <a:pt x="217" y="212"/>
                      <a:pt x="225" y="210"/>
                      <a:pt x="233" y="216"/>
                    </a:cubicBezTo>
                    <a:cubicBezTo>
                      <a:pt x="235" y="218"/>
                      <a:pt x="234" y="228"/>
                      <a:pt x="231" y="234"/>
                    </a:cubicBezTo>
                    <a:cubicBezTo>
                      <a:pt x="216" y="270"/>
                      <a:pt x="202" y="306"/>
                      <a:pt x="185" y="341"/>
                    </a:cubicBezTo>
                    <a:cubicBezTo>
                      <a:pt x="176" y="359"/>
                      <a:pt x="176" y="379"/>
                      <a:pt x="173" y="399"/>
                    </a:cubicBezTo>
                    <a:cubicBezTo>
                      <a:pt x="169" y="422"/>
                      <a:pt x="156" y="447"/>
                      <a:pt x="122" y="442"/>
                    </a:cubicBezTo>
                    <a:cubicBezTo>
                      <a:pt x="107" y="441"/>
                      <a:pt x="92" y="442"/>
                      <a:pt x="77" y="440"/>
                    </a:cubicBezTo>
                    <a:cubicBezTo>
                      <a:pt x="70" y="439"/>
                      <a:pt x="61" y="435"/>
                      <a:pt x="57" y="430"/>
                    </a:cubicBezTo>
                    <a:cubicBezTo>
                      <a:pt x="55" y="426"/>
                      <a:pt x="60" y="417"/>
                      <a:pt x="63" y="411"/>
                    </a:cubicBezTo>
                    <a:cubicBezTo>
                      <a:pt x="76" y="389"/>
                      <a:pt x="92" y="368"/>
                      <a:pt x="103" y="346"/>
                    </a:cubicBezTo>
                    <a:cubicBezTo>
                      <a:pt x="113" y="328"/>
                      <a:pt x="117" y="309"/>
                      <a:pt x="126" y="285"/>
                    </a:cubicBezTo>
                    <a:cubicBezTo>
                      <a:pt x="117" y="288"/>
                      <a:pt x="112" y="288"/>
                      <a:pt x="108" y="291"/>
                    </a:cubicBezTo>
                    <a:cubicBezTo>
                      <a:pt x="84" y="306"/>
                      <a:pt x="55" y="300"/>
                      <a:pt x="41" y="275"/>
                    </a:cubicBezTo>
                    <a:cubicBezTo>
                      <a:pt x="39" y="272"/>
                      <a:pt x="40" y="264"/>
                      <a:pt x="43" y="261"/>
                    </a:cubicBezTo>
                    <a:cubicBezTo>
                      <a:pt x="48" y="256"/>
                      <a:pt x="55" y="252"/>
                      <a:pt x="62" y="248"/>
                    </a:cubicBezTo>
                    <a:cubicBezTo>
                      <a:pt x="77" y="238"/>
                      <a:pt x="93" y="230"/>
                      <a:pt x="108" y="220"/>
                    </a:cubicBezTo>
                    <a:cubicBezTo>
                      <a:pt x="123" y="211"/>
                      <a:pt x="129" y="196"/>
                      <a:pt x="130" y="179"/>
                    </a:cubicBezTo>
                    <a:cubicBezTo>
                      <a:pt x="132" y="154"/>
                      <a:pt x="133" y="130"/>
                      <a:pt x="134" y="106"/>
                    </a:cubicBezTo>
                    <a:cubicBezTo>
                      <a:pt x="135" y="101"/>
                      <a:pt x="132" y="96"/>
                      <a:pt x="131" y="92"/>
                    </a:cubicBezTo>
                    <a:cubicBezTo>
                      <a:pt x="127" y="93"/>
                      <a:pt x="122" y="95"/>
                      <a:pt x="117" y="97"/>
                    </a:cubicBezTo>
                    <a:cubicBezTo>
                      <a:pt x="116" y="97"/>
                      <a:pt x="116" y="98"/>
                      <a:pt x="116" y="98"/>
                    </a:cubicBezTo>
                    <a:cubicBezTo>
                      <a:pt x="75" y="126"/>
                      <a:pt x="51" y="126"/>
                      <a:pt x="12" y="97"/>
                    </a:cubicBezTo>
                    <a:cubicBezTo>
                      <a:pt x="1" y="89"/>
                      <a:pt x="0" y="75"/>
                      <a:pt x="12" y="68"/>
                    </a:cubicBezTo>
                    <a:cubicBezTo>
                      <a:pt x="22" y="63"/>
                      <a:pt x="33" y="60"/>
                      <a:pt x="44" y="55"/>
                    </a:cubicBezTo>
                    <a:cubicBezTo>
                      <a:pt x="59" y="48"/>
                      <a:pt x="73" y="39"/>
                      <a:pt x="88" y="31"/>
                    </a:cubicBezTo>
                    <a:cubicBezTo>
                      <a:pt x="105" y="22"/>
                      <a:pt x="121" y="11"/>
                      <a:pt x="138" y="3"/>
                    </a:cubicBezTo>
                    <a:cubicBezTo>
                      <a:pt x="148" y="0"/>
                      <a:pt x="161" y="0"/>
                      <a:pt x="170" y="3"/>
                    </a:cubicBezTo>
                    <a:cubicBezTo>
                      <a:pt x="183" y="8"/>
                      <a:pt x="194" y="17"/>
                      <a:pt x="207" y="23"/>
                    </a:cubicBezTo>
                    <a:cubicBezTo>
                      <a:pt x="218" y="29"/>
                      <a:pt x="220" y="38"/>
                      <a:pt x="217" y="50"/>
                    </a:cubicBezTo>
                    <a:cubicBezTo>
                      <a:pt x="209" y="74"/>
                      <a:pt x="200" y="98"/>
                      <a:pt x="195" y="122"/>
                    </a:cubicBezTo>
                    <a:cubicBezTo>
                      <a:pt x="190" y="140"/>
                      <a:pt x="185" y="161"/>
                      <a:pt x="189" y="178"/>
                    </a:cubicBezTo>
                    <a:cubicBezTo>
                      <a:pt x="194" y="196"/>
                      <a:pt x="204" y="211"/>
                      <a:pt x="190" y="229"/>
                    </a:cubicBezTo>
                    <a:cubicBezTo>
                      <a:pt x="190" y="230"/>
                      <a:pt x="191" y="234"/>
                      <a:pt x="192" y="2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92"/>
              <p:cNvSpPr/>
              <p:nvPr/>
            </p:nvSpPr>
            <p:spPr bwMode="auto">
              <a:xfrm>
                <a:off x="2908945" y="2311924"/>
                <a:ext cx="542925" cy="1382713"/>
              </a:xfrm>
              <a:custGeom>
                <a:avLst/>
                <a:gdLst>
                  <a:gd name="T0" fmla="*/ 0 w 172"/>
                  <a:gd name="T1" fmla="*/ 361 h 437"/>
                  <a:gd name="T2" fmla="*/ 20 w 172"/>
                  <a:gd name="T3" fmla="*/ 311 h 437"/>
                  <a:gd name="T4" fmla="*/ 31 w 172"/>
                  <a:gd name="T5" fmla="*/ 277 h 437"/>
                  <a:gd name="T6" fmla="*/ 48 w 172"/>
                  <a:gd name="T7" fmla="*/ 171 h 437"/>
                  <a:gd name="T8" fmla="*/ 57 w 172"/>
                  <a:gd name="T9" fmla="*/ 141 h 437"/>
                  <a:gd name="T10" fmla="*/ 73 w 172"/>
                  <a:gd name="T11" fmla="*/ 24 h 437"/>
                  <a:gd name="T12" fmla="*/ 81 w 172"/>
                  <a:gd name="T13" fmla="*/ 3 h 437"/>
                  <a:gd name="T14" fmla="*/ 100 w 172"/>
                  <a:gd name="T15" fmla="*/ 6 h 437"/>
                  <a:gd name="T16" fmla="*/ 130 w 172"/>
                  <a:gd name="T17" fmla="*/ 44 h 437"/>
                  <a:gd name="T18" fmla="*/ 158 w 172"/>
                  <a:gd name="T19" fmla="*/ 56 h 437"/>
                  <a:gd name="T20" fmla="*/ 169 w 172"/>
                  <a:gd name="T21" fmla="*/ 57 h 437"/>
                  <a:gd name="T22" fmla="*/ 171 w 172"/>
                  <a:gd name="T23" fmla="*/ 69 h 437"/>
                  <a:gd name="T24" fmla="*/ 146 w 172"/>
                  <a:gd name="T25" fmla="*/ 134 h 437"/>
                  <a:gd name="T26" fmla="*/ 132 w 172"/>
                  <a:gd name="T27" fmla="*/ 173 h 437"/>
                  <a:gd name="T28" fmla="*/ 111 w 172"/>
                  <a:gd name="T29" fmla="*/ 260 h 437"/>
                  <a:gd name="T30" fmla="*/ 98 w 172"/>
                  <a:gd name="T31" fmla="*/ 320 h 437"/>
                  <a:gd name="T32" fmla="*/ 83 w 172"/>
                  <a:gd name="T33" fmla="*/ 403 h 437"/>
                  <a:gd name="T34" fmla="*/ 28 w 172"/>
                  <a:gd name="T35" fmla="*/ 418 h 437"/>
                  <a:gd name="T36" fmla="*/ 0 w 172"/>
                  <a:gd name="T37" fmla="*/ 36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437">
                    <a:moveTo>
                      <a:pt x="0" y="361"/>
                    </a:moveTo>
                    <a:cubicBezTo>
                      <a:pt x="5" y="349"/>
                      <a:pt x="13" y="330"/>
                      <a:pt x="20" y="311"/>
                    </a:cubicBezTo>
                    <a:cubicBezTo>
                      <a:pt x="24" y="300"/>
                      <a:pt x="28" y="289"/>
                      <a:pt x="31" y="277"/>
                    </a:cubicBezTo>
                    <a:cubicBezTo>
                      <a:pt x="37" y="242"/>
                      <a:pt x="42" y="207"/>
                      <a:pt x="48" y="171"/>
                    </a:cubicBezTo>
                    <a:cubicBezTo>
                      <a:pt x="50" y="161"/>
                      <a:pt x="53" y="151"/>
                      <a:pt x="57" y="141"/>
                    </a:cubicBezTo>
                    <a:cubicBezTo>
                      <a:pt x="70" y="103"/>
                      <a:pt x="77" y="65"/>
                      <a:pt x="73" y="24"/>
                    </a:cubicBezTo>
                    <a:cubicBezTo>
                      <a:pt x="72" y="17"/>
                      <a:pt x="76" y="8"/>
                      <a:pt x="81" y="3"/>
                    </a:cubicBezTo>
                    <a:cubicBezTo>
                      <a:pt x="84" y="0"/>
                      <a:pt x="96" y="2"/>
                      <a:pt x="100" y="6"/>
                    </a:cubicBezTo>
                    <a:cubicBezTo>
                      <a:pt x="111" y="18"/>
                      <a:pt x="122" y="30"/>
                      <a:pt x="130" y="44"/>
                    </a:cubicBezTo>
                    <a:cubicBezTo>
                      <a:pt x="140" y="61"/>
                      <a:pt x="139" y="62"/>
                      <a:pt x="158" y="56"/>
                    </a:cubicBezTo>
                    <a:cubicBezTo>
                      <a:pt x="161" y="55"/>
                      <a:pt x="167" y="55"/>
                      <a:pt x="169" y="57"/>
                    </a:cubicBezTo>
                    <a:cubicBezTo>
                      <a:pt x="171" y="60"/>
                      <a:pt x="172" y="66"/>
                      <a:pt x="171" y="69"/>
                    </a:cubicBezTo>
                    <a:cubicBezTo>
                      <a:pt x="163" y="91"/>
                      <a:pt x="154" y="112"/>
                      <a:pt x="146" y="134"/>
                    </a:cubicBezTo>
                    <a:cubicBezTo>
                      <a:pt x="141" y="147"/>
                      <a:pt x="136" y="160"/>
                      <a:pt x="132" y="173"/>
                    </a:cubicBezTo>
                    <a:cubicBezTo>
                      <a:pt x="125" y="202"/>
                      <a:pt x="118" y="231"/>
                      <a:pt x="111" y="260"/>
                    </a:cubicBezTo>
                    <a:cubicBezTo>
                      <a:pt x="107" y="280"/>
                      <a:pt x="102" y="300"/>
                      <a:pt x="98" y="320"/>
                    </a:cubicBezTo>
                    <a:cubicBezTo>
                      <a:pt x="93" y="347"/>
                      <a:pt x="89" y="375"/>
                      <a:pt x="83" y="403"/>
                    </a:cubicBezTo>
                    <a:cubicBezTo>
                      <a:pt x="77" y="429"/>
                      <a:pt x="47" y="437"/>
                      <a:pt x="28" y="418"/>
                    </a:cubicBezTo>
                    <a:cubicBezTo>
                      <a:pt x="15" y="404"/>
                      <a:pt x="1" y="390"/>
                      <a:pt x="0" y="3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93"/>
              <p:cNvSpPr/>
              <p:nvPr/>
            </p:nvSpPr>
            <p:spPr bwMode="auto">
              <a:xfrm>
                <a:off x="-942" y="4447112"/>
                <a:ext cx="750888" cy="711200"/>
              </a:xfrm>
              <a:custGeom>
                <a:avLst/>
                <a:gdLst>
                  <a:gd name="T0" fmla="*/ 121 w 238"/>
                  <a:gd name="T1" fmla="*/ 44 h 225"/>
                  <a:gd name="T2" fmla="*/ 111 w 238"/>
                  <a:gd name="T3" fmla="*/ 72 h 225"/>
                  <a:gd name="T4" fmla="*/ 84 w 238"/>
                  <a:gd name="T5" fmla="*/ 191 h 225"/>
                  <a:gd name="T6" fmla="*/ 78 w 238"/>
                  <a:gd name="T7" fmla="*/ 211 h 225"/>
                  <a:gd name="T8" fmla="*/ 64 w 238"/>
                  <a:gd name="T9" fmla="*/ 225 h 225"/>
                  <a:gd name="T10" fmla="*/ 45 w 238"/>
                  <a:gd name="T11" fmla="*/ 211 h 225"/>
                  <a:gd name="T12" fmla="*/ 40 w 238"/>
                  <a:gd name="T13" fmla="*/ 183 h 225"/>
                  <a:gd name="T14" fmla="*/ 3 w 238"/>
                  <a:gd name="T15" fmla="*/ 19 h 225"/>
                  <a:gd name="T16" fmla="*/ 19 w 238"/>
                  <a:gd name="T17" fmla="*/ 4 h 225"/>
                  <a:gd name="T18" fmla="*/ 27 w 238"/>
                  <a:gd name="T19" fmla="*/ 13 h 225"/>
                  <a:gd name="T20" fmla="*/ 44 w 238"/>
                  <a:gd name="T21" fmla="*/ 98 h 225"/>
                  <a:gd name="T22" fmla="*/ 59 w 238"/>
                  <a:gd name="T23" fmla="*/ 167 h 225"/>
                  <a:gd name="T24" fmla="*/ 64 w 238"/>
                  <a:gd name="T25" fmla="*/ 177 h 225"/>
                  <a:gd name="T26" fmla="*/ 75 w 238"/>
                  <a:gd name="T27" fmla="*/ 131 h 225"/>
                  <a:gd name="T28" fmla="*/ 101 w 238"/>
                  <a:gd name="T29" fmla="*/ 16 h 225"/>
                  <a:gd name="T30" fmla="*/ 120 w 238"/>
                  <a:gd name="T31" fmla="*/ 3 h 225"/>
                  <a:gd name="T32" fmla="*/ 140 w 238"/>
                  <a:gd name="T33" fmla="*/ 17 h 225"/>
                  <a:gd name="T34" fmla="*/ 172 w 238"/>
                  <a:gd name="T35" fmla="*/ 158 h 225"/>
                  <a:gd name="T36" fmla="*/ 180 w 238"/>
                  <a:gd name="T37" fmla="*/ 172 h 225"/>
                  <a:gd name="T38" fmla="*/ 190 w 238"/>
                  <a:gd name="T39" fmla="*/ 122 h 225"/>
                  <a:gd name="T40" fmla="*/ 212 w 238"/>
                  <a:gd name="T41" fmla="*/ 17 h 225"/>
                  <a:gd name="T42" fmla="*/ 233 w 238"/>
                  <a:gd name="T43" fmla="*/ 5 h 225"/>
                  <a:gd name="T44" fmla="*/ 237 w 238"/>
                  <a:gd name="T45" fmla="*/ 23 h 225"/>
                  <a:gd name="T46" fmla="*/ 205 w 238"/>
                  <a:gd name="T47" fmla="*/ 160 h 225"/>
                  <a:gd name="T48" fmla="*/ 191 w 238"/>
                  <a:gd name="T49" fmla="*/ 215 h 225"/>
                  <a:gd name="T50" fmla="*/ 179 w 238"/>
                  <a:gd name="T51" fmla="*/ 224 h 225"/>
                  <a:gd name="T52" fmla="*/ 164 w 238"/>
                  <a:gd name="T53" fmla="*/ 216 h 225"/>
                  <a:gd name="T54" fmla="*/ 152 w 238"/>
                  <a:gd name="T55" fmla="*/ 173 h 225"/>
                  <a:gd name="T56" fmla="*/ 125 w 238"/>
                  <a:gd name="T57" fmla="*/ 55 h 225"/>
                  <a:gd name="T58" fmla="*/ 121 w 238"/>
                  <a:gd name="T59" fmla="*/ 4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8" h="225">
                    <a:moveTo>
                      <a:pt x="121" y="44"/>
                    </a:moveTo>
                    <a:cubicBezTo>
                      <a:pt x="116" y="56"/>
                      <a:pt x="113" y="64"/>
                      <a:pt x="111" y="72"/>
                    </a:cubicBezTo>
                    <a:cubicBezTo>
                      <a:pt x="102" y="112"/>
                      <a:pt x="93" y="152"/>
                      <a:pt x="84" y="191"/>
                    </a:cubicBezTo>
                    <a:cubicBezTo>
                      <a:pt x="82" y="198"/>
                      <a:pt x="79" y="205"/>
                      <a:pt x="78" y="211"/>
                    </a:cubicBezTo>
                    <a:cubicBezTo>
                      <a:pt x="76" y="220"/>
                      <a:pt x="74" y="225"/>
                      <a:pt x="64" y="225"/>
                    </a:cubicBezTo>
                    <a:cubicBezTo>
                      <a:pt x="53" y="225"/>
                      <a:pt x="48" y="221"/>
                      <a:pt x="45" y="211"/>
                    </a:cubicBezTo>
                    <a:cubicBezTo>
                      <a:pt x="43" y="202"/>
                      <a:pt x="42" y="193"/>
                      <a:pt x="40" y="183"/>
                    </a:cubicBezTo>
                    <a:cubicBezTo>
                      <a:pt x="27" y="128"/>
                      <a:pt x="15" y="74"/>
                      <a:pt x="3" y="19"/>
                    </a:cubicBezTo>
                    <a:cubicBezTo>
                      <a:pt x="0" y="6"/>
                      <a:pt x="6" y="1"/>
                      <a:pt x="19" y="4"/>
                    </a:cubicBezTo>
                    <a:cubicBezTo>
                      <a:pt x="22" y="5"/>
                      <a:pt x="26" y="9"/>
                      <a:pt x="27" y="13"/>
                    </a:cubicBezTo>
                    <a:cubicBezTo>
                      <a:pt x="33" y="41"/>
                      <a:pt x="38" y="70"/>
                      <a:pt x="44" y="98"/>
                    </a:cubicBezTo>
                    <a:cubicBezTo>
                      <a:pt x="49" y="121"/>
                      <a:pt x="54" y="144"/>
                      <a:pt x="59" y="167"/>
                    </a:cubicBezTo>
                    <a:cubicBezTo>
                      <a:pt x="60" y="169"/>
                      <a:pt x="62" y="172"/>
                      <a:pt x="64" y="177"/>
                    </a:cubicBezTo>
                    <a:cubicBezTo>
                      <a:pt x="68" y="160"/>
                      <a:pt x="72" y="145"/>
                      <a:pt x="75" y="131"/>
                    </a:cubicBezTo>
                    <a:cubicBezTo>
                      <a:pt x="84" y="93"/>
                      <a:pt x="93" y="55"/>
                      <a:pt x="101" y="16"/>
                    </a:cubicBezTo>
                    <a:cubicBezTo>
                      <a:pt x="104" y="5"/>
                      <a:pt x="111" y="4"/>
                      <a:pt x="120" y="3"/>
                    </a:cubicBezTo>
                    <a:cubicBezTo>
                      <a:pt x="130" y="3"/>
                      <a:pt x="137" y="5"/>
                      <a:pt x="140" y="17"/>
                    </a:cubicBezTo>
                    <a:cubicBezTo>
                      <a:pt x="151" y="64"/>
                      <a:pt x="162" y="111"/>
                      <a:pt x="172" y="158"/>
                    </a:cubicBezTo>
                    <a:cubicBezTo>
                      <a:pt x="173" y="163"/>
                      <a:pt x="175" y="167"/>
                      <a:pt x="180" y="172"/>
                    </a:cubicBezTo>
                    <a:cubicBezTo>
                      <a:pt x="183" y="155"/>
                      <a:pt x="187" y="139"/>
                      <a:pt x="190" y="122"/>
                    </a:cubicBezTo>
                    <a:cubicBezTo>
                      <a:pt x="198" y="87"/>
                      <a:pt x="205" y="52"/>
                      <a:pt x="212" y="17"/>
                    </a:cubicBezTo>
                    <a:cubicBezTo>
                      <a:pt x="215" y="4"/>
                      <a:pt x="223" y="0"/>
                      <a:pt x="233" y="5"/>
                    </a:cubicBezTo>
                    <a:cubicBezTo>
                      <a:pt x="236" y="6"/>
                      <a:pt x="238" y="17"/>
                      <a:pt x="237" y="23"/>
                    </a:cubicBezTo>
                    <a:cubicBezTo>
                      <a:pt x="227" y="69"/>
                      <a:pt x="216" y="114"/>
                      <a:pt x="205" y="160"/>
                    </a:cubicBezTo>
                    <a:cubicBezTo>
                      <a:pt x="201" y="178"/>
                      <a:pt x="196" y="197"/>
                      <a:pt x="191" y="215"/>
                    </a:cubicBezTo>
                    <a:cubicBezTo>
                      <a:pt x="189" y="219"/>
                      <a:pt x="183" y="224"/>
                      <a:pt x="179" y="224"/>
                    </a:cubicBezTo>
                    <a:cubicBezTo>
                      <a:pt x="174" y="224"/>
                      <a:pt x="166" y="220"/>
                      <a:pt x="164" y="216"/>
                    </a:cubicBezTo>
                    <a:cubicBezTo>
                      <a:pt x="159" y="202"/>
                      <a:pt x="155" y="188"/>
                      <a:pt x="152" y="173"/>
                    </a:cubicBezTo>
                    <a:cubicBezTo>
                      <a:pt x="143" y="134"/>
                      <a:pt x="134" y="95"/>
                      <a:pt x="125" y="55"/>
                    </a:cubicBezTo>
                    <a:cubicBezTo>
                      <a:pt x="125" y="53"/>
                      <a:pt x="123" y="50"/>
                      <a:pt x="1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94"/>
              <p:cNvSpPr/>
              <p:nvPr/>
            </p:nvSpPr>
            <p:spPr bwMode="auto">
              <a:xfrm>
                <a:off x="12478395" y="2719912"/>
                <a:ext cx="839788" cy="676275"/>
              </a:xfrm>
              <a:custGeom>
                <a:avLst/>
                <a:gdLst>
                  <a:gd name="T0" fmla="*/ 266 w 266"/>
                  <a:gd name="T1" fmla="*/ 151 h 214"/>
                  <a:gd name="T2" fmla="*/ 243 w 266"/>
                  <a:gd name="T3" fmla="*/ 167 h 214"/>
                  <a:gd name="T4" fmla="*/ 146 w 266"/>
                  <a:gd name="T5" fmla="*/ 203 h 214"/>
                  <a:gd name="T6" fmla="*/ 79 w 266"/>
                  <a:gd name="T7" fmla="*/ 176 h 214"/>
                  <a:gd name="T8" fmla="*/ 25 w 266"/>
                  <a:gd name="T9" fmla="*/ 71 h 214"/>
                  <a:gd name="T10" fmla="*/ 2 w 266"/>
                  <a:gd name="T11" fmla="*/ 25 h 214"/>
                  <a:gd name="T12" fmla="*/ 5 w 266"/>
                  <a:gd name="T13" fmla="*/ 2 h 214"/>
                  <a:gd name="T14" fmla="*/ 24 w 266"/>
                  <a:gd name="T15" fmla="*/ 3 h 214"/>
                  <a:gd name="T16" fmla="*/ 41 w 266"/>
                  <a:gd name="T17" fmla="*/ 16 h 214"/>
                  <a:gd name="T18" fmla="*/ 101 w 266"/>
                  <a:gd name="T19" fmla="*/ 82 h 214"/>
                  <a:gd name="T20" fmla="*/ 166 w 266"/>
                  <a:gd name="T21" fmla="*/ 125 h 214"/>
                  <a:gd name="T22" fmla="*/ 240 w 266"/>
                  <a:gd name="T23" fmla="*/ 139 h 214"/>
                  <a:gd name="T24" fmla="*/ 265 w 266"/>
                  <a:gd name="T25" fmla="*/ 146 h 214"/>
                  <a:gd name="T26" fmla="*/ 266 w 266"/>
                  <a:gd name="T27" fmla="*/ 15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214">
                    <a:moveTo>
                      <a:pt x="266" y="151"/>
                    </a:moveTo>
                    <a:cubicBezTo>
                      <a:pt x="258" y="157"/>
                      <a:pt x="252" y="164"/>
                      <a:pt x="243" y="167"/>
                    </a:cubicBezTo>
                    <a:cubicBezTo>
                      <a:pt x="211" y="180"/>
                      <a:pt x="179" y="191"/>
                      <a:pt x="146" y="203"/>
                    </a:cubicBezTo>
                    <a:cubicBezTo>
                      <a:pt x="119" y="214"/>
                      <a:pt x="92" y="203"/>
                      <a:pt x="79" y="176"/>
                    </a:cubicBezTo>
                    <a:cubicBezTo>
                      <a:pt x="61" y="141"/>
                      <a:pt x="43" y="106"/>
                      <a:pt x="25" y="71"/>
                    </a:cubicBezTo>
                    <a:cubicBezTo>
                      <a:pt x="17" y="56"/>
                      <a:pt x="8" y="41"/>
                      <a:pt x="2" y="25"/>
                    </a:cubicBezTo>
                    <a:cubicBezTo>
                      <a:pt x="0" y="18"/>
                      <a:pt x="2" y="9"/>
                      <a:pt x="5" y="2"/>
                    </a:cubicBezTo>
                    <a:cubicBezTo>
                      <a:pt x="7" y="0"/>
                      <a:pt x="18" y="1"/>
                      <a:pt x="24" y="3"/>
                    </a:cubicBezTo>
                    <a:cubicBezTo>
                      <a:pt x="30" y="6"/>
                      <a:pt x="36" y="11"/>
                      <a:pt x="41" y="16"/>
                    </a:cubicBezTo>
                    <a:cubicBezTo>
                      <a:pt x="61" y="38"/>
                      <a:pt x="79" y="62"/>
                      <a:pt x="101" y="82"/>
                    </a:cubicBezTo>
                    <a:cubicBezTo>
                      <a:pt x="120" y="100"/>
                      <a:pt x="142" y="116"/>
                      <a:pt x="166" y="125"/>
                    </a:cubicBezTo>
                    <a:cubicBezTo>
                      <a:pt x="189" y="135"/>
                      <a:pt x="216" y="134"/>
                      <a:pt x="240" y="139"/>
                    </a:cubicBezTo>
                    <a:cubicBezTo>
                      <a:pt x="249" y="140"/>
                      <a:pt x="257" y="144"/>
                      <a:pt x="265" y="146"/>
                    </a:cubicBezTo>
                    <a:cubicBezTo>
                      <a:pt x="265" y="148"/>
                      <a:pt x="265" y="150"/>
                      <a:pt x="266"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95"/>
              <p:cNvSpPr/>
              <p:nvPr/>
            </p:nvSpPr>
            <p:spPr bwMode="auto">
              <a:xfrm>
                <a:off x="12803833" y="4453462"/>
                <a:ext cx="482600" cy="714375"/>
              </a:xfrm>
              <a:custGeom>
                <a:avLst/>
                <a:gdLst>
                  <a:gd name="T0" fmla="*/ 126 w 153"/>
                  <a:gd name="T1" fmla="*/ 159 h 226"/>
                  <a:gd name="T2" fmla="*/ 126 w 153"/>
                  <a:gd name="T3" fmla="*/ 41 h 226"/>
                  <a:gd name="T4" fmla="*/ 126 w 153"/>
                  <a:gd name="T5" fmla="*/ 14 h 226"/>
                  <a:gd name="T6" fmla="*/ 139 w 153"/>
                  <a:gd name="T7" fmla="*/ 2 h 226"/>
                  <a:gd name="T8" fmla="*/ 153 w 153"/>
                  <a:gd name="T9" fmla="*/ 14 h 226"/>
                  <a:gd name="T10" fmla="*/ 152 w 153"/>
                  <a:gd name="T11" fmla="*/ 208 h 226"/>
                  <a:gd name="T12" fmla="*/ 144 w 153"/>
                  <a:gd name="T13" fmla="*/ 221 h 226"/>
                  <a:gd name="T14" fmla="*/ 121 w 153"/>
                  <a:gd name="T15" fmla="*/ 216 h 226"/>
                  <a:gd name="T16" fmla="*/ 82 w 153"/>
                  <a:gd name="T17" fmla="*/ 149 h 226"/>
                  <a:gd name="T18" fmla="*/ 40 w 153"/>
                  <a:gd name="T19" fmla="*/ 73 h 226"/>
                  <a:gd name="T20" fmla="*/ 27 w 153"/>
                  <a:gd name="T21" fmla="*/ 63 h 226"/>
                  <a:gd name="T22" fmla="*/ 27 w 153"/>
                  <a:gd name="T23" fmla="*/ 128 h 226"/>
                  <a:gd name="T24" fmla="*/ 27 w 153"/>
                  <a:gd name="T25" fmla="*/ 206 h 226"/>
                  <a:gd name="T26" fmla="*/ 14 w 153"/>
                  <a:gd name="T27" fmla="*/ 223 h 226"/>
                  <a:gd name="T28" fmla="*/ 1 w 153"/>
                  <a:gd name="T29" fmla="*/ 206 h 226"/>
                  <a:gd name="T30" fmla="*/ 1 w 153"/>
                  <a:gd name="T31" fmla="*/ 20 h 226"/>
                  <a:gd name="T32" fmla="*/ 10 w 153"/>
                  <a:gd name="T33" fmla="*/ 2 h 226"/>
                  <a:gd name="T34" fmla="*/ 34 w 153"/>
                  <a:gd name="T35" fmla="*/ 10 h 226"/>
                  <a:gd name="T36" fmla="*/ 80 w 153"/>
                  <a:gd name="T37" fmla="*/ 90 h 226"/>
                  <a:gd name="T38" fmla="*/ 114 w 153"/>
                  <a:gd name="T39" fmla="*/ 152 h 226"/>
                  <a:gd name="T40" fmla="*/ 120 w 153"/>
                  <a:gd name="T41" fmla="*/ 164 h 226"/>
                  <a:gd name="T42" fmla="*/ 126 w 153"/>
                  <a:gd name="T43" fmla="*/ 15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3" h="226">
                    <a:moveTo>
                      <a:pt x="126" y="159"/>
                    </a:moveTo>
                    <a:cubicBezTo>
                      <a:pt x="126" y="120"/>
                      <a:pt x="126" y="80"/>
                      <a:pt x="126" y="41"/>
                    </a:cubicBezTo>
                    <a:cubicBezTo>
                      <a:pt x="126" y="32"/>
                      <a:pt x="126" y="23"/>
                      <a:pt x="126" y="14"/>
                    </a:cubicBezTo>
                    <a:cubicBezTo>
                      <a:pt x="126" y="5"/>
                      <a:pt x="131" y="1"/>
                      <a:pt x="139" y="2"/>
                    </a:cubicBezTo>
                    <a:cubicBezTo>
                      <a:pt x="147" y="2"/>
                      <a:pt x="153" y="5"/>
                      <a:pt x="153" y="14"/>
                    </a:cubicBezTo>
                    <a:cubicBezTo>
                      <a:pt x="152" y="79"/>
                      <a:pt x="152" y="143"/>
                      <a:pt x="152" y="208"/>
                    </a:cubicBezTo>
                    <a:cubicBezTo>
                      <a:pt x="152" y="212"/>
                      <a:pt x="148" y="220"/>
                      <a:pt x="144" y="221"/>
                    </a:cubicBezTo>
                    <a:cubicBezTo>
                      <a:pt x="136" y="224"/>
                      <a:pt x="127" y="226"/>
                      <a:pt x="121" y="216"/>
                    </a:cubicBezTo>
                    <a:cubicBezTo>
                      <a:pt x="108" y="193"/>
                      <a:pt x="94" y="171"/>
                      <a:pt x="82" y="149"/>
                    </a:cubicBezTo>
                    <a:cubicBezTo>
                      <a:pt x="68" y="124"/>
                      <a:pt x="54" y="98"/>
                      <a:pt x="40" y="73"/>
                    </a:cubicBezTo>
                    <a:cubicBezTo>
                      <a:pt x="38" y="70"/>
                      <a:pt x="33" y="68"/>
                      <a:pt x="27" y="63"/>
                    </a:cubicBezTo>
                    <a:cubicBezTo>
                      <a:pt x="27" y="88"/>
                      <a:pt x="27" y="108"/>
                      <a:pt x="27" y="128"/>
                    </a:cubicBezTo>
                    <a:cubicBezTo>
                      <a:pt x="27" y="154"/>
                      <a:pt x="27" y="180"/>
                      <a:pt x="27" y="206"/>
                    </a:cubicBezTo>
                    <a:cubicBezTo>
                      <a:pt x="27" y="215"/>
                      <a:pt x="26" y="223"/>
                      <a:pt x="14" y="223"/>
                    </a:cubicBezTo>
                    <a:cubicBezTo>
                      <a:pt x="2" y="223"/>
                      <a:pt x="1" y="215"/>
                      <a:pt x="1" y="206"/>
                    </a:cubicBezTo>
                    <a:cubicBezTo>
                      <a:pt x="1" y="144"/>
                      <a:pt x="1" y="82"/>
                      <a:pt x="1" y="20"/>
                    </a:cubicBezTo>
                    <a:cubicBezTo>
                      <a:pt x="1" y="12"/>
                      <a:pt x="0" y="4"/>
                      <a:pt x="10" y="2"/>
                    </a:cubicBezTo>
                    <a:cubicBezTo>
                      <a:pt x="19" y="1"/>
                      <a:pt x="28" y="0"/>
                      <a:pt x="34" y="10"/>
                    </a:cubicBezTo>
                    <a:cubicBezTo>
                      <a:pt x="49" y="37"/>
                      <a:pt x="64" y="64"/>
                      <a:pt x="80" y="90"/>
                    </a:cubicBezTo>
                    <a:cubicBezTo>
                      <a:pt x="91" y="111"/>
                      <a:pt x="102" y="131"/>
                      <a:pt x="114" y="152"/>
                    </a:cubicBezTo>
                    <a:cubicBezTo>
                      <a:pt x="116" y="156"/>
                      <a:pt x="118" y="160"/>
                      <a:pt x="120" y="164"/>
                    </a:cubicBezTo>
                    <a:cubicBezTo>
                      <a:pt x="122" y="162"/>
                      <a:pt x="124" y="161"/>
                      <a:pt x="126"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96"/>
              <p:cNvSpPr/>
              <p:nvPr/>
            </p:nvSpPr>
            <p:spPr bwMode="auto">
              <a:xfrm>
                <a:off x="4190058" y="4456637"/>
                <a:ext cx="473075" cy="708025"/>
              </a:xfrm>
              <a:custGeom>
                <a:avLst/>
                <a:gdLst>
                  <a:gd name="T0" fmla="*/ 123 w 150"/>
                  <a:gd name="T1" fmla="*/ 161 h 224"/>
                  <a:gd name="T2" fmla="*/ 124 w 150"/>
                  <a:gd name="T3" fmla="*/ 144 h 224"/>
                  <a:gd name="T4" fmla="*/ 124 w 150"/>
                  <a:gd name="T5" fmla="*/ 18 h 224"/>
                  <a:gd name="T6" fmla="*/ 137 w 150"/>
                  <a:gd name="T7" fmla="*/ 0 h 224"/>
                  <a:gd name="T8" fmla="*/ 149 w 150"/>
                  <a:gd name="T9" fmla="*/ 18 h 224"/>
                  <a:gd name="T10" fmla="*/ 149 w 150"/>
                  <a:gd name="T11" fmla="*/ 204 h 224"/>
                  <a:gd name="T12" fmla="*/ 140 w 150"/>
                  <a:gd name="T13" fmla="*/ 221 h 224"/>
                  <a:gd name="T14" fmla="*/ 116 w 150"/>
                  <a:gd name="T15" fmla="*/ 210 h 224"/>
                  <a:gd name="T16" fmla="*/ 28 w 150"/>
                  <a:gd name="T17" fmla="*/ 61 h 224"/>
                  <a:gd name="T18" fmla="*/ 26 w 150"/>
                  <a:gd name="T19" fmla="*/ 79 h 224"/>
                  <a:gd name="T20" fmla="*/ 26 w 150"/>
                  <a:gd name="T21" fmla="*/ 204 h 224"/>
                  <a:gd name="T22" fmla="*/ 13 w 150"/>
                  <a:gd name="T23" fmla="*/ 222 h 224"/>
                  <a:gd name="T24" fmla="*/ 1 w 150"/>
                  <a:gd name="T25" fmla="*/ 204 h 224"/>
                  <a:gd name="T26" fmla="*/ 1 w 150"/>
                  <a:gd name="T27" fmla="*/ 17 h 224"/>
                  <a:gd name="T28" fmla="*/ 9 w 150"/>
                  <a:gd name="T29" fmla="*/ 1 h 224"/>
                  <a:gd name="T30" fmla="*/ 33 w 150"/>
                  <a:gd name="T31" fmla="*/ 11 h 224"/>
                  <a:gd name="T32" fmla="*/ 118 w 150"/>
                  <a:gd name="T33" fmla="*/ 161 h 224"/>
                  <a:gd name="T34" fmla="*/ 123 w 150"/>
                  <a:gd name="T35" fmla="*/ 16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 h="224">
                    <a:moveTo>
                      <a:pt x="123" y="161"/>
                    </a:moveTo>
                    <a:cubicBezTo>
                      <a:pt x="123" y="156"/>
                      <a:pt x="124" y="150"/>
                      <a:pt x="124" y="144"/>
                    </a:cubicBezTo>
                    <a:cubicBezTo>
                      <a:pt x="124" y="102"/>
                      <a:pt x="124" y="60"/>
                      <a:pt x="124" y="18"/>
                    </a:cubicBezTo>
                    <a:cubicBezTo>
                      <a:pt x="124" y="9"/>
                      <a:pt x="123" y="0"/>
                      <a:pt x="137" y="0"/>
                    </a:cubicBezTo>
                    <a:cubicBezTo>
                      <a:pt x="150" y="0"/>
                      <a:pt x="149" y="9"/>
                      <a:pt x="149" y="18"/>
                    </a:cubicBezTo>
                    <a:cubicBezTo>
                      <a:pt x="149" y="80"/>
                      <a:pt x="149" y="142"/>
                      <a:pt x="149" y="204"/>
                    </a:cubicBezTo>
                    <a:cubicBezTo>
                      <a:pt x="149" y="210"/>
                      <a:pt x="145" y="220"/>
                      <a:pt x="140" y="221"/>
                    </a:cubicBezTo>
                    <a:cubicBezTo>
                      <a:pt x="131" y="224"/>
                      <a:pt x="122" y="221"/>
                      <a:pt x="116" y="210"/>
                    </a:cubicBezTo>
                    <a:cubicBezTo>
                      <a:pt x="88" y="160"/>
                      <a:pt x="60" y="111"/>
                      <a:pt x="28" y="61"/>
                    </a:cubicBezTo>
                    <a:cubicBezTo>
                      <a:pt x="27" y="67"/>
                      <a:pt x="26" y="73"/>
                      <a:pt x="26" y="79"/>
                    </a:cubicBezTo>
                    <a:cubicBezTo>
                      <a:pt x="26" y="121"/>
                      <a:pt x="26" y="162"/>
                      <a:pt x="26" y="204"/>
                    </a:cubicBezTo>
                    <a:cubicBezTo>
                      <a:pt x="26" y="212"/>
                      <a:pt x="28" y="222"/>
                      <a:pt x="13" y="222"/>
                    </a:cubicBezTo>
                    <a:cubicBezTo>
                      <a:pt x="0" y="222"/>
                      <a:pt x="1" y="213"/>
                      <a:pt x="1" y="204"/>
                    </a:cubicBezTo>
                    <a:cubicBezTo>
                      <a:pt x="1" y="142"/>
                      <a:pt x="1" y="79"/>
                      <a:pt x="1" y="17"/>
                    </a:cubicBezTo>
                    <a:cubicBezTo>
                      <a:pt x="1" y="11"/>
                      <a:pt x="8" y="1"/>
                      <a:pt x="9" y="1"/>
                    </a:cubicBezTo>
                    <a:cubicBezTo>
                      <a:pt x="18" y="3"/>
                      <a:pt x="29" y="5"/>
                      <a:pt x="33" y="11"/>
                    </a:cubicBezTo>
                    <a:cubicBezTo>
                      <a:pt x="62" y="61"/>
                      <a:pt x="90" y="111"/>
                      <a:pt x="118" y="161"/>
                    </a:cubicBezTo>
                    <a:cubicBezTo>
                      <a:pt x="120" y="161"/>
                      <a:pt x="121" y="161"/>
                      <a:pt x="12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97"/>
              <p:cNvSpPr/>
              <p:nvPr/>
            </p:nvSpPr>
            <p:spPr bwMode="auto">
              <a:xfrm>
                <a:off x="2573983" y="4450287"/>
                <a:ext cx="476250" cy="720725"/>
              </a:xfrm>
              <a:custGeom>
                <a:avLst/>
                <a:gdLst>
                  <a:gd name="T0" fmla="*/ 27 w 151"/>
                  <a:gd name="T1" fmla="*/ 62 h 228"/>
                  <a:gd name="T2" fmla="*/ 26 w 151"/>
                  <a:gd name="T3" fmla="*/ 76 h 228"/>
                  <a:gd name="T4" fmla="*/ 26 w 151"/>
                  <a:gd name="T5" fmla="*/ 207 h 228"/>
                  <a:gd name="T6" fmla="*/ 14 w 151"/>
                  <a:gd name="T7" fmla="*/ 224 h 228"/>
                  <a:gd name="T8" fmla="*/ 1 w 151"/>
                  <a:gd name="T9" fmla="*/ 207 h 228"/>
                  <a:gd name="T10" fmla="*/ 2 w 151"/>
                  <a:gd name="T11" fmla="*/ 19 h 228"/>
                  <a:gd name="T12" fmla="*/ 8 w 151"/>
                  <a:gd name="T13" fmla="*/ 3 h 228"/>
                  <a:gd name="T14" fmla="*/ 34 w 151"/>
                  <a:gd name="T15" fmla="*/ 11 h 228"/>
                  <a:gd name="T16" fmla="*/ 82 w 151"/>
                  <a:gd name="T17" fmla="*/ 95 h 228"/>
                  <a:gd name="T18" fmla="*/ 122 w 151"/>
                  <a:gd name="T19" fmla="*/ 160 h 228"/>
                  <a:gd name="T20" fmla="*/ 125 w 151"/>
                  <a:gd name="T21" fmla="*/ 145 h 228"/>
                  <a:gd name="T22" fmla="*/ 125 w 151"/>
                  <a:gd name="T23" fmla="*/ 20 h 228"/>
                  <a:gd name="T24" fmla="*/ 139 w 151"/>
                  <a:gd name="T25" fmla="*/ 2 h 228"/>
                  <a:gd name="T26" fmla="*/ 151 w 151"/>
                  <a:gd name="T27" fmla="*/ 21 h 228"/>
                  <a:gd name="T28" fmla="*/ 150 w 151"/>
                  <a:gd name="T29" fmla="*/ 203 h 228"/>
                  <a:gd name="T30" fmla="*/ 142 w 151"/>
                  <a:gd name="T31" fmla="*/ 223 h 228"/>
                  <a:gd name="T32" fmla="*/ 117 w 151"/>
                  <a:gd name="T33" fmla="*/ 212 h 228"/>
                  <a:gd name="T34" fmla="*/ 59 w 151"/>
                  <a:gd name="T35" fmla="*/ 108 h 228"/>
                  <a:gd name="T36" fmla="*/ 31 w 151"/>
                  <a:gd name="T37" fmla="*/ 61 h 228"/>
                  <a:gd name="T38" fmla="*/ 27 w 151"/>
                  <a:gd name="T39" fmla="*/ 6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1" h="228">
                    <a:moveTo>
                      <a:pt x="27" y="62"/>
                    </a:moveTo>
                    <a:cubicBezTo>
                      <a:pt x="27" y="67"/>
                      <a:pt x="26" y="72"/>
                      <a:pt x="26" y="76"/>
                    </a:cubicBezTo>
                    <a:cubicBezTo>
                      <a:pt x="26" y="120"/>
                      <a:pt x="26" y="163"/>
                      <a:pt x="26" y="207"/>
                    </a:cubicBezTo>
                    <a:cubicBezTo>
                      <a:pt x="26" y="216"/>
                      <a:pt x="27" y="224"/>
                      <a:pt x="14" y="224"/>
                    </a:cubicBezTo>
                    <a:cubicBezTo>
                      <a:pt x="0" y="224"/>
                      <a:pt x="1" y="215"/>
                      <a:pt x="1" y="207"/>
                    </a:cubicBezTo>
                    <a:cubicBezTo>
                      <a:pt x="1" y="144"/>
                      <a:pt x="1" y="82"/>
                      <a:pt x="2" y="19"/>
                    </a:cubicBezTo>
                    <a:cubicBezTo>
                      <a:pt x="2" y="14"/>
                      <a:pt x="5" y="4"/>
                      <a:pt x="8" y="3"/>
                    </a:cubicBezTo>
                    <a:cubicBezTo>
                      <a:pt x="17" y="2"/>
                      <a:pt x="28" y="0"/>
                      <a:pt x="34" y="11"/>
                    </a:cubicBezTo>
                    <a:cubicBezTo>
                      <a:pt x="50" y="39"/>
                      <a:pt x="66" y="67"/>
                      <a:pt x="82" y="95"/>
                    </a:cubicBezTo>
                    <a:cubicBezTo>
                      <a:pt x="94" y="117"/>
                      <a:pt x="106" y="138"/>
                      <a:pt x="122" y="160"/>
                    </a:cubicBezTo>
                    <a:cubicBezTo>
                      <a:pt x="123" y="155"/>
                      <a:pt x="125" y="150"/>
                      <a:pt x="125" y="145"/>
                    </a:cubicBezTo>
                    <a:cubicBezTo>
                      <a:pt x="125" y="103"/>
                      <a:pt x="125" y="62"/>
                      <a:pt x="125" y="20"/>
                    </a:cubicBezTo>
                    <a:cubicBezTo>
                      <a:pt x="125" y="10"/>
                      <a:pt x="126" y="2"/>
                      <a:pt x="139" y="2"/>
                    </a:cubicBezTo>
                    <a:cubicBezTo>
                      <a:pt x="151" y="3"/>
                      <a:pt x="151" y="12"/>
                      <a:pt x="151" y="21"/>
                    </a:cubicBezTo>
                    <a:cubicBezTo>
                      <a:pt x="151" y="81"/>
                      <a:pt x="151" y="142"/>
                      <a:pt x="150" y="203"/>
                    </a:cubicBezTo>
                    <a:cubicBezTo>
                      <a:pt x="150" y="210"/>
                      <a:pt x="147" y="220"/>
                      <a:pt x="142" y="223"/>
                    </a:cubicBezTo>
                    <a:cubicBezTo>
                      <a:pt x="132" y="228"/>
                      <a:pt x="123" y="222"/>
                      <a:pt x="117" y="212"/>
                    </a:cubicBezTo>
                    <a:cubicBezTo>
                      <a:pt x="98" y="177"/>
                      <a:pt x="78" y="143"/>
                      <a:pt x="59" y="108"/>
                    </a:cubicBezTo>
                    <a:cubicBezTo>
                      <a:pt x="50" y="92"/>
                      <a:pt x="40" y="77"/>
                      <a:pt x="31" y="61"/>
                    </a:cubicBezTo>
                    <a:cubicBezTo>
                      <a:pt x="30" y="62"/>
                      <a:pt x="28" y="62"/>
                      <a:pt x="27"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98"/>
              <p:cNvSpPr>
                <a:spLocks noEditPoints="1"/>
              </p:cNvSpPr>
              <p:nvPr/>
            </p:nvSpPr>
            <p:spPr bwMode="auto">
              <a:xfrm>
                <a:off x="6128395" y="4456637"/>
                <a:ext cx="520700" cy="711200"/>
              </a:xfrm>
              <a:custGeom>
                <a:avLst/>
                <a:gdLst>
                  <a:gd name="T0" fmla="*/ 165 w 165"/>
                  <a:gd name="T1" fmla="*/ 218 h 225"/>
                  <a:gd name="T2" fmla="*/ 127 w 165"/>
                  <a:gd name="T3" fmla="*/ 206 h 225"/>
                  <a:gd name="T4" fmla="*/ 89 w 165"/>
                  <a:gd name="T5" fmla="*/ 141 h 225"/>
                  <a:gd name="T6" fmla="*/ 33 w 165"/>
                  <a:gd name="T7" fmla="*/ 125 h 225"/>
                  <a:gd name="T8" fmla="*/ 26 w 165"/>
                  <a:gd name="T9" fmla="*/ 140 h 225"/>
                  <a:gd name="T10" fmla="*/ 26 w 165"/>
                  <a:gd name="T11" fmla="*/ 204 h 225"/>
                  <a:gd name="T12" fmla="*/ 13 w 165"/>
                  <a:gd name="T13" fmla="*/ 222 h 225"/>
                  <a:gd name="T14" fmla="*/ 0 w 165"/>
                  <a:gd name="T15" fmla="*/ 205 h 225"/>
                  <a:gd name="T16" fmla="*/ 0 w 165"/>
                  <a:gd name="T17" fmla="*/ 17 h 225"/>
                  <a:gd name="T18" fmla="*/ 14 w 165"/>
                  <a:gd name="T19" fmla="*/ 0 h 225"/>
                  <a:gd name="T20" fmla="*/ 106 w 165"/>
                  <a:gd name="T21" fmla="*/ 2 h 225"/>
                  <a:gd name="T22" fmla="*/ 146 w 165"/>
                  <a:gd name="T23" fmla="*/ 32 h 225"/>
                  <a:gd name="T24" fmla="*/ 106 w 165"/>
                  <a:gd name="T25" fmla="*/ 121 h 225"/>
                  <a:gd name="T26" fmla="*/ 165 w 165"/>
                  <a:gd name="T27" fmla="*/ 218 h 225"/>
                  <a:gd name="T28" fmla="*/ 26 w 165"/>
                  <a:gd name="T29" fmla="*/ 61 h 225"/>
                  <a:gd name="T30" fmla="*/ 26 w 165"/>
                  <a:gd name="T31" fmla="*/ 85 h 225"/>
                  <a:gd name="T32" fmla="*/ 39 w 165"/>
                  <a:gd name="T33" fmla="*/ 98 h 225"/>
                  <a:gd name="T34" fmla="*/ 101 w 165"/>
                  <a:gd name="T35" fmla="*/ 94 h 225"/>
                  <a:gd name="T36" fmla="*/ 126 w 165"/>
                  <a:gd name="T37" fmla="*/ 59 h 225"/>
                  <a:gd name="T38" fmla="*/ 98 w 165"/>
                  <a:gd name="T39" fmla="*/ 28 h 225"/>
                  <a:gd name="T40" fmla="*/ 61 w 165"/>
                  <a:gd name="T41" fmla="*/ 26 h 225"/>
                  <a:gd name="T42" fmla="*/ 26 w 165"/>
                  <a:gd name="T43" fmla="*/ 6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225">
                    <a:moveTo>
                      <a:pt x="165" y="218"/>
                    </a:moveTo>
                    <a:cubicBezTo>
                      <a:pt x="141" y="225"/>
                      <a:pt x="137" y="223"/>
                      <a:pt x="127" y="206"/>
                    </a:cubicBezTo>
                    <a:cubicBezTo>
                      <a:pt x="114" y="184"/>
                      <a:pt x="102" y="162"/>
                      <a:pt x="89" y="141"/>
                    </a:cubicBezTo>
                    <a:cubicBezTo>
                      <a:pt x="79" y="126"/>
                      <a:pt x="48" y="117"/>
                      <a:pt x="33" y="125"/>
                    </a:cubicBezTo>
                    <a:cubicBezTo>
                      <a:pt x="29" y="127"/>
                      <a:pt x="26" y="135"/>
                      <a:pt x="26" y="140"/>
                    </a:cubicBezTo>
                    <a:cubicBezTo>
                      <a:pt x="25" y="161"/>
                      <a:pt x="26" y="183"/>
                      <a:pt x="26" y="204"/>
                    </a:cubicBezTo>
                    <a:cubicBezTo>
                      <a:pt x="26" y="213"/>
                      <a:pt x="26" y="222"/>
                      <a:pt x="13" y="222"/>
                    </a:cubicBezTo>
                    <a:cubicBezTo>
                      <a:pt x="1" y="222"/>
                      <a:pt x="0" y="214"/>
                      <a:pt x="0" y="205"/>
                    </a:cubicBezTo>
                    <a:cubicBezTo>
                      <a:pt x="0" y="142"/>
                      <a:pt x="0" y="80"/>
                      <a:pt x="0" y="17"/>
                    </a:cubicBezTo>
                    <a:cubicBezTo>
                      <a:pt x="0" y="7"/>
                      <a:pt x="2" y="0"/>
                      <a:pt x="14" y="0"/>
                    </a:cubicBezTo>
                    <a:cubicBezTo>
                      <a:pt x="45" y="1"/>
                      <a:pt x="75" y="2"/>
                      <a:pt x="106" y="2"/>
                    </a:cubicBezTo>
                    <a:cubicBezTo>
                      <a:pt x="126" y="3"/>
                      <a:pt x="138" y="14"/>
                      <a:pt x="146" y="32"/>
                    </a:cubicBezTo>
                    <a:cubicBezTo>
                      <a:pt x="162" y="72"/>
                      <a:pt x="149" y="102"/>
                      <a:pt x="106" y="121"/>
                    </a:cubicBezTo>
                    <a:cubicBezTo>
                      <a:pt x="132" y="150"/>
                      <a:pt x="148" y="183"/>
                      <a:pt x="165" y="218"/>
                    </a:cubicBezTo>
                    <a:close/>
                    <a:moveTo>
                      <a:pt x="26" y="61"/>
                    </a:moveTo>
                    <a:cubicBezTo>
                      <a:pt x="26" y="69"/>
                      <a:pt x="24" y="78"/>
                      <a:pt x="26" y="85"/>
                    </a:cubicBezTo>
                    <a:cubicBezTo>
                      <a:pt x="28" y="90"/>
                      <a:pt x="35" y="98"/>
                      <a:pt x="39" y="98"/>
                    </a:cubicBezTo>
                    <a:cubicBezTo>
                      <a:pt x="60" y="98"/>
                      <a:pt x="81" y="96"/>
                      <a:pt x="101" y="94"/>
                    </a:cubicBezTo>
                    <a:cubicBezTo>
                      <a:pt x="116" y="92"/>
                      <a:pt x="127" y="74"/>
                      <a:pt x="126" y="59"/>
                    </a:cubicBezTo>
                    <a:cubicBezTo>
                      <a:pt x="125" y="43"/>
                      <a:pt x="113" y="29"/>
                      <a:pt x="98" y="28"/>
                    </a:cubicBezTo>
                    <a:cubicBezTo>
                      <a:pt x="86" y="26"/>
                      <a:pt x="73" y="27"/>
                      <a:pt x="61" y="26"/>
                    </a:cubicBezTo>
                    <a:cubicBezTo>
                      <a:pt x="20" y="25"/>
                      <a:pt x="26" y="24"/>
                      <a:pt x="26"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99"/>
              <p:cNvSpPr/>
              <p:nvPr/>
            </p:nvSpPr>
            <p:spPr bwMode="auto">
              <a:xfrm>
                <a:off x="15126345" y="4421712"/>
                <a:ext cx="574675" cy="800100"/>
              </a:xfrm>
              <a:custGeom>
                <a:avLst/>
                <a:gdLst>
                  <a:gd name="T0" fmla="*/ 178 w 182"/>
                  <a:gd name="T1" fmla="*/ 163 h 253"/>
                  <a:gd name="T2" fmla="*/ 178 w 182"/>
                  <a:gd name="T3" fmla="*/ 176 h 253"/>
                  <a:gd name="T4" fmla="*/ 154 w 182"/>
                  <a:gd name="T5" fmla="*/ 221 h 253"/>
                  <a:gd name="T6" fmla="*/ 10 w 182"/>
                  <a:gd name="T7" fmla="*/ 162 h 253"/>
                  <a:gd name="T8" fmla="*/ 27 w 182"/>
                  <a:gd name="T9" fmla="*/ 43 h 253"/>
                  <a:gd name="T10" fmla="*/ 123 w 182"/>
                  <a:gd name="T11" fmla="*/ 10 h 253"/>
                  <a:gd name="T12" fmla="*/ 173 w 182"/>
                  <a:gd name="T13" fmla="*/ 58 h 253"/>
                  <a:gd name="T14" fmla="*/ 166 w 182"/>
                  <a:gd name="T15" fmla="*/ 78 h 253"/>
                  <a:gd name="T16" fmla="*/ 149 w 182"/>
                  <a:gd name="T17" fmla="*/ 69 h 253"/>
                  <a:gd name="T18" fmla="*/ 101 w 182"/>
                  <a:gd name="T19" fmla="*/ 34 h 253"/>
                  <a:gd name="T20" fmla="*/ 45 w 182"/>
                  <a:gd name="T21" fmla="*/ 64 h 253"/>
                  <a:gd name="T22" fmla="*/ 46 w 182"/>
                  <a:gd name="T23" fmla="*/ 180 h 253"/>
                  <a:gd name="T24" fmla="*/ 147 w 182"/>
                  <a:gd name="T25" fmla="*/ 190 h 253"/>
                  <a:gd name="T26" fmla="*/ 149 w 182"/>
                  <a:gd name="T27" fmla="*/ 149 h 253"/>
                  <a:gd name="T28" fmla="*/ 139 w 182"/>
                  <a:gd name="T29" fmla="*/ 146 h 253"/>
                  <a:gd name="T30" fmla="*/ 112 w 182"/>
                  <a:gd name="T31" fmla="*/ 146 h 253"/>
                  <a:gd name="T32" fmla="*/ 98 w 182"/>
                  <a:gd name="T33" fmla="*/ 132 h 253"/>
                  <a:gd name="T34" fmla="*/ 111 w 182"/>
                  <a:gd name="T35" fmla="*/ 120 h 253"/>
                  <a:gd name="T36" fmla="*/ 165 w 182"/>
                  <a:gd name="T37" fmla="*/ 119 h 253"/>
                  <a:gd name="T38" fmla="*/ 178 w 182"/>
                  <a:gd name="T39" fmla="*/ 133 h 253"/>
                  <a:gd name="T40" fmla="*/ 178 w 182"/>
                  <a:gd name="T41" fmla="*/ 163 h 253"/>
                  <a:gd name="T42" fmla="*/ 178 w 182"/>
                  <a:gd name="T43" fmla="*/ 163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2" h="253">
                    <a:moveTo>
                      <a:pt x="178" y="163"/>
                    </a:moveTo>
                    <a:cubicBezTo>
                      <a:pt x="178" y="167"/>
                      <a:pt x="177" y="172"/>
                      <a:pt x="178" y="176"/>
                    </a:cubicBezTo>
                    <a:cubicBezTo>
                      <a:pt x="182" y="198"/>
                      <a:pt x="172" y="210"/>
                      <a:pt x="154" y="221"/>
                    </a:cubicBezTo>
                    <a:cubicBezTo>
                      <a:pt x="100" y="253"/>
                      <a:pt x="25" y="233"/>
                      <a:pt x="10" y="162"/>
                    </a:cubicBezTo>
                    <a:cubicBezTo>
                      <a:pt x="0" y="120"/>
                      <a:pt x="4" y="80"/>
                      <a:pt x="27" y="43"/>
                    </a:cubicBezTo>
                    <a:cubicBezTo>
                      <a:pt x="46" y="13"/>
                      <a:pt x="89" y="0"/>
                      <a:pt x="123" y="10"/>
                    </a:cubicBezTo>
                    <a:cubicBezTo>
                      <a:pt x="149" y="18"/>
                      <a:pt x="163" y="35"/>
                      <a:pt x="173" y="58"/>
                    </a:cubicBezTo>
                    <a:cubicBezTo>
                      <a:pt x="176" y="66"/>
                      <a:pt x="176" y="74"/>
                      <a:pt x="166" y="78"/>
                    </a:cubicBezTo>
                    <a:cubicBezTo>
                      <a:pt x="157" y="81"/>
                      <a:pt x="152" y="79"/>
                      <a:pt x="149" y="69"/>
                    </a:cubicBezTo>
                    <a:cubicBezTo>
                      <a:pt x="141" y="47"/>
                      <a:pt x="125" y="35"/>
                      <a:pt x="101" y="34"/>
                    </a:cubicBezTo>
                    <a:cubicBezTo>
                      <a:pt x="77" y="33"/>
                      <a:pt x="57" y="42"/>
                      <a:pt x="45" y="64"/>
                    </a:cubicBezTo>
                    <a:cubicBezTo>
                      <a:pt x="25" y="102"/>
                      <a:pt x="24" y="143"/>
                      <a:pt x="46" y="180"/>
                    </a:cubicBezTo>
                    <a:cubicBezTo>
                      <a:pt x="68" y="217"/>
                      <a:pt x="115" y="219"/>
                      <a:pt x="147" y="190"/>
                    </a:cubicBezTo>
                    <a:cubicBezTo>
                      <a:pt x="154" y="183"/>
                      <a:pt x="149" y="163"/>
                      <a:pt x="149" y="149"/>
                    </a:cubicBezTo>
                    <a:cubicBezTo>
                      <a:pt x="149" y="148"/>
                      <a:pt x="142" y="146"/>
                      <a:pt x="139" y="146"/>
                    </a:cubicBezTo>
                    <a:cubicBezTo>
                      <a:pt x="130" y="145"/>
                      <a:pt x="121" y="145"/>
                      <a:pt x="112" y="146"/>
                    </a:cubicBezTo>
                    <a:cubicBezTo>
                      <a:pt x="102" y="146"/>
                      <a:pt x="98" y="142"/>
                      <a:pt x="98" y="132"/>
                    </a:cubicBezTo>
                    <a:cubicBezTo>
                      <a:pt x="98" y="123"/>
                      <a:pt x="102" y="120"/>
                      <a:pt x="111" y="120"/>
                    </a:cubicBezTo>
                    <a:cubicBezTo>
                      <a:pt x="129" y="120"/>
                      <a:pt x="147" y="120"/>
                      <a:pt x="165" y="119"/>
                    </a:cubicBezTo>
                    <a:cubicBezTo>
                      <a:pt x="174" y="119"/>
                      <a:pt x="179" y="123"/>
                      <a:pt x="178" y="133"/>
                    </a:cubicBezTo>
                    <a:cubicBezTo>
                      <a:pt x="178" y="143"/>
                      <a:pt x="178" y="153"/>
                      <a:pt x="178" y="163"/>
                    </a:cubicBezTo>
                    <a:cubicBezTo>
                      <a:pt x="178" y="163"/>
                      <a:pt x="178" y="163"/>
                      <a:pt x="178"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00"/>
              <p:cNvSpPr>
                <a:spLocks noEditPoints="1"/>
              </p:cNvSpPr>
              <p:nvPr/>
            </p:nvSpPr>
            <p:spPr bwMode="auto">
              <a:xfrm>
                <a:off x="14488170" y="4393137"/>
                <a:ext cx="593725" cy="781050"/>
              </a:xfrm>
              <a:custGeom>
                <a:avLst/>
                <a:gdLst>
                  <a:gd name="T0" fmla="*/ 2 w 188"/>
                  <a:gd name="T1" fmla="*/ 129 h 247"/>
                  <a:gd name="T2" fmla="*/ 27 w 188"/>
                  <a:gd name="T3" fmla="*/ 46 h 247"/>
                  <a:gd name="T4" fmla="*/ 166 w 188"/>
                  <a:gd name="T5" fmla="*/ 62 h 247"/>
                  <a:gd name="T6" fmla="*/ 167 w 188"/>
                  <a:gd name="T7" fmla="*/ 197 h 247"/>
                  <a:gd name="T8" fmla="*/ 100 w 188"/>
                  <a:gd name="T9" fmla="*/ 244 h 247"/>
                  <a:gd name="T10" fmla="*/ 20 w 188"/>
                  <a:gd name="T11" fmla="*/ 205 h 247"/>
                  <a:gd name="T12" fmla="*/ 2 w 188"/>
                  <a:gd name="T13" fmla="*/ 129 h 247"/>
                  <a:gd name="T14" fmla="*/ 24 w 188"/>
                  <a:gd name="T15" fmla="*/ 127 h 247"/>
                  <a:gd name="T16" fmla="*/ 36 w 188"/>
                  <a:gd name="T17" fmla="*/ 178 h 247"/>
                  <a:gd name="T18" fmla="*/ 87 w 188"/>
                  <a:gd name="T19" fmla="*/ 219 h 247"/>
                  <a:gd name="T20" fmla="*/ 142 w 188"/>
                  <a:gd name="T21" fmla="*/ 186 h 247"/>
                  <a:gd name="T22" fmla="*/ 141 w 188"/>
                  <a:gd name="T23" fmla="*/ 74 h 247"/>
                  <a:gd name="T24" fmla="*/ 43 w 188"/>
                  <a:gd name="T25" fmla="*/ 71 h 247"/>
                  <a:gd name="T26" fmla="*/ 24 w 188"/>
                  <a:gd name="T27" fmla="*/ 12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247">
                    <a:moveTo>
                      <a:pt x="2" y="129"/>
                    </a:moveTo>
                    <a:cubicBezTo>
                      <a:pt x="1" y="99"/>
                      <a:pt x="9" y="71"/>
                      <a:pt x="27" y="46"/>
                    </a:cubicBezTo>
                    <a:cubicBezTo>
                      <a:pt x="61" y="0"/>
                      <a:pt x="142" y="9"/>
                      <a:pt x="166" y="62"/>
                    </a:cubicBezTo>
                    <a:cubicBezTo>
                      <a:pt x="186" y="107"/>
                      <a:pt x="188" y="152"/>
                      <a:pt x="167" y="197"/>
                    </a:cubicBezTo>
                    <a:cubicBezTo>
                      <a:pt x="153" y="225"/>
                      <a:pt x="131" y="241"/>
                      <a:pt x="100" y="244"/>
                    </a:cubicBezTo>
                    <a:cubicBezTo>
                      <a:pt x="65" y="247"/>
                      <a:pt x="38" y="234"/>
                      <a:pt x="20" y="205"/>
                    </a:cubicBezTo>
                    <a:cubicBezTo>
                      <a:pt x="6" y="182"/>
                      <a:pt x="0" y="156"/>
                      <a:pt x="2" y="129"/>
                    </a:cubicBezTo>
                    <a:close/>
                    <a:moveTo>
                      <a:pt x="24" y="127"/>
                    </a:moveTo>
                    <a:cubicBezTo>
                      <a:pt x="29" y="147"/>
                      <a:pt x="30" y="163"/>
                      <a:pt x="36" y="178"/>
                    </a:cubicBezTo>
                    <a:cubicBezTo>
                      <a:pt x="45" y="201"/>
                      <a:pt x="61" y="217"/>
                      <a:pt x="87" y="219"/>
                    </a:cubicBezTo>
                    <a:cubicBezTo>
                      <a:pt x="112" y="221"/>
                      <a:pt x="131" y="209"/>
                      <a:pt x="142" y="186"/>
                    </a:cubicBezTo>
                    <a:cubicBezTo>
                      <a:pt x="160" y="149"/>
                      <a:pt x="160" y="110"/>
                      <a:pt x="141" y="74"/>
                    </a:cubicBezTo>
                    <a:cubicBezTo>
                      <a:pt x="120" y="33"/>
                      <a:pt x="65" y="32"/>
                      <a:pt x="43" y="71"/>
                    </a:cubicBezTo>
                    <a:cubicBezTo>
                      <a:pt x="33" y="89"/>
                      <a:pt x="30" y="110"/>
                      <a:pt x="24"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01"/>
              <p:cNvSpPr>
                <a:spLocks noEditPoints="1"/>
              </p:cNvSpPr>
              <p:nvPr/>
            </p:nvSpPr>
            <p:spPr bwMode="auto">
              <a:xfrm>
                <a:off x="13370570" y="4437587"/>
                <a:ext cx="587375" cy="787400"/>
              </a:xfrm>
              <a:custGeom>
                <a:avLst/>
                <a:gdLst>
                  <a:gd name="T0" fmla="*/ 186 w 186"/>
                  <a:gd name="T1" fmla="*/ 109 h 249"/>
                  <a:gd name="T2" fmla="*/ 149 w 186"/>
                  <a:gd name="T3" fmla="*/ 211 h 249"/>
                  <a:gd name="T4" fmla="*/ 14 w 186"/>
                  <a:gd name="T5" fmla="*/ 171 h 249"/>
                  <a:gd name="T6" fmla="*/ 16 w 186"/>
                  <a:gd name="T7" fmla="*/ 55 h 249"/>
                  <a:gd name="T8" fmla="*/ 89 w 186"/>
                  <a:gd name="T9" fmla="*/ 2 h 249"/>
                  <a:gd name="T10" fmla="*/ 168 w 186"/>
                  <a:gd name="T11" fmla="*/ 47 h 249"/>
                  <a:gd name="T12" fmla="*/ 186 w 186"/>
                  <a:gd name="T13" fmla="*/ 109 h 249"/>
                  <a:gd name="T14" fmla="*/ 28 w 186"/>
                  <a:gd name="T15" fmla="*/ 117 h 249"/>
                  <a:gd name="T16" fmla="*/ 39 w 186"/>
                  <a:gd name="T17" fmla="*/ 165 h 249"/>
                  <a:gd name="T18" fmla="*/ 91 w 186"/>
                  <a:gd name="T19" fmla="*/ 205 h 249"/>
                  <a:gd name="T20" fmla="*/ 146 w 186"/>
                  <a:gd name="T21" fmla="*/ 170 h 249"/>
                  <a:gd name="T22" fmla="*/ 151 w 186"/>
                  <a:gd name="T23" fmla="*/ 74 h 249"/>
                  <a:gd name="T24" fmla="*/ 99 w 186"/>
                  <a:gd name="T25" fmla="*/ 29 h 249"/>
                  <a:gd name="T26" fmla="*/ 43 w 186"/>
                  <a:gd name="T27" fmla="*/ 61 h 249"/>
                  <a:gd name="T28" fmla="*/ 28 w 186"/>
                  <a:gd name="T29" fmla="*/ 11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6" h="249">
                    <a:moveTo>
                      <a:pt x="186" y="109"/>
                    </a:moveTo>
                    <a:cubicBezTo>
                      <a:pt x="183" y="154"/>
                      <a:pt x="177" y="188"/>
                      <a:pt x="149" y="211"/>
                    </a:cubicBezTo>
                    <a:cubicBezTo>
                      <a:pt x="103" y="249"/>
                      <a:pt x="36" y="233"/>
                      <a:pt x="14" y="171"/>
                    </a:cubicBezTo>
                    <a:cubicBezTo>
                      <a:pt x="0" y="132"/>
                      <a:pt x="2" y="93"/>
                      <a:pt x="16" y="55"/>
                    </a:cubicBezTo>
                    <a:cubicBezTo>
                      <a:pt x="29" y="24"/>
                      <a:pt x="54" y="4"/>
                      <a:pt x="89" y="2"/>
                    </a:cubicBezTo>
                    <a:cubicBezTo>
                      <a:pt x="125" y="0"/>
                      <a:pt x="153" y="15"/>
                      <a:pt x="168" y="47"/>
                    </a:cubicBezTo>
                    <a:cubicBezTo>
                      <a:pt x="178" y="69"/>
                      <a:pt x="182" y="95"/>
                      <a:pt x="186" y="109"/>
                    </a:cubicBezTo>
                    <a:close/>
                    <a:moveTo>
                      <a:pt x="28" y="117"/>
                    </a:moveTo>
                    <a:cubicBezTo>
                      <a:pt x="32" y="134"/>
                      <a:pt x="35" y="150"/>
                      <a:pt x="39" y="165"/>
                    </a:cubicBezTo>
                    <a:cubicBezTo>
                      <a:pt x="46" y="186"/>
                      <a:pt x="70" y="204"/>
                      <a:pt x="91" y="205"/>
                    </a:cubicBezTo>
                    <a:cubicBezTo>
                      <a:pt x="115" y="206"/>
                      <a:pt x="135" y="193"/>
                      <a:pt x="146" y="170"/>
                    </a:cubicBezTo>
                    <a:cubicBezTo>
                      <a:pt x="162" y="139"/>
                      <a:pt x="162" y="106"/>
                      <a:pt x="151" y="74"/>
                    </a:cubicBezTo>
                    <a:cubicBezTo>
                      <a:pt x="144" y="50"/>
                      <a:pt x="127" y="32"/>
                      <a:pt x="99" y="29"/>
                    </a:cubicBezTo>
                    <a:cubicBezTo>
                      <a:pt x="74" y="27"/>
                      <a:pt x="54" y="39"/>
                      <a:pt x="43" y="61"/>
                    </a:cubicBezTo>
                    <a:cubicBezTo>
                      <a:pt x="35" y="78"/>
                      <a:pt x="33" y="98"/>
                      <a:pt x="28" y="1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02"/>
              <p:cNvSpPr>
                <a:spLocks noEditPoints="1"/>
              </p:cNvSpPr>
              <p:nvPr/>
            </p:nvSpPr>
            <p:spPr bwMode="auto">
              <a:xfrm>
                <a:off x="8949383" y="4431237"/>
                <a:ext cx="584200" cy="749300"/>
              </a:xfrm>
              <a:custGeom>
                <a:avLst/>
                <a:gdLst>
                  <a:gd name="T0" fmla="*/ 185 w 185"/>
                  <a:gd name="T1" fmla="*/ 117 h 237"/>
                  <a:gd name="T2" fmla="*/ 162 w 185"/>
                  <a:gd name="T3" fmla="*/ 199 h 237"/>
                  <a:gd name="T4" fmla="*/ 78 w 185"/>
                  <a:gd name="T5" fmla="*/ 231 h 237"/>
                  <a:gd name="T6" fmla="*/ 16 w 185"/>
                  <a:gd name="T7" fmla="*/ 179 h 237"/>
                  <a:gd name="T8" fmla="*/ 16 w 185"/>
                  <a:gd name="T9" fmla="*/ 58 h 237"/>
                  <a:gd name="T10" fmla="*/ 81 w 185"/>
                  <a:gd name="T11" fmla="*/ 5 h 237"/>
                  <a:gd name="T12" fmla="*/ 161 w 185"/>
                  <a:gd name="T13" fmla="*/ 38 h 237"/>
                  <a:gd name="T14" fmla="*/ 185 w 185"/>
                  <a:gd name="T15" fmla="*/ 117 h 237"/>
                  <a:gd name="T16" fmla="*/ 29 w 185"/>
                  <a:gd name="T17" fmla="*/ 120 h 237"/>
                  <a:gd name="T18" fmla="*/ 39 w 185"/>
                  <a:gd name="T19" fmla="*/ 165 h 237"/>
                  <a:gd name="T20" fmla="*/ 90 w 185"/>
                  <a:gd name="T21" fmla="*/ 207 h 237"/>
                  <a:gd name="T22" fmla="*/ 146 w 185"/>
                  <a:gd name="T23" fmla="*/ 174 h 237"/>
                  <a:gd name="T24" fmla="*/ 146 w 185"/>
                  <a:gd name="T25" fmla="*/ 63 h 237"/>
                  <a:gd name="T26" fmla="*/ 55 w 185"/>
                  <a:gd name="T27" fmla="*/ 48 h 237"/>
                  <a:gd name="T28" fmla="*/ 29 w 185"/>
                  <a:gd name="T29" fmla="*/ 1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 h="237">
                    <a:moveTo>
                      <a:pt x="185" y="117"/>
                    </a:moveTo>
                    <a:cubicBezTo>
                      <a:pt x="184" y="148"/>
                      <a:pt x="179" y="175"/>
                      <a:pt x="162" y="199"/>
                    </a:cubicBezTo>
                    <a:cubicBezTo>
                      <a:pt x="141" y="228"/>
                      <a:pt x="112" y="237"/>
                      <a:pt x="78" y="231"/>
                    </a:cubicBezTo>
                    <a:cubicBezTo>
                      <a:pt x="48" y="226"/>
                      <a:pt x="27" y="207"/>
                      <a:pt x="16" y="179"/>
                    </a:cubicBezTo>
                    <a:cubicBezTo>
                      <a:pt x="0" y="139"/>
                      <a:pt x="1" y="98"/>
                      <a:pt x="16" y="58"/>
                    </a:cubicBezTo>
                    <a:cubicBezTo>
                      <a:pt x="28" y="28"/>
                      <a:pt x="50" y="10"/>
                      <a:pt x="81" y="5"/>
                    </a:cubicBezTo>
                    <a:cubicBezTo>
                      <a:pt x="114" y="0"/>
                      <a:pt x="141" y="12"/>
                      <a:pt x="161" y="38"/>
                    </a:cubicBezTo>
                    <a:cubicBezTo>
                      <a:pt x="180" y="62"/>
                      <a:pt x="184" y="90"/>
                      <a:pt x="185" y="117"/>
                    </a:cubicBezTo>
                    <a:close/>
                    <a:moveTo>
                      <a:pt x="29" y="120"/>
                    </a:moveTo>
                    <a:cubicBezTo>
                      <a:pt x="33" y="135"/>
                      <a:pt x="35" y="150"/>
                      <a:pt x="39" y="165"/>
                    </a:cubicBezTo>
                    <a:cubicBezTo>
                      <a:pt x="46" y="187"/>
                      <a:pt x="69" y="206"/>
                      <a:pt x="90" y="207"/>
                    </a:cubicBezTo>
                    <a:cubicBezTo>
                      <a:pt x="113" y="209"/>
                      <a:pt x="136" y="196"/>
                      <a:pt x="146" y="174"/>
                    </a:cubicBezTo>
                    <a:cubicBezTo>
                      <a:pt x="163" y="137"/>
                      <a:pt x="163" y="100"/>
                      <a:pt x="146" y="63"/>
                    </a:cubicBezTo>
                    <a:cubicBezTo>
                      <a:pt x="129" y="27"/>
                      <a:pt x="83" y="20"/>
                      <a:pt x="55" y="48"/>
                    </a:cubicBezTo>
                    <a:cubicBezTo>
                      <a:pt x="35" y="69"/>
                      <a:pt x="31" y="93"/>
                      <a:pt x="2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03"/>
              <p:cNvSpPr/>
              <p:nvPr/>
            </p:nvSpPr>
            <p:spPr bwMode="auto">
              <a:xfrm>
                <a:off x="1437333" y="4456637"/>
                <a:ext cx="469900" cy="701675"/>
              </a:xfrm>
              <a:custGeom>
                <a:avLst/>
                <a:gdLst>
                  <a:gd name="T0" fmla="*/ 148 w 149"/>
                  <a:gd name="T1" fmla="*/ 111 h 222"/>
                  <a:gd name="T2" fmla="*/ 148 w 149"/>
                  <a:gd name="T3" fmla="*/ 201 h 222"/>
                  <a:gd name="T4" fmla="*/ 134 w 149"/>
                  <a:gd name="T5" fmla="*/ 222 h 222"/>
                  <a:gd name="T6" fmla="*/ 119 w 149"/>
                  <a:gd name="T7" fmla="*/ 200 h 222"/>
                  <a:gd name="T8" fmla="*/ 119 w 149"/>
                  <a:gd name="T9" fmla="*/ 133 h 222"/>
                  <a:gd name="T10" fmla="*/ 104 w 149"/>
                  <a:gd name="T11" fmla="*/ 117 h 222"/>
                  <a:gd name="T12" fmla="*/ 41 w 149"/>
                  <a:gd name="T13" fmla="*/ 117 h 222"/>
                  <a:gd name="T14" fmla="*/ 25 w 149"/>
                  <a:gd name="T15" fmla="*/ 132 h 222"/>
                  <a:gd name="T16" fmla="*/ 26 w 149"/>
                  <a:gd name="T17" fmla="*/ 206 h 222"/>
                  <a:gd name="T18" fmla="*/ 13 w 149"/>
                  <a:gd name="T19" fmla="*/ 222 h 222"/>
                  <a:gd name="T20" fmla="*/ 0 w 149"/>
                  <a:gd name="T21" fmla="*/ 206 h 222"/>
                  <a:gd name="T22" fmla="*/ 0 w 149"/>
                  <a:gd name="T23" fmla="*/ 14 h 222"/>
                  <a:gd name="T24" fmla="*/ 13 w 149"/>
                  <a:gd name="T25" fmla="*/ 0 h 222"/>
                  <a:gd name="T26" fmla="*/ 26 w 149"/>
                  <a:gd name="T27" fmla="*/ 15 h 222"/>
                  <a:gd name="T28" fmla="*/ 25 w 149"/>
                  <a:gd name="T29" fmla="*/ 77 h 222"/>
                  <a:gd name="T30" fmla="*/ 41 w 149"/>
                  <a:gd name="T31" fmla="*/ 93 h 222"/>
                  <a:gd name="T32" fmla="*/ 104 w 149"/>
                  <a:gd name="T33" fmla="*/ 93 h 222"/>
                  <a:gd name="T34" fmla="*/ 119 w 149"/>
                  <a:gd name="T35" fmla="*/ 78 h 222"/>
                  <a:gd name="T36" fmla="*/ 119 w 149"/>
                  <a:gd name="T37" fmla="*/ 16 h 222"/>
                  <a:gd name="T38" fmla="*/ 133 w 149"/>
                  <a:gd name="T39" fmla="*/ 1 h 222"/>
                  <a:gd name="T40" fmla="*/ 148 w 149"/>
                  <a:gd name="T41" fmla="*/ 17 h 222"/>
                  <a:gd name="T42" fmla="*/ 148 w 149"/>
                  <a:gd name="T43" fmla="*/ 111 h 222"/>
                  <a:gd name="T44" fmla="*/ 148 w 149"/>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222">
                    <a:moveTo>
                      <a:pt x="148" y="111"/>
                    </a:moveTo>
                    <a:cubicBezTo>
                      <a:pt x="148" y="141"/>
                      <a:pt x="148" y="171"/>
                      <a:pt x="148" y="201"/>
                    </a:cubicBezTo>
                    <a:cubicBezTo>
                      <a:pt x="148" y="211"/>
                      <a:pt x="149" y="222"/>
                      <a:pt x="134" y="222"/>
                    </a:cubicBezTo>
                    <a:cubicBezTo>
                      <a:pt x="117" y="222"/>
                      <a:pt x="119" y="211"/>
                      <a:pt x="119" y="200"/>
                    </a:cubicBezTo>
                    <a:cubicBezTo>
                      <a:pt x="119" y="178"/>
                      <a:pt x="118" y="155"/>
                      <a:pt x="119" y="133"/>
                    </a:cubicBezTo>
                    <a:cubicBezTo>
                      <a:pt x="119" y="122"/>
                      <a:pt x="116" y="117"/>
                      <a:pt x="104" y="117"/>
                    </a:cubicBezTo>
                    <a:cubicBezTo>
                      <a:pt x="83" y="118"/>
                      <a:pt x="62" y="118"/>
                      <a:pt x="41" y="117"/>
                    </a:cubicBezTo>
                    <a:cubicBezTo>
                      <a:pt x="29" y="117"/>
                      <a:pt x="25" y="120"/>
                      <a:pt x="25" y="132"/>
                    </a:cubicBezTo>
                    <a:cubicBezTo>
                      <a:pt x="26" y="157"/>
                      <a:pt x="25" y="181"/>
                      <a:pt x="26" y="206"/>
                    </a:cubicBezTo>
                    <a:cubicBezTo>
                      <a:pt x="26" y="215"/>
                      <a:pt x="24" y="222"/>
                      <a:pt x="13" y="222"/>
                    </a:cubicBezTo>
                    <a:cubicBezTo>
                      <a:pt x="1" y="222"/>
                      <a:pt x="0" y="214"/>
                      <a:pt x="0" y="206"/>
                    </a:cubicBezTo>
                    <a:cubicBezTo>
                      <a:pt x="0" y="142"/>
                      <a:pt x="0" y="78"/>
                      <a:pt x="0" y="14"/>
                    </a:cubicBezTo>
                    <a:cubicBezTo>
                      <a:pt x="0" y="5"/>
                      <a:pt x="4" y="0"/>
                      <a:pt x="13" y="0"/>
                    </a:cubicBezTo>
                    <a:cubicBezTo>
                      <a:pt x="23" y="1"/>
                      <a:pt x="26" y="6"/>
                      <a:pt x="26" y="15"/>
                    </a:cubicBezTo>
                    <a:cubicBezTo>
                      <a:pt x="25" y="36"/>
                      <a:pt x="26" y="56"/>
                      <a:pt x="25" y="77"/>
                    </a:cubicBezTo>
                    <a:cubicBezTo>
                      <a:pt x="25" y="88"/>
                      <a:pt x="29" y="93"/>
                      <a:pt x="41" y="93"/>
                    </a:cubicBezTo>
                    <a:cubicBezTo>
                      <a:pt x="62" y="92"/>
                      <a:pt x="83" y="92"/>
                      <a:pt x="104" y="93"/>
                    </a:cubicBezTo>
                    <a:cubicBezTo>
                      <a:pt x="115" y="93"/>
                      <a:pt x="119" y="88"/>
                      <a:pt x="119" y="78"/>
                    </a:cubicBezTo>
                    <a:cubicBezTo>
                      <a:pt x="119" y="57"/>
                      <a:pt x="119" y="37"/>
                      <a:pt x="119" y="16"/>
                    </a:cubicBezTo>
                    <a:cubicBezTo>
                      <a:pt x="118" y="5"/>
                      <a:pt x="123" y="1"/>
                      <a:pt x="133" y="1"/>
                    </a:cubicBezTo>
                    <a:cubicBezTo>
                      <a:pt x="145" y="0"/>
                      <a:pt x="148" y="6"/>
                      <a:pt x="148" y="17"/>
                    </a:cubicBezTo>
                    <a:cubicBezTo>
                      <a:pt x="148" y="48"/>
                      <a:pt x="148" y="80"/>
                      <a:pt x="148" y="111"/>
                    </a:cubicBezTo>
                    <a:cubicBezTo>
                      <a:pt x="148" y="111"/>
                      <a:pt x="148" y="11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04"/>
              <p:cNvSpPr/>
              <p:nvPr/>
            </p:nvSpPr>
            <p:spPr bwMode="auto">
              <a:xfrm>
                <a:off x="5579120" y="4456637"/>
                <a:ext cx="444500" cy="701675"/>
              </a:xfrm>
              <a:custGeom>
                <a:avLst/>
                <a:gdLst>
                  <a:gd name="T0" fmla="*/ 0 w 141"/>
                  <a:gd name="T1" fmla="*/ 111 h 222"/>
                  <a:gd name="T2" fmla="*/ 0 w 141"/>
                  <a:gd name="T3" fmla="*/ 16 h 222"/>
                  <a:gd name="T4" fmla="*/ 16 w 141"/>
                  <a:gd name="T5" fmla="*/ 0 h 222"/>
                  <a:gd name="T6" fmla="*/ 121 w 141"/>
                  <a:gd name="T7" fmla="*/ 0 h 222"/>
                  <a:gd name="T8" fmla="*/ 138 w 141"/>
                  <a:gd name="T9" fmla="*/ 15 h 222"/>
                  <a:gd name="T10" fmla="*/ 120 w 141"/>
                  <a:gd name="T11" fmla="*/ 28 h 222"/>
                  <a:gd name="T12" fmla="*/ 38 w 141"/>
                  <a:gd name="T13" fmla="*/ 28 h 222"/>
                  <a:gd name="T14" fmla="*/ 25 w 141"/>
                  <a:gd name="T15" fmla="*/ 40 h 222"/>
                  <a:gd name="T16" fmla="*/ 25 w 141"/>
                  <a:gd name="T17" fmla="*/ 82 h 222"/>
                  <a:gd name="T18" fmla="*/ 38 w 141"/>
                  <a:gd name="T19" fmla="*/ 94 h 222"/>
                  <a:gd name="T20" fmla="*/ 114 w 141"/>
                  <a:gd name="T21" fmla="*/ 93 h 222"/>
                  <a:gd name="T22" fmla="*/ 130 w 141"/>
                  <a:gd name="T23" fmla="*/ 106 h 222"/>
                  <a:gd name="T24" fmla="*/ 115 w 141"/>
                  <a:gd name="T25" fmla="*/ 121 h 222"/>
                  <a:gd name="T26" fmla="*/ 47 w 141"/>
                  <a:gd name="T27" fmla="*/ 121 h 222"/>
                  <a:gd name="T28" fmla="*/ 25 w 141"/>
                  <a:gd name="T29" fmla="*/ 142 h 222"/>
                  <a:gd name="T30" fmla="*/ 25 w 141"/>
                  <a:gd name="T31" fmla="*/ 173 h 222"/>
                  <a:gd name="T32" fmla="*/ 44 w 141"/>
                  <a:gd name="T33" fmla="*/ 193 h 222"/>
                  <a:gd name="T34" fmla="*/ 127 w 141"/>
                  <a:gd name="T35" fmla="*/ 193 h 222"/>
                  <a:gd name="T36" fmla="*/ 141 w 141"/>
                  <a:gd name="T37" fmla="*/ 207 h 222"/>
                  <a:gd name="T38" fmla="*/ 127 w 141"/>
                  <a:gd name="T39" fmla="*/ 222 h 222"/>
                  <a:gd name="T40" fmla="*/ 13 w 141"/>
                  <a:gd name="T41" fmla="*/ 222 h 222"/>
                  <a:gd name="T42" fmla="*/ 0 w 141"/>
                  <a:gd name="T43" fmla="*/ 206 h 222"/>
                  <a:gd name="T44" fmla="*/ 0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0" y="111"/>
                    </a:moveTo>
                    <a:cubicBezTo>
                      <a:pt x="0" y="79"/>
                      <a:pt x="1" y="48"/>
                      <a:pt x="0" y="16"/>
                    </a:cubicBezTo>
                    <a:cubicBezTo>
                      <a:pt x="0" y="5"/>
                      <a:pt x="4" y="0"/>
                      <a:pt x="16" y="0"/>
                    </a:cubicBezTo>
                    <a:cubicBezTo>
                      <a:pt x="51" y="1"/>
                      <a:pt x="86" y="0"/>
                      <a:pt x="121" y="0"/>
                    </a:cubicBezTo>
                    <a:cubicBezTo>
                      <a:pt x="131" y="0"/>
                      <a:pt x="138" y="2"/>
                      <a:pt x="138" y="15"/>
                    </a:cubicBezTo>
                    <a:cubicBezTo>
                      <a:pt x="138" y="29"/>
                      <a:pt x="129" y="28"/>
                      <a:pt x="120" y="28"/>
                    </a:cubicBezTo>
                    <a:cubicBezTo>
                      <a:pt x="93" y="28"/>
                      <a:pt x="65" y="28"/>
                      <a:pt x="38" y="28"/>
                    </a:cubicBezTo>
                    <a:cubicBezTo>
                      <a:pt x="29" y="27"/>
                      <a:pt x="25" y="31"/>
                      <a:pt x="25" y="40"/>
                    </a:cubicBezTo>
                    <a:cubicBezTo>
                      <a:pt x="26" y="54"/>
                      <a:pt x="26" y="68"/>
                      <a:pt x="25" y="82"/>
                    </a:cubicBezTo>
                    <a:cubicBezTo>
                      <a:pt x="25" y="91"/>
                      <a:pt x="29" y="94"/>
                      <a:pt x="38" y="94"/>
                    </a:cubicBezTo>
                    <a:cubicBezTo>
                      <a:pt x="63" y="93"/>
                      <a:pt x="89" y="93"/>
                      <a:pt x="114" y="93"/>
                    </a:cubicBezTo>
                    <a:cubicBezTo>
                      <a:pt x="123" y="93"/>
                      <a:pt x="130" y="93"/>
                      <a:pt x="130" y="106"/>
                    </a:cubicBezTo>
                    <a:cubicBezTo>
                      <a:pt x="130" y="117"/>
                      <a:pt x="125" y="121"/>
                      <a:pt x="115" y="121"/>
                    </a:cubicBezTo>
                    <a:cubicBezTo>
                      <a:pt x="92" y="120"/>
                      <a:pt x="70" y="121"/>
                      <a:pt x="47" y="121"/>
                    </a:cubicBezTo>
                    <a:cubicBezTo>
                      <a:pt x="25" y="121"/>
                      <a:pt x="25" y="121"/>
                      <a:pt x="25" y="142"/>
                    </a:cubicBezTo>
                    <a:cubicBezTo>
                      <a:pt x="25" y="152"/>
                      <a:pt x="25" y="163"/>
                      <a:pt x="25" y="173"/>
                    </a:cubicBezTo>
                    <a:cubicBezTo>
                      <a:pt x="25" y="193"/>
                      <a:pt x="25" y="193"/>
                      <a:pt x="44" y="193"/>
                    </a:cubicBezTo>
                    <a:cubicBezTo>
                      <a:pt x="72" y="193"/>
                      <a:pt x="99" y="193"/>
                      <a:pt x="127" y="193"/>
                    </a:cubicBezTo>
                    <a:cubicBezTo>
                      <a:pt x="138" y="192"/>
                      <a:pt x="141" y="197"/>
                      <a:pt x="141" y="207"/>
                    </a:cubicBezTo>
                    <a:cubicBezTo>
                      <a:pt x="140" y="216"/>
                      <a:pt x="139" y="222"/>
                      <a:pt x="127" y="222"/>
                    </a:cubicBezTo>
                    <a:cubicBezTo>
                      <a:pt x="89" y="222"/>
                      <a:pt x="51" y="222"/>
                      <a:pt x="13" y="222"/>
                    </a:cubicBezTo>
                    <a:cubicBezTo>
                      <a:pt x="2" y="222"/>
                      <a:pt x="0" y="215"/>
                      <a:pt x="0" y="206"/>
                    </a:cubicBezTo>
                    <a:cubicBezTo>
                      <a:pt x="0" y="174"/>
                      <a:pt x="0" y="142"/>
                      <a:pt x="0"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05"/>
              <p:cNvSpPr/>
              <p:nvPr/>
            </p:nvSpPr>
            <p:spPr bwMode="auto">
              <a:xfrm>
                <a:off x="11057583" y="4456637"/>
                <a:ext cx="444500" cy="701675"/>
              </a:xfrm>
              <a:custGeom>
                <a:avLst/>
                <a:gdLst>
                  <a:gd name="T0" fmla="*/ 1 w 141"/>
                  <a:gd name="T1" fmla="*/ 111 h 222"/>
                  <a:gd name="T2" fmla="*/ 1 w 141"/>
                  <a:gd name="T3" fmla="*/ 19 h 222"/>
                  <a:gd name="T4" fmla="*/ 18 w 141"/>
                  <a:gd name="T5" fmla="*/ 0 h 222"/>
                  <a:gd name="T6" fmla="*/ 124 w 141"/>
                  <a:gd name="T7" fmla="*/ 0 h 222"/>
                  <a:gd name="T8" fmla="*/ 137 w 141"/>
                  <a:gd name="T9" fmla="*/ 15 h 222"/>
                  <a:gd name="T10" fmla="*/ 124 w 141"/>
                  <a:gd name="T11" fmla="*/ 28 h 222"/>
                  <a:gd name="T12" fmla="*/ 42 w 141"/>
                  <a:gd name="T13" fmla="*/ 28 h 222"/>
                  <a:gd name="T14" fmla="*/ 26 w 141"/>
                  <a:gd name="T15" fmla="*/ 43 h 222"/>
                  <a:gd name="T16" fmla="*/ 26 w 141"/>
                  <a:gd name="T17" fmla="*/ 79 h 222"/>
                  <a:gd name="T18" fmla="*/ 41 w 141"/>
                  <a:gd name="T19" fmla="*/ 93 h 222"/>
                  <a:gd name="T20" fmla="*/ 115 w 141"/>
                  <a:gd name="T21" fmla="*/ 93 h 222"/>
                  <a:gd name="T22" fmla="*/ 130 w 141"/>
                  <a:gd name="T23" fmla="*/ 106 h 222"/>
                  <a:gd name="T24" fmla="*/ 115 w 141"/>
                  <a:gd name="T25" fmla="*/ 121 h 222"/>
                  <a:gd name="T26" fmla="*/ 44 w 141"/>
                  <a:gd name="T27" fmla="*/ 121 h 222"/>
                  <a:gd name="T28" fmla="*/ 26 w 141"/>
                  <a:gd name="T29" fmla="*/ 138 h 222"/>
                  <a:gd name="T30" fmla="*/ 26 w 141"/>
                  <a:gd name="T31" fmla="*/ 177 h 222"/>
                  <a:gd name="T32" fmla="*/ 42 w 141"/>
                  <a:gd name="T33" fmla="*/ 193 h 222"/>
                  <a:gd name="T34" fmla="*/ 123 w 141"/>
                  <a:gd name="T35" fmla="*/ 193 h 222"/>
                  <a:gd name="T36" fmla="*/ 141 w 141"/>
                  <a:gd name="T37" fmla="*/ 207 h 222"/>
                  <a:gd name="T38" fmla="*/ 123 w 141"/>
                  <a:gd name="T39" fmla="*/ 222 h 222"/>
                  <a:gd name="T40" fmla="*/ 18 w 141"/>
                  <a:gd name="T41" fmla="*/ 222 h 222"/>
                  <a:gd name="T42" fmla="*/ 1 w 141"/>
                  <a:gd name="T43" fmla="*/ 204 h 222"/>
                  <a:gd name="T44" fmla="*/ 1 w 141"/>
                  <a:gd name="T45"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 h="222">
                    <a:moveTo>
                      <a:pt x="1" y="111"/>
                    </a:moveTo>
                    <a:cubicBezTo>
                      <a:pt x="1" y="80"/>
                      <a:pt x="1" y="49"/>
                      <a:pt x="1" y="19"/>
                    </a:cubicBezTo>
                    <a:cubicBezTo>
                      <a:pt x="0" y="6"/>
                      <a:pt x="4" y="0"/>
                      <a:pt x="18" y="0"/>
                    </a:cubicBezTo>
                    <a:cubicBezTo>
                      <a:pt x="53" y="1"/>
                      <a:pt x="88" y="1"/>
                      <a:pt x="124" y="0"/>
                    </a:cubicBezTo>
                    <a:cubicBezTo>
                      <a:pt x="135" y="0"/>
                      <a:pt x="137" y="6"/>
                      <a:pt x="137" y="15"/>
                    </a:cubicBezTo>
                    <a:cubicBezTo>
                      <a:pt x="138" y="25"/>
                      <a:pt x="134" y="28"/>
                      <a:pt x="124" y="28"/>
                    </a:cubicBezTo>
                    <a:cubicBezTo>
                      <a:pt x="97" y="27"/>
                      <a:pt x="69" y="28"/>
                      <a:pt x="42" y="28"/>
                    </a:cubicBezTo>
                    <a:cubicBezTo>
                      <a:pt x="30" y="27"/>
                      <a:pt x="25" y="31"/>
                      <a:pt x="26" y="43"/>
                    </a:cubicBezTo>
                    <a:cubicBezTo>
                      <a:pt x="27" y="55"/>
                      <a:pt x="27" y="67"/>
                      <a:pt x="26" y="79"/>
                    </a:cubicBezTo>
                    <a:cubicBezTo>
                      <a:pt x="26" y="90"/>
                      <a:pt x="31" y="94"/>
                      <a:pt x="41" y="93"/>
                    </a:cubicBezTo>
                    <a:cubicBezTo>
                      <a:pt x="65" y="93"/>
                      <a:pt x="90" y="94"/>
                      <a:pt x="115" y="93"/>
                    </a:cubicBezTo>
                    <a:cubicBezTo>
                      <a:pt x="125" y="93"/>
                      <a:pt x="131" y="95"/>
                      <a:pt x="130" y="106"/>
                    </a:cubicBezTo>
                    <a:cubicBezTo>
                      <a:pt x="130" y="117"/>
                      <a:pt x="126" y="121"/>
                      <a:pt x="115" y="121"/>
                    </a:cubicBezTo>
                    <a:cubicBezTo>
                      <a:pt x="91" y="120"/>
                      <a:pt x="68" y="121"/>
                      <a:pt x="44" y="121"/>
                    </a:cubicBezTo>
                    <a:cubicBezTo>
                      <a:pt x="31" y="120"/>
                      <a:pt x="26" y="125"/>
                      <a:pt x="26" y="138"/>
                    </a:cubicBezTo>
                    <a:cubicBezTo>
                      <a:pt x="27" y="151"/>
                      <a:pt x="27" y="164"/>
                      <a:pt x="26" y="177"/>
                    </a:cubicBezTo>
                    <a:cubicBezTo>
                      <a:pt x="26" y="189"/>
                      <a:pt x="31" y="193"/>
                      <a:pt x="42" y="193"/>
                    </a:cubicBezTo>
                    <a:cubicBezTo>
                      <a:pt x="69" y="193"/>
                      <a:pt x="96" y="193"/>
                      <a:pt x="123" y="193"/>
                    </a:cubicBezTo>
                    <a:cubicBezTo>
                      <a:pt x="134" y="193"/>
                      <a:pt x="141" y="195"/>
                      <a:pt x="141" y="207"/>
                    </a:cubicBezTo>
                    <a:cubicBezTo>
                      <a:pt x="141" y="220"/>
                      <a:pt x="134" y="222"/>
                      <a:pt x="123" y="222"/>
                    </a:cubicBezTo>
                    <a:cubicBezTo>
                      <a:pt x="88" y="222"/>
                      <a:pt x="53" y="221"/>
                      <a:pt x="18" y="222"/>
                    </a:cubicBezTo>
                    <a:cubicBezTo>
                      <a:pt x="5" y="222"/>
                      <a:pt x="0" y="218"/>
                      <a:pt x="1" y="204"/>
                    </a:cubicBezTo>
                    <a:cubicBezTo>
                      <a:pt x="1" y="173"/>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06"/>
              <p:cNvSpPr/>
              <p:nvPr/>
            </p:nvSpPr>
            <p:spPr bwMode="auto">
              <a:xfrm>
                <a:off x="6704658" y="4421712"/>
                <a:ext cx="487363" cy="746125"/>
              </a:xfrm>
              <a:custGeom>
                <a:avLst/>
                <a:gdLst>
                  <a:gd name="T0" fmla="*/ 76 w 154"/>
                  <a:gd name="T1" fmla="*/ 236 h 236"/>
                  <a:gd name="T2" fmla="*/ 7 w 154"/>
                  <a:gd name="T3" fmla="*/ 195 h 236"/>
                  <a:gd name="T4" fmla="*/ 0 w 154"/>
                  <a:gd name="T5" fmla="*/ 168 h 236"/>
                  <a:gd name="T6" fmla="*/ 9 w 154"/>
                  <a:gd name="T7" fmla="*/ 161 h 236"/>
                  <a:gd name="T8" fmla="*/ 26 w 154"/>
                  <a:gd name="T9" fmla="*/ 170 h 236"/>
                  <a:gd name="T10" fmla="*/ 86 w 154"/>
                  <a:gd name="T11" fmla="*/ 209 h 236"/>
                  <a:gd name="T12" fmla="*/ 111 w 154"/>
                  <a:gd name="T13" fmla="*/ 197 h 236"/>
                  <a:gd name="T14" fmla="*/ 124 w 154"/>
                  <a:gd name="T15" fmla="*/ 167 h 236"/>
                  <a:gd name="T16" fmla="*/ 91 w 154"/>
                  <a:gd name="T17" fmla="*/ 137 h 236"/>
                  <a:gd name="T18" fmla="*/ 42 w 154"/>
                  <a:gd name="T19" fmla="*/ 121 h 236"/>
                  <a:gd name="T20" fmla="*/ 7 w 154"/>
                  <a:gd name="T21" fmla="*/ 67 h 236"/>
                  <a:gd name="T22" fmla="*/ 45 w 154"/>
                  <a:gd name="T23" fmla="*/ 12 h 236"/>
                  <a:gd name="T24" fmla="*/ 136 w 154"/>
                  <a:gd name="T25" fmla="*/ 42 h 236"/>
                  <a:gd name="T26" fmla="*/ 141 w 154"/>
                  <a:gd name="T27" fmla="*/ 63 h 236"/>
                  <a:gd name="T28" fmla="*/ 134 w 154"/>
                  <a:gd name="T29" fmla="*/ 74 h 236"/>
                  <a:gd name="T30" fmla="*/ 118 w 154"/>
                  <a:gd name="T31" fmla="*/ 66 h 236"/>
                  <a:gd name="T32" fmla="*/ 47 w 154"/>
                  <a:gd name="T33" fmla="*/ 40 h 236"/>
                  <a:gd name="T34" fmla="*/ 32 w 154"/>
                  <a:gd name="T35" fmla="*/ 69 h 236"/>
                  <a:gd name="T36" fmla="*/ 57 w 154"/>
                  <a:gd name="T37" fmla="*/ 96 h 236"/>
                  <a:gd name="T38" fmla="*/ 120 w 154"/>
                  <a:gd name="T39" fmla="*/ 118 h 236"/>
                  <a:gd name="T40" fmla="*/ 148 w 154"/>
                  <a:gd name="T41" fmla="*/ 186 h 236"/>
                  <a:gd name="T42" fmla="*/ 92 w 154"/>
                  <a:gd name="T43" fmla="*/ 235 h 236"/>
                  <a:gd name="T44" fmla="*/ 76 w 154"/>
                  <a:gd name="T45"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4" h="236">
                    <a:moveTo>
                      <a:pt x="76" y="236"/>
                    </a:moveTo>
                    <a:cubicBezTo>
                      <a:pt x="45" y="236"/>
                      <a:pt x="20" y="225"/>
                      <a:pt x="7" y="195"/>
                    </a:cubicBezTo>
                    <a:cubicBezTo>
                      <a:pt x="3" y="187"/>
                      <a:pt x="1" y="177"/>
                      <a:pt x="0" y="168"/>
                    </a:cubicBezTo>
                    <a:cubicBezTo>
                      <a:pt x="0" y="166"/>
                      <a:pt x="6" y="161"/>
                      <a:pt x="9" y="161"/>
                    </a:cubicBezTo>
                    <a:cubicBezTo>
                      <a:pt x="16" y="160"/>
                      <a:pt x="25" y="159"/>
                      <a:pt x="26" y="170"/>
                    </a:cubicBezTo>
                    <a:cubicBezTo>
                      <a:pt x="29" y="197"/>
                      <a:pt x="63" y="213"/>
                      <a:pt x="86" y="209"/>
                    </a:cubicBezTo>
                    <a:cubicBezTo>
                      <a:pt x="95" y="207"/>
                      <a:pt x="104" y="203"/>
                      <a:pt x="111" y="197"/>
                    </a:cubicBezTo>
                    <a:cubicBezTo>
                      <a:pt x="121" y="190"/>
                      <a:pt x="127" y="180"/>
                      <a:pt x="124" y="167"/>
                    </a:cubicBezTo>
                    <a:cubicBezTo>
                      <a:pt x="120" y="150"/>
                      <a:pt x="107" y="142"/>
                      <a:pt x="91" y="137"/>
                    </a:cubicBezTo>
                    <a:cubicBezTo>
                      <a:pt x="75" y="132"/>
                      <a:pt x="58" y="127"/>
                      <a:pt x="42" y="121"/>
                    </a:cubicBezTo>
                    <a:cubicBezTo>
                      <a:pt x="18" y="112"/>
                      <a:pt x="7" y="94"/>
                      <a:pt x="7" y="67"/>
                    </a:cubicBezTo>
                    <a:cubicBezTo>
                      <a:pt x="7" y="41"/>
                      <a:pt x="23" y="19"/>
                      <a:pt x="45" y="12"/>
                    </a:cubicBezTo>
                    <a:cubicBezTo>
                      <a:pt x="84" y="0"/>
                      <a:pt x="118" y="10"/>
                      <a:pt x="136" y="42"/>
                    </a:cubicBezTo>
                    <a:cubicBezTo>
                      <a:pt x="139" y="48"/>
                      <a:pt x="141" y="56"/>
                      <a:pt x="141" y="63"/>
                    </a:cubicBezTo>
                    <a:cubicBezTo>
                      <a:pt x="141" y="67"/>
                      <a:pt x="136" y="74"/>
                      <a:pt x="134" y="74"/>
                    </a:cubicBezTo>
                    <a:cubicBezTo>
                      <a:pt x="128" y="73"/>
                      <a:pt x="118" y="70"/>
                      <a:pt x="118" y="66"/>
                    </a:cubicBezTo>
                    <a:cubicBezTo>
                      <a:pt x="110" y="33"/>
                      <a:pt x="72" y="28"/>
                      <a:pt x="47" y="40"/>
                    </a:cubicBezTo>
                    <a:cubicBezTo>
                      <a:pt x="36" y="46"/>
                      <a:pt x="31" y="57"/>
                      <a:pt x="32" y="69"/>
                    </a:cubicBezTo>
                    <a:cubicBezTo>
                      <a:pt x="33" y="84"/>
                      <a:pt x="44" y="91"/>
                      <a:pt x="57" y="96"/>
                    </a:cubicBezTo>
                    <a:cubicBezTo>
                      <a:pt x="78" y="103"/>
                      <a:pt x="100" y="108"/>
                      <a:pt x="120" y="118"/>
                    </a:cubicBezTo>
                    <a:cubicBezTo>
                      <a:pt x="145" y="130"/>
                      <a:pt x="154" y="158"/>
                      <a:pt x="148" y="186"/>
                    </a:cubicBezTo>
                    <a:cubicBezTo>
                      <a:pt x="142" y="211"/>
                      <a:pt x="119" y="232"/>
                      <a:pt x="92" y="235"/>
                    </a:cubicBezTo>
                    <a:cubicBezTo>
                      <a:pt x="87" y="235"/>
                      <a:pt x="81" y="235"/>
                      <a:pt x="76" y="2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07"/>
              <p:cNvSpPr/>
              <p:nvPr/>
            </p:nvSpPr>
            <p:spPr bwMode="auto">
              <a:xfrm>
                <a:off x="12206933" y="4456637"/>
                <a:ext cx="473075" cy="701675"/>
              </a:xfrm>
              <a:custGeom>
                <a:avLst/>
                <a:gdLst>
                  <a:gd name="T0" fmla="*/ 148 w 150"/>
                  <a:gd name="T1" fmla="*/ 111 h 222"/>
                  <a:gd name="T2" fmla="*/ 148 w 150"/>
                  <a:gd name="T3" fmla="*/ 204 h 222"/>
                  <a:gd name="T4" fmla="*/ 136 w 150"/>
                  <a:gd name="T5" fmla="*/ 222 h 222"/>
                  <a:gd name="T6" fmla="*/ 123 w 150"/>
                  <a:gd name="T7" fmla="*/ 205 h 222"/>
                  <a:gd name="T8" fmla="*/ 124 w 150"/>
                  <a:gd name="T9" fmla="*/ 130 h 222"/>
                  <a:gd name="T10" fmla="*/ 111 w 150"/>
                  <a:gd name="T11" fmla="*/ 117 h 222"/>
                  <a:gd name="T12" fmla="*/ 43 w 150"/>
                  <a:gd name="T13" fmla="*/ 117 h 222"/>
                  <a:gd name="T14" fmla="*/ 28 w 150"/>
                  <a:gd name="T15" fmla="*/ 132 h 222"/>
                  <a:gd name="T16" fmla="*/ 29 w 150"/>
                  <a:gd name="T17" fmla="*/ 205 h 222"/>
                  <a:gd name="T18" fmla="*/ 13 w 150"/>
                  <a:gd name="T19" fmla="*/ 222 h 222"/>
                  <a:gd name="T20" fmla="*/ 2 w 150"/>
                  <a:gd name="T21" fmla="*/ 206 h 222"/>
                  <a:gd name="T22" fmla="*/ 1 w 150"/>
                  <a:gd name="T23" fmla="*/ 15 h 222"/>
                  <a:gd name="T24" fmla="*/ 14 w 150"/>
                  <a:gd name="T25" fmla="*/ 0 h 222"/>
                  <a:gd name="T26" fmla="*/ 29 w 150"/>
                  <a:gd name="T27" fmla="*/ 16 h 222"/>
                  <a:gd name="T28" fmla="*/ 28 w 150"/>
                  <a:gd name="T29" fmla="*/ 76 h 222"/>
                  <a:gd name="T30" fmla="*/ 45 w 150"/>
                  <a:gd name="T31" fmla="*/ 92 h 222"/>
                  <a:gd name="T32" fmla="*/ 110 w 150"/>
                  <a:gd name="T33" fmla="*/ 93 h 222"/>
                  <a:gd name="T34" fmla="*/ 124 w 150"/>
                  <a:gd name="T35" fmla="*/ 79 h 222"/>
                  <a:gd name="T36" fmla="*/ 124 w 150"/>
                  <a:gd name="T37" fmla="*/ 19 h 222"/>
                  <a:gd name="T38" fmla="*/ 135 w 150"/>
                  <a:gd name="T39" fmla="*/ 0 h 222"/>
                  <a:gd name="T40" fmla="*/ 148 w 150"/>
                  <a:gd name="T41" fmla="*/ 19 h 222"/>
                  <a:gd name="T42" fmla="*/ 148 w 150"/>
                  <a:gd name="T43"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0" h="222">
                    <a:moveTo>
                      <a:pt x="148" y="111"/>
                    </a:moveTo>
                    <a:cubicBezTo>
                      <a:pt x="148" y="142"/>
                      <a:pt x="148" y="173"/>
                      <a:pt x="148" y="204"/>
                    </a:cubicBezTo>
                    <a:cubicBezTo>
                      <a:pt x="148" y="213"/>
                      <a:pt x="149" y="222"/>
                      <a:pt x="136" y="222"/>
                    </a:cubicBezTo>
                    <a:cubicBezTo>
                      <a:pt x="123" y="222"/>
                      <a:pt x="123" y="214"/>
                      <a:pt x="123" y="205"/>
                    </a:cubicBezTo>
                    <a:cubicBezTo>
                      <a:pt x="123" y="180"/>
                      <a:pt x="123" y="155"/>
                      <a:pt x="124" y="130"/>
                    </a:cubicBezTo>
                    <a:cubicBezTo>
                      <a:pt x="124" y="121"/>
                      <a:pt x="121" y="117"/>
                      <a:pt x="111" y="117"/>
                    </a:cubicBezTo>
                    <a:cubicBezTo>
                      <a:pt x="88" y="118"/>
                      <a:pt x="66" y="118"/>
                      <a:pt x="43" y="117"/>
                    </a:cubicBezTo>
                    <a:cubicBezTo>
                      <a:pt x="32" y="117"/>
                      <a:pt x="28" y="121"/>
                      <a:pt x="28" y="132"/>
                    </a:cubicBezTo>
                    <a:cubicBezTo>
                      <a:pt x="29" y="157"/>
                      <a:pt x="28" y="181"/>
                      <a:pt x="29" y="205"/>
                    </a:cubicBezTo>
                    <a:cubicBezTo>
                      <a:pt x="29" y="216"/>
                      <a:pt x="25" y="222"/>
                      <a:pt x="13" y="222"/>
                    </a:cubicBezTo>
                    <a:cubicBezTo>
                      <a:pt x="0" y="222"/>
                      <a:pt x="2" y="214"/>
                      <a:pt x="2" y="206"/>
                    </a:cubicBezTo>
                    <a:cubicBezTo>
                      <a:pt x="1" y="142"/>
                      <a:pt x="2" y="79"/>
                      <a:pt x="1" y="15"/>
                    </a:cubicBezTo>
                    <a:cubicBezTo>
                      <a:pt x="1" y="6"/>
                      <a:pt x="2" y="0"/>
                      <a:pt x="14" y="0"/>
                    </a:cubicBezTo>
                    <a:cubicBezTo>
                      <a:pt x="25" y="1"/>
                      <a:pt x="29" y="6"/>
                      <a:pt x="29" y="16"/>
                    </a:cubicBezTo>
                    <a:cubicBezTo>
                      <a:pt x="28" y="36"/>
                      <a:pt x="29" y="56"/>
                      <a:pt x="28" y="76"/>
                    </a:cubicBezTo>
                    <a:cubicBezTo>
                      <a:pt x="28" y="88"/>
                      <a:pt x="33" y="93"/>
                      <a:pt x="45" y="92"/>
                    </a:cubicBezTo>
                    <a:cubicBezTo>
                      <a:pt x="67" y="92"/>
                      <a:pt x="89" y="92"/>
                      <a:pt x="110" y="93"/>
                    </a:cubicBezTo>
                    <a:cubicBezTo>
                      <a:pt x="121" y="93"/>
                      <a:pt x="124" y="88"/>
                      <a:pt x="124" y="79"/>
                    </a:cubicBezTo>
                    <a:cubicBezTo>
                      <a:pt x="123" y="59"/>
                      <a:pt x="123" y="39"/>
                      <a:pt x="124" y="19"/>
                    </a:cubicBezTo>
                    <a:cubicBezTo>
                      <a:pt x="124" y="11"/>
                      <a:pt x="121" y="0"/>
                      <a:pt x="135" y="0"/>
                    </a:cubicBezTo>
                    <a:cubicBezTo>
                      <a:pt x="150" y="0"/>
                      <a:pt x="148" y="9"/>
                      <a:pt x="148" y="19"/>
                    </a:cubicBezTo>
                    <a:cubicBezTo>
                      <a:pt x="148" y="50"/>
                      <a:pt x="148" y="81"/>
                      <a:pt x="148"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08"/>
              <p:cNvSpPr/>
              <p:nvPr/>
            </p:nvSpPr>
            <p:spPr bwMode="auto">
              <a:xfrm>
                <a:off x="3593158" y="4456637"/>
                <a:ext cx="476250" cy="736600"/>
              </a:xfrm>
              <a:custGeom>
                <a:avLst/>
                <a:gdLst>
                  <a:gd name="T0" fmla="*/ 151 w 151"/>
                  <a:gd name="T1" fmla="*/ 83 h 233"/>
                  <a:gd name="T2" fmla="*/ 143 w 151"/>
                  <a:gd name="T3" fmla="*/ 175 h 233"/>
                  <a:gd name="T4" fmla="*/ 104 w 151"/>
                  <a:gd name="T5" fmla="*/ 220 h 233"/>
                  <a:gd name="T6" fmla="*/ 3 w 151"/>
                  <a:gd name="T7" fmla="*/ 159 h 233"/>
                  <a:gd name="T8" fmla="*/ 0 w 151"/>
                  <a:gd name="T9" fmla="*/ 17 h 233"/>
                  <a:gd name="T10" fmla="*/ 13 w 151"/>
                  <a:gd name="T11" fmla="*/ 1 h 233"/>
                  <a:gd name="T12" fmla="*/ 26 w 151"/>
                  <a:gd name="T13" fmla="*/ 17 h 233"/>
                  <a:gd name="T14" fmla="*/ 28 w 151"/>
                  <a:gd name="T15" fmla="*/ 155 h 233"/>
                  <a:gd name="T16" fmla="*/ 62 w 151"/>
                  <a:gd name="T17" fmla="*/ 198 h 233"/>
                  <a:gd name="T18" fmla="*/ 112 w 151"/>
                  <a:gd name="T19" fmla="*/ 180 h 233"/>
                  <a:gd name="T20" fmla="*/ 122 w 151"/>
                  <a:gd name="T21" fmla="*/ 135 h 233"/>
                  <a:gd name="T22" fmla="*/ 122 w 151"/>
                  <a:gd name="T23" fmla="*/ 18 h 233"/>
                  <a:gd name="T24" fmla="*/ 135 w 151"/>
                  <a:gd name="T25" fmla="*/ 1 h 233"/>
                  <a:gd name="T26" fmla="*/ 148 w 151"/>
                  <a:gd name="T27" fmla="*/ 19 h 233"/>
                  <a:gd name="T28" fmla="*/ 148 w 151"/>
                  <a:gd name="T29" fmla="*/ 83 h 233"/>
                  <a:gd name="T30" fmla="*/ 151 w 151"/>
                  <a:gd name="T31" fmla="*/ 8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33">
                    <a:moveTo>
                      <a:pt x="151" y="83"/>
                    </a:moveTo>
                    <a:cubicBezTo>
                      <a:pt x="148" y="114"/>
                      <a:pt x="146" y="145"/>
                      <a:pt x="143" y="175"/>
                    </a:cubicBezTo>
                    <a:cubicBezTo>
                      <a:pt x="140" y="199"/>
                      <a:pt x="125" y="215"/>
                      <a:pt x="104" y="220"/>
                    </a:cubicBezTo>
                    <a:cubicBezTo>
                      <a:pt x="57" y="233"/>
                      <a:pt x="6" y="221"/>
                      <a:pt x="3" y="159"/>
                    </a:cubicBezTo>
                    <a:cubicBezTo>
                      <a:pt x="1" y="111"/>
                      <a:pt x="1" y="64"/>
                      <a:pt x="0" y="17"/>
                    </a:cubicBezTo>
                    <a:cubicBezTo>
                      <a:pt x="0" y="8"/>
                      <a:pt x="2" y="0"/>
                      <a:pt x="13" y="1"/>
                    </a:cubicBezTo>
                    <a:cubicBezTo>
                      <a:pt x="24" y="1"/>
                      <a:pt x="26" y="8"/>
                      <a:pt x="26" y="17"/>
                    </a:cubicBezTo>
                    <a:cubicBezTo>
                      <a:pt x="27" y="63"/>
                      <a:pt x="27" y="109"/>
                      <a:pt x="28" y="155"/>
                    </a:cubicBezTo>
                    <a:cubicBezTo>
                      <a:pt x="28" y="175"/>
                      <a:pt x="43" y="193"/>
                      <a:pt x="62" y="198"/>
                    </a:cubicBezTo>
                    <a:cubicBezTo>
                      <a:pt x="79" y="202"/>
                      <a:pt x="105" y="195"/>
                      <a:pt x="112" y="180"/>
                    </a:cubicBezTo>
                    <a:cubicBezTo>
                      <a:pt x="119" y="166"/>
                      <a:pt x="122" y="150"/>
                      <a:pt x="122" y="135"/>
                    </a:cubicBezTo>
                    <a:cubicBezTo>
                      <a:pt x="123" y="96"/>
                      <a:pt x="122" y="57"/>
                      <a:pt x="122" y="18"/>
                    </a:cubicBezTo>
                    <a:cubicBezTo>
                      <a:pt x="122" y="10"/>
                      <a:pt x="122" y="1"/>
                      <a:pt x="135" y="1"/>
                    </a:cubicBezTo>
                    <a:cubicBezTo>
                      <a:pt x="148" y="0"/>
                      <a:pt x="149" y="9"/>
                      <a:pt x="148" y="19"/>
                    </a:cubicBezTo>
                    <a:cubicBezTo>
                      <a:pt x="148" y="40"/>
                      <a:pt x="148" y="62"/>
                      <a:pt x="148" y="83"/>
                    </a:cubicBezTo>
                    <a:cubicBezTo>
                      <a:pt x="149" y="83"/>
                      <a:pt x="150" y="83"/>
                      <a:pt x="151"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09"/>
              <p:cNvSpPr>
                <a:spLocks noEditPoints="1"/>
              </p:cNvSpPr>
              <p:nvPr/>
            </p:nvSpPr>
            <p:spPr bwMode="auto">
              <a:xfrm>
                <a:off x="1967558" y="4453462"/>
                <a:ext cx="546100" cy="717550"/>
              </a:xfrm>
              <a:custGeom>
                <a:avLst/>
                <a:gdLst>
                  <a:gd name="T0" fmla="*/ 173 w 173"/>
                  <a:gd name="T1" fmla="*/ 219 h 227"/>
                  <a:gd name="T2" fmla="*/ 142 w 173"/>
                  <a:gd name="T3" fmla="*/ 208 h 227"/>
                  <a:gd name="T4" fmla="*/ 128 w 173"/>
                  <a:gd name="T5" fmla="*/ 169 h 227"/>
                  <a:gd name="T6" fmla="*/ 110 w 173"/>
                  <a:gd name="T7" fmla="*/ 154 h 227"/>
                  <a:gd name="T8" fmla="*/ 58 w 173"/>
                  <a:gd name="T9" fmla="*/ 155 h 227"/>
                  <a:gd name="T10" fmla="*/ 45 w 173"/>
                  <a:gd name="T11" fmla="*/ 164 h 227"/>
                  <a:gd name="T12" fmla="*/ 30 w 173"/>
                  <a:gd name="T13" fmla="*/ 210 h 227"/>
                  <a:gd name="T14" fmla="*/ 12 w 173"/>
                  <a:gd name="T15" fmla="*/ 223 h 227"/>
                  <a:gd name="T16" fmla="*/ 3 w 173"/>
                  <a:gd name="T17" fmla="*/ 209 h 227"/>
                  <a:gd name="T18" fmla="*/ 61 w 173"/>
                  <a:gd name="T19" fmla="*/ 34 h 227"/>
                  <a:gd name="T20" fmla="*/ 67 w 173"/>
                  <a:gd name="T21" fmla="*/ 14 h 227"/>
                  <a:gd name="T22" fmla="*/ 86 w 173"/>
                  <a:gd name="T23" fmla="*/ 1 h 227"/>
                  <a:gd name="T24" fmla="*/ 104 w 173"/>
                  <a:gd name="T25" fmla="*/ 17 h 227"/>
                  <a:gd name="T26" fmla="*/ 140 w 173"/>
                  <a:gd name="T27" fmla="*/ 121 h 227"/>
                  <a:gd name="T28" fmla="*/ 173 w 173"/>
                  <a:gd name="T29" fmla="*/ 219 h 227"/>
                  <a:gd name="T30" fmla="*/ 86 w 173"/>
                  <a:gd name="T31" fmla="*/ 41 h 227"/>
                  <a:gd name="T32" fmla="*/ 82 w 173"/>
                  <a:gd name="T33" fmla="*/ 42 h 227"/>
                  <a:gd name="T34" fmla="*/ 58 w 173"/>
                  <a:gd name="T35" fmla="*/ 122 h 227"/>
                  <a:gd name="T36" fmla="*/ 67 w 173"/>
                  <a:gd name="T37" fmla="*/ 131 h 227"/>
                  <a:gd name="T38" fmla="*/ 100 w 173"/>
                  <a:gd name="T39" fmla="*/ 132 h 227"/>
                  <a:gd name="T40" fmla="*/ 111 w 173"/>
                  <a:gd name="T41" fmla="*/ 116 h 227"/>
                  <a:gd name="T42" fmla="*/ 102 w 173"/>
                  <a:gd name="T43" fmla="*/ 87 h 227"/>
                  <a:gd name="T44" fmla="*/ 86 w 173"/>
                  <a:gd name="T45" fmla="*/ 4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27">
                    <a:moveTo>
                      <a:pt x="173" y="219"/>
                    </a:moveTo>
                    <a:cubicBezTo>
                      <a:pt x="153" y="227"/>
                      <a:pt x="148" y="225"/>
                      <a:pt x="142" y="208"/>
                    </a:cubicBezTo>
                    <a:cubicBezTo>
                      <a:pt x="137" y="195"/>
                      <a:pt x="132" y="182"/>
                      <a:pt x="128" y="169"/>
                    </a:cubicBezTo>
                    <a:cubicBezTo>
                      <a:pt x="126" y="159"/>
                      <a:pt x="120" y="154"/>
                      <a:pt x="110" y="154"/>
                    </a:cubicBezTo>
                    <a:cubicBezTo>
                      <a:pt x="93" y="154"/>
                      <a:pt x="75" y="154"/>
                      <a:pt x="58" y="155"/>
                    </a:cubicBezTo>
                    <a:cubicBezTo>
                      <a:pt x="53" y="155"/>
                      <a:pt x="47" y="160"/>
                      <a:pt x="45" y="164"/>
                    </a:cubicBezTo>
                    <a:cubicBezTo>
                      <a:pt x="39" y="179"/>
                      <a:pt x="34" y="194"/>
                      <a:pt x="30" y="210"/>
                    </a:cubicBezTo>
                    <a:cubicBezTo>
                      <a:pt x="28" y="220"/>
                      <a:pt x="22" y="223"/>
                      <a:pt x="12" y="223"/>
                    </a:cubicBezTo>
                    <a:cubicBezTo>
                      <a:pt x="3" y="222"/>
                      <a:pt x="0" y="219"/>
                      <a:pt x="3" y="209"/>
                    </a:cubicBezTo>
                    <a:cubicBezTo>
                      <a:pt x="22" y="151"/>
                      <a:pt x="42" y="92"/>
                      <a:pt x="61" y="34"/>
                    </a:cubicBezTo>
                    <a:cubicBezTo>
                      <a:pt x="63" y="27"/>
                      <a:pt x="65" y="20"/>
                      <a:pt x="67" y="14"/>
                    </a:cubicBezTo>
                    <a:cubicBezTo>
                      <a:pt x="70" y="5"/>
                      <a:pt x="75" y="0"/>
                      <a:pt x="86" y="1"/>
                    </a:cubicBezTo>
                    <a:cubicBezTo>
                      <a:pt x="96" y="2"/>
                      <a:pt x="101" y="6"/>
                      <a:pt x="104" y="17"/>
                    </a:cubicBezTo>
                    <a:cubicBezTo>
                      <a:pt x="115" y="52"/>
                      <a:pt x="128" y="86"/>
                      <a:pt x="140" y="121"/>
                    </a:cubicBezTo>
                    <a:cubicBezTo>
                      <a:pt x="151" y="153"/>
                      <a:pt x="162" y="186"/>
                      <a:pt x="173" y="219"/>
                    </a:cubicBezTo>
                    <a:close/>
                    <a:moveTo>
                      <a:pt x="86" y="41"/>
                    </a:moveTo>
                    <a:cubicBezTo>
                      <a:pt x="85" y="41"/>
                      <a:pt x="83" y="41"/>
                      <a:pt x="82" y="42"/>
                    </a:cubicBezTo>
                    <a:cubicBezTo>
                      <a:pt x="74" y="68"/>
                      <a:pt x="65" y="95"/>
                      <a:pt x="58" y="122"/>
                    </a:cubicBezTo>
                    <a:cubicBezTo>
                      <a:pt x="57" y="124"/>
                      <a:pt x="63" y="131"/>
                      <a:pt x="67" y="131"/>
                    </a:cubicBezTo>
                    <a:cubicBezTo>
                      <a:pt x="78" y="132"/>
                      <a:pt x="89" y="132"/>
                      <a:pt x="100" y="132"/>
                    </a:cubicBezTo>
                    <a:cubicBezTo>
                      <a:pt x="112" y="132"/>
                      <a:pt x="114" y="126"/>
                      <a:pt x="111" y="116"/>
                    </a:cubicBezTo>
                    <a:cubicBezTo>
                      <a:pt x="109" y="106"/>
                      <a:pt x="106" y="97"/>
                      <a:pt x="102" y="87"/>
                    </a:cubicBezTo>
                    <a:cubicBezTo>
                      <a:pt x="97" y="72"/>
                      <a:pt x="91" y="56"/>
                      <a:pt x="8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10"/>
              <p:cNvSpPr/>
              <p:nvPr/>
            </p:nvSpPr>
            <p:spPr bwMode="auto">
              <a:xfrm>
                <a:off x="829320" y="4456637"/>
                <a:ext cx="466725" cy="752475"/>
              </a:xfrm>
              <a:custGeom>
                <a:avLst/>
                <a:gdLst>
                  <a:gd name="T0" fmla="*/ 148 w 148"/>
                  <a:gd name="T1" fmla="*/ 88 h 238"/>
                  <a:gd name="T2" fmla="*/ 148 w 148"/>
                  <a:gd name="T3" fmla="*/ 156 h 238"/>
                  <a:gd name="T4" fmla="*/ 114 w 148"/>
                  <a:gd name="T5" fmla="*/ 216 h 238"/>
                  <a:gd name="T6" fmla="*/ 3 w 148"/>
                  <a:gd name="T7" fmla="*/ 158 h 238"/>
                  <a:gd name="T8" fmla="*/ 1 w 148"/>
                  <a:gd name="T9" fmla="*/ 40 h 238"/>
                  <a:gd name="T10" fmla="*/ 1 w 148"/>
                  <a:gd name="T11" fmla="*/ 14 h 238"/>
                  <a:gd name="T12" fmla="*/ 13 w 148"/>
                  <a:gd name="T13" fmla="*/ 0 h 238"/>
                  <a:gd name="T14" fmla="*/ 26 w 148"/>
                  <a:gd name="T15" fmla="*/ 14 h 238"/>
                  <a:gd name="T16" fmla="*/ 26 w 148"/>
                  <a:gd name="T17" fmla="*/ 124 h 238"/>
                  <a:gd name="T18" fmla="*/ 33 w 148"/>
                  <a:gd name="T19" fmla="*/ 172 h 238"/>
                  <a:gd name="T20" fmla="*/ 70 w 148"/>
                  <a:gd name="T21" fmla="*/ 198 h 238"/>
                  <a:gd name="T22" fmla="*/ 115 w 148"/>
                  <a:gd name="T23" fmla="*/ 176 h 238"/>
                  <a:gd name="T24" fmla="*/ 123 w 148"/>
                  <a:gd name="T25" fmla="*/ 138 h 238"/>
                  <a:gd name="T26" fmla="*/ 123 w 148"/>
                  <a:gd name="T27" fmla="*/ 15 h 238"/>
                  <a:gd name="T28" fmla="*/ 135 w 148"/>
                  <a:gd name="T29" fmla="*/ 0 h 238"/>
                  <a:gd name="T30" fmla="*/ 148 w 148"/>
                  <a:gd name="T31" fmla="*/ 15 h 238"/>
                  <a:gd name="T32" fmla="*/ 148 w 148"/>
                  <a:gd name="T33" fmla="*/ 88 h 238"/>
                  <a:gd name="T34" fmla="*/ 148 w 148"/>
                  <a:gd name="T35" fmla="*/ 8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238">
                    <a:moveTo>
                      <a:pt x="148" y="88"/>
                    </a:moveTo>
                    <a:cubicBezTo>
                      <a:pt x="148" y="111"/>
                      <a:pt x="148" y="133"/>
                      <a:pt x="148" y="156"/>
                    </a:cubicBezTo>
                    <a:cubicBezTo>
                      <a:pt x="147" y="182"/>
                      <a:pt x="139" y="206"/>
                      <a:pt x="114" y="216"/>
                    </a:cubicBezTo>
                    <a:cubicBezTo>
                      <a:pt x="55" y="238"/>
                      <a:pt x="9" y="221"/>
                      <a:pt x="3" y="158"/>
                    </a:cubicBezTo>
                    <a:cubicBezTo>
                      <a:pt x="0" y="119"/>
                      <a:pt x="1" y="79"/>
                      <a:pt x="1" y="40"/>
                    </a:cubicBezTo>
                    <a:cubicBezTo>
                      <a:pt x="1" y="31"/>
                      <a:pt x="1" y="23"/>
                      <a:pt x="1" y="14"/>
                    </a:cubicBezTo>
                    <a:cubicBezTo>
                      <a:pt x="1" y="6"/>
                      <a:pt x="3" y="0"/>
                      <a:pt x="13" y="0"/>
                    </a:cubicBezTo>
                    <a:cubicBezTo>
                      <a:pt x="23" y="0"/>
                      <a:pt x="26" y="6"/>
                      <a:pt x="26" y="14"/>
                    </a:cubicBezTo>
                    <a:cubicBezTo>
                      <a:pt x="26" y="51"/>
                      <a:pt x="25" y="87"/>
                      <a:pt x="26" y="124"/>
                    </a:cubicBezTo>
                    <a:cubicBezTo>
                      <a:pt x="27" y="140"/>
                      <a:pt x="30" y="156"/>
                      <a:pt x="33" y="172"/>
                    </a:cubicBezTo>
                    <a:cubicBezTo>
                      <a:pt x="36" y="185"/>
                      <a:pt x="55" y="197"/>
                      <a:pt x="70" y="198"/>
                    </a:cubicBezTo>
                    <a:cubicBezTo>
                      <a:pt x="89" y="199"/>
                      <a:pt x="107" y="195"/>
                      <a:pt x="115" y="176"/>
                    </a:cubicBezTo>
                    <a:cubicBezTo>
                      <a:pt x="120" y="164"/>
                      <a:pt x="122" y="151"/>
                      <a:pt x="123" y="138"/>
                    </a:cubicBezTo>
                    <a:cubicBezTo>
                      <a:pt x="124" y="97"/>
                      <a:pt x="123" y="56"/>
                      <a:pt x="123" y="15"/>
                    </a:cubicBezTo>
                    <a:cubicBezTo>
                      <a:pt x="123" y="7"/>
                      <a:pt x="123" y="1"/>
                      <a:pt x="135" y="0"/>
                    </a:cubicBezTo>
                    <a:cubicBezTo>
                      <a:pt x="146" y="0"/>
                      <a:pt x="148" y="5"/>
                      <a:pt x="148" y="15"/>
                    </a:cubicBezTo>
                    <a:cubicBezTo>
                      <a:pt x="148" y="40"/>
                      <a:pt x="148" y="64"/>
                      <a:pt x="148" y="88"/>
                    </a:cubicBezTo>
                    <a:cubicBezTo>
                      <a:pt x="148" y="88"/>
                      <a:pt x="148" y="88"/>
                      <a:pt x="148" y="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11"/>
              <p:cNvSpPr/>
              <p:nvPr/>
            </p:nvSpPr>
            <p:spPr bwMode="auto">
              <a:xfrm>
                <a:off x="11584633" y="4437587"/>
                <a:ext cx="536575" cy="765175"/>
              </a:xfrm>
              <a:custGeom>
                <a:avLst/>
                <a:gdLst>
                  <a:gd name="T0" fmla="*/ 144 w 170"/>
                  <a:gd name="T1" fmla="*/ 151 h 242"/>
                  <a:gd name="T2" fmla="*/ 161 w 170"/>
                  <a:gd name="T3" fmla="*/ 181 h 242"/>
                  <a:gd name="T4" fmla="*/ 35 w 170"/>
                  <a:gd name="T5" fmla="*/ 212 h 242"/>
                  <a:gd name="T6" fmla="*/ 4 w 170"/>
                  <a:gd name="T7" fmla="*/ 142 h 242"/>
                  <a:gd name="T8" fmla="*/ 11 w 170"/>
                  <a:gd name="T9" fmla="*/ 57 h 242"/>
                  <a:gd name="T10" fmla="*/ 87 w 170"/>
                  <a:gd name="T11" fmla="*/ 2 h 242"/>
                  <a:gd name="T12" fmla="*/ 158 w 170"/>
                  <a:gd name="T13" fmla="*/ 48 h 242"/>
                  <a:gd name="T14" fmla="*/ 156 w 170"/>
                  <a:gd name="T15" fmla="*/ 71 h 242"/>
                  <a:gd name="T16" fmla="*/ 134 w 170"/>
                  <a:gd name="T17" fmla="*/ 62 h 242"/>
                  <a:gd name="T18" fmla="*/ 83 w 170"/>
                  <a:gd name="T19" fmla="*/ 29 h 242"/>
                  <a:gd name="T20" fmla="*/ 35 w 170"/>
                  <a:gd name="T21" fmla="*/ 71 h 242"/>
                  <a:gd name="T22" fmla="*/ 35 w 170"/>
                  <a:gd name="T23" fmla="*/ 161 h 242"/>
                  <a:gd name="T24" fmla="*/ 82 w 170"/>
                  <a:gd name="T25" fmla="*/ 205 h 242"/>
                  <a:gd name="T26" fmla="*/ 135 w 170"/>
                  <a:gd name="T27" fmla="*/ 171 h 242"/>
                  <a:gd name="T28" fmla="*/ 144 w 170"/>
                  <a:gd name="T29" fmla="*/ 15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242">
                    <a:moveTo>
                      <a:pt x="144" y="151"/>
                    </a:moveTo>
                    <a:cubicBezTo>
                      <a:pt x="168" y="154"/>
                      <a:pt x="170" y="160"/>
                      <a:pt x="161" y="181"/>
                    </a:cubicBezTo>
                    <a:cubicBezTo>
                      <a:pt x="138" y="242"/>
                      <a:pt x="67" y="241"/>
                      <a:pt x="35" y="212"/>
                    </a:cubicBezTo>
                    <a:cubicBezTo>
                      <a:pt x="15" y="193"/>
                      <a:pt x="7" y="168"/>
                      <a:pt x="4" y="142"/>
                    </a:cubicBezTo>
                    <a:cubicBezTo>
                      <a:pt x="0" y="114"/>
                      <a:pt x="1" y="85"/>
                      <a:pt x="11" y="57"/>
                    </a:cubicBezTo>
                    <a:cubicBezTo>
                      <a:pt x="23" y="28"/>
                      <a:pt x="49" y="4"/>
                      <a:pt x="87" y="2"/>
                    </a:cubicBezTo>
                    <a:cubicBezTo>
                      <a:pt x="119" y="0"/>
                      <a:pt x="145" y="17"/>
                      <a:pt x="158" y="48"/>
                    </a:cubicBezTo>
                    <a:cubicBezTo>
                      <a:pt x="162" y="56"/>
                      <a:pt x="170" y="64"/>
                      <a:pt x="156" y="71"/>
                    </a:cubicBezTo>
                    <a:cubicBezTo>
                      <a:pt x="145" y="75"/>
                      <a:pt x="139" y="73"/>
                      <a:pt x="134" y="62"/>
                    </a:cubicBezTo>
                    <a:cubicBezTo>
                      <a:pt x="124" y="37"/>
                      <a:pt x="109" y="27"/>
                      <a:pt x="83" y="29"/>
                    </a:cubicBezTo>
                    <a:cubicBezTo>
                      <a:pt x="63" y="30"/>
                      <a:pt x="41" y="51"/>
                      <a:pt x="35" y="71"/>
                    </a:cubicBezTo>
                    <a:cubicBezTo>
                      <a:pt x="25" y="101"/>
                      <a:pt x="26" y="130"/>
                      <a:pt x="35" y="161"/>
                    </a:cubicBezTo>
                    <a:cubicBezTo>
                      <a:pt x="41" y="183"/>
                      <a:pt x="61" y="202"/>
                      <a:pt x="82" y="205"/>
                    </a:cubicBezTo>
                    <a:cubicBezTo>
                      <a:pt x="104" y="208"/>
                      <a:pt x="129" y="191"/>
                      <a:pt x="135" y="171"/>
                    </a:cubicBezTo>
                    <a:cubicBezTo>
                      <a:pt x="137" y="164"/>
                      <a:pt x="141" y="157"/>
                      <a:pt x="144"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12"/>
              <p:cNvSpPr/>
              <p:nvPr/>
            </p:nvSpPr>
            <p:spPr bwMode="auto">
              <a:xfrm>
                <a:off x="4953645" y="4450287"/>
                <a:ext cx="552450" cy="717550"/>
              </a:xfrm>
              <a:custGeom>
                <a:avLst/>
                <a:gdLst>
                  <a:gd name="T0" fmla="*/ 91 w 175"/>
                  <a:gd name="T1" fmla="*/ 184 h 227"/>
                  <a:gd name="T2" fmla="*/ 110 w 175"/>
                  <a:gd name="T3" fmla="*/ 127 h 227"/>
                  <a:gd name="T4" fmla="*/ 144 w 175"/>
                  <a:gd name="T5" fmla="*/ 16 h 227"/>
                  <a:gd name="T6" fmla="*/ 163 w 175"/>
                  <a:gd name="T7" fmla="*/ 2 h 227"/>
                  <a:gd name="T8" fmla="*/ 172 w 175"/>
                  <a:gd name="T9" fmla="*/ 17 h 227"/>
                  <a:gd name="T10" fmla="*/ 133 w 175"/>
                  <a:gd name="T11" fmla="*/ 133 h 227"/>
                  <a:gd name="T12" fmla="*/ 107 w 175"/>
                  <a:gd name="T13" fmla="*/ 210 h 227"/>
                  <a:gd name="T14" fmla="*/ 87 w 175"/>
                  <a:gd name="T15" fmla="*/ 223 h 227"/>
                  <a:gd name="T16" fmla="*/ 70 w 175"/>
                  <a:gd name="T17" fmla="*/ 208 h 227"/>
                  <a:gd name="T18" fmla="*/ 15 w 175"/>
                  <a:gd name="T19" fmla="*/ 40 h 227"/>
                  <a:gd name="T20" fmla="*/ 9 w 175"/>
                  <a:gd name="T21" fmla="*/ 20 h 227"/>
                  <a:gd name="T22" fmla="*/ 11 w 175"/>
                  <a:gd name="T23" fmla="*/ 3 h 227"/>
                  <a:gd name="T24" fmla="*/ 35 w 175"/>
                  <a:gd name="T25" fmla="*/ 12 h 227"/>
                  <a:gd name="T26" fmla="*/ 53 w 175"/>
                  <a:gd name="T27" fmla="*/ 72 h 227"/>
                  <a:gd name="T28" fmla="*/ 87 w 175"/>
                  <a:gd name="T29" fmla="*/ 184 h 227"/>
                  <a:gd name="T30" fmla="*/ 91 w 175"/>
                  <a:gd name="T31" fmla="*/ 18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227">
                    <a:moveTo>
                      <a:pt x="91" y="184"/>
                    </a:moveTo>
                    <a:cubicBezTo>
                      <a:pt x="97" y="165"/>
                      <a:pt x="104" y="146"/>
                      <a:pt x="110" y="127"/>
                    </a:cubicBezTo>
                    <a:cubicBezTo>
                      <a:pt x="121" y="90"/>
                      <a:pt x="132" y="53"/>
                      <a:pt x="144" y="16"/>
                    </a:cubicBezTo>
                    <a:cubicBezTo>
                      <a:pt x="147" y="7"/>
                      <a:pt x="152" y="2"/>
                      <a:pt x="163" y="2"/>
                    </a:cubicBezTo>
                    <a:cubicBezTo>
                      <a:pt x="174" y="3"/>
                      <a:pt x="175" y="8"/>
                      <a:pt x="172" y="17"/>
                    </a:cubicBezTo>
                    <a:cubicBezTo>
                      <a:pt x="159" y="55"/>
                      <a:pt x="146" y="94"/>
                      <a:pt x="133" y="133"/>
                    </a:cubicBezTo>
                    <a:cubicBezTo>
                      <a:pt x="124" y="158"/>
                      <a:pt x="116" y="184"/>
                      <a:pt x="107" y="210"/>
                    </a:cubicBezTo>
                    <a:cubicBezTo>
                      <a:pt x="104" y="220"/>
                      <a:pt x="97" y="227"/>
                      <a:pt x="87" y="223"/>
                    </a:cubicBezTo>
                    <a:cubicBezTo>
                      <a:pt x="80" y="221"/>
                      <a:pt x="72" y="214"/>
                      <a:pt x="70" y="208"/>
                    </a:cubicBezTo>
                    <a:cubicBezTo>
                      <a:pt x="51" y="152"/>
                      <a:pt x="33" y="96"/>
                      <a:pt x="15" y="40"/>
                    </a:cubicBezTo>
                    <a:cubicBezTo>
                      <a:pt x="12" y="34"/>
                      <a:pt x="11" y="27"/>
                      <a:pt x="9" y="20"/>
                    </a:cubicBezTo>
                    <a:cubicBezTo>
                      <a:pt x="7" y="14"/>
                      <a:pt x="0" y="6"/>
                      <a:pt x="11" y="3"/>
                    </a:cubicBezTo>
                    <a:cubicBezTo>
                      <a:pt x="19" y="1"/>
                      <a:pt x="31" y="0"/>
                      <a:pt x="35" y="12"/>
                    </a:cubicBezTo>
                    <a:cubicBezTo>
                      <a:pt x="41" y="32"/>
                      <a:pt x="47" y="52"/>
                      <a:pt x="53" y="72"/>
                    </a:cubicBezTo>
                    <a:cubicBezTo>
                      <a:pt x="64" y="110"/>
                      <a:pt x="75" y="147"/>
                      <a:pt x="87" y="184"/>
                    </a:cubicBezTo>
                    <a:cubicBezTo>
                      <a:pt x="88" y="184"/>
                      <a:pt x="90" y="184"/>
                      <a:pt x="91" y="1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113"/>
              <p:cNvSpPr/>
              <p:nvPr/>
            </p:nvSpPr>
            <p:spPr bwMode="auto">
              <a:xfrm>
                <a:off x="9636770" y="4456637"/>
                <a:ext cx="401638" cy="701675"/>
              </a:xfrm>
              <a:custGeom>
                <a:avLst/>
                <a:gdLst>
                  <a:gd name="T0" fmla="*/ 1 w 127"/>
                  <a:gd name="T1" fmla="*/ 111 h 222"/>
                  <a:gd name="T2" fmla="*/ 0 w 127"/>
                  <a:gd name="T3" fmla="*/ 17 h 222"/>
                  <a:gd name="T4" fmla="*/ 17 w 127"/>
                  <a:gd name="T5" fmla="*/ 0 h 222"/>
                  <a:gd name="T6" fmla="*/ 110 w 127"/>
                  <a:gd name="T7" fmla="*/ 0 h 222"/>
                  <a:gd name="T8" fmla="*/ 127 w 127"/>
                  <a:gd name="T9" fmla="*/ 15 h 222"/>
                  <a:gd name="T10" fmla="*/ 110 w 127"/>
                  <a:gd name="T11" fmla="*/ 28 h 222"/>
                  <a:gd name="T12" fmla="*/ 39 w 127"/>
                  <a:gd name="T13" fmla="*/ 27 h 222"/>
                  <a:gd name="T14" fmla="*/ 25 w 127"/>
                  <a:gd name="T15" fmla="*/ 41 h 222"/>
                  <a:gd name="T16" fmla="*/ 25 w 127"/>
                  <a:gd name="T17" fmla="*/ 81 h 222"/>
                  <a:gd name="T18" fmla="*/ 38 w 127"/>
                  <a:gd name="T19" fmla="*/ 94 h 222"/>
                  <a:gd name="T20" fmla="*/ 98 w 127"/>
                  <a:gd name="T21" fmla="*/ 93 h 222"/>
                  <a:gd name="T22" fmla="*/ 114 w 127"/>
                  <a:gd name="T23" fmla="*/ 105 h 222"/>
                  <a:gd name="T24" fmla="*/ 97 w 127"/>
                  <a:gd name="T25" fmla="*/ 121 h 222"/>
                  <a:gd name="T26" fmla="*/ 40 w 127"/>
                  <a:gd name="T27" fmla="*/ 121 h 222"/>
                  <a:gd name="T28" fmla="*/ 25 w 127"/>
                  <a:gd name="T29" fmla="*/ 135 h 222"/>
                  <a:gd name="T30" fmla="*/ 25 w 127"/>
                  <a:gd name="T31" fmla="*/ 206 h 222"/>
                  <a:gd name="T32" fmla="*/ 14 w 127"/>
                  <a:gd name="T33" fmla="*/ 222 h 222"/>
                  <a:gd name="T34" fmla="*/ 1 w 127"/>
                  <a:gd name="T35" fmla="*/ 205 h 222"/>
                  <a:gd name="T36" fmla="*/ 1 w 127"/>
                  <a:gd name="T37" fmla="*/ 111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222">
                    <a:moveTo>
                      <a:pt x="1" y="111"/>
                    </a:moveTo>
                    <a:cubicBezTo>
                      <a:pt x="1" y="79"/>
                      <a:pt x="1" y="48"/>
                      <a:pt x="0" y="17"/>
                    </a:cubicBezTo>
                    <a:cubicBezTo>
                      <a:pt x="0" y="4"/>
                      <a:pt x="4" y="0"/>
                      <a:pt x="17" y="0"/>
                    </a:cubicBezTo>
                    <a:cubicBezTo>
                      <a:pt x="48" y="1"/>
                      <a:pt x="79" y="1"/>
                      <a:pt x="110" y="0"/>
                    </a:cubicBezTo>
                    <a:cubicBezTo>
                      <a:pt x="121" y="0"/>
                      <a:pt x="126" y="3"/>
                      <a:pt x="127" y="15"/>
                    </a:cubicBezTo>
                    <a:cubicBezTo>
                      <a:pt x="127" y="29"/>
                      <a:pt x="118" y="28"/>
                      <a:pt x="110" y="28"/>
                    </a:cubicBezTo>
                    <a:cubicBezTo>
                      <a:pt x="86" y="28"/>
                      <a:pt x="63" y="28"/>
                      <a:pt x="39" y="27"/>
                    </a:cubicBezTo>
                    <a:cubicBezTo>
                      <a:pt x="29" y="27"/>
                      <a:pt x="25" y="30"/>
                      <a:pt x="25" y="41"/>
                    </a:cubicBezTo>
                    <a:cubicBezTo>
                      <a:pt x="26" y="54"/>
                      <a:pt x="26" y="68"/>
                      <a:pt x="25" y="81"/>
                    </a:cubicBezTo>
                    <a:cubicBezTo>
                      <a:pt x="25" y="91"/>
                      <a:pt x="29" y="94"/>
                      <a:pt x="38" y="94"/>
                    </a:cubicBezTo>
                    <a:cubicBezTo>
                      <a:pt x="58" y="93"/>
                      <a:pt x="78" y="93"/>
                      <a:pt x="98" y="93"/>
                    </a:cubicBezTo>
                    <a:cubicBezTo>
                      <a:pt x="106" y="93"/>
                      <a:pt x="114" y="93"/>
                      <a:pt x="114" y="105"/>
                    </a:cubicBezTo>
                    <a:cubicBezTo>
                      <a:pt x="114" y="118"/>
                      <a:pt x="108" y="121"/>
                      <a:pt x="97" y="121"/>
                    </a:cubicBezTo>
                    <a:cubicBezTo>
                      <a:pt x="78" y="121"/>
                      <a:pt x="59" y="121"/>
                      <a:pt x="40" y="121"/>
                    </a:cubicBezTo>
                    <a:cubicBezTo>
                      <a:pt x="29" y="120"/>
                      <a:pt x="25" y="125"/>
                      <a:pt x="25" y="135"/>
                    </a:cubicBezTo>
                    <a:cubicBezTo>
                      <a:pt x="26" y="159"/>
                      <a:pt x="26" y="182"/>
                      <a:pt x="25" y="206"/>
                    </a:cubicBezTo>
                    <a:cubicBezTo>
                      <a:pt x="25" y="214"/>
                      <a:pt x="26" y="222"/>
                      <a:pt x="14" y="222"/>
                    </a:cubicBezTo>
                    <a:cubicBezTo>
                      <a:pt x="1" y="222"/>
                      <a:pt x="1" y="214"/>
                      <a:pt x="1" y="205"/>
                    </a:cubicBezTo>
                    <a:cubicBezTo>
                      <a:pt x="1" y="174"/>
                      <a:pt x="1" y="142"/>
                      <a:pt x="1"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114"/>
              <p:cNvSpPr/>
              <p:nvPr/>
            </p:nvSpPr>
            <p:spPr bwMode="auto">
              <a:xfrm>
                <a:off x="395933" y="1976962"/>
                <a:ext cx="571500" cy="344488"/>
              </a:xfrm>
              <a:custGeom>
                <a:avLst/>
                <a:gdLst>
                  <a:gd name="T0" fmla="*/ 79 w 181"/>
                  <a:gd name="T1" fmla="*/ 109 h 109"/>
                  <a:gd name="T2" fmla="*/ 27 w 181"/>
                  <a:gd name="T3" fmla="*/ 91 h 109"/>
                  <a:gd name="T4" fmla="*/ 4 w 181"/>
                  <a:gd name="T5" fmla="*/ 72 h 109"/>
                  <a:gd name="T6" fmla="*/ 31 w 181"/>
                  <a:gd name="T7" fmla="*/ 54 h 109"/>
                  <a:gd name="T8" fmla="*/ 92 w 181"/>
                  <a:gd name="T9" fmla="*/ 31 h 109"/>
                  <a:gd name="T10" fmla="*/ 125 w 181"/>
                  <a:gd name="T11" fmla="*/ 12 h 109"/>
                  <a:gd name="T12" fmla="*/ 170 w 181"/>
                  <a:gd name="T13" fmla="*/ 23 h 109"/>
                  <a:gd name="T14" fmla="*/ 152 w 181"/>
                  <a:gd name="T15" fmla="*/ 74 h 109"/>
                  <a:gd name="T16" fmla="*/ 87 w 181"/>
                  <a:gd name="T17" fmla="*/ 107 h 109"/>
                  <a:gd name="T18" fmla="*/ 79 w 181"/>
                  <a:gd name="T1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09">
                    <a:moveTo>
                      <a:pt x="79" y="109"/>
                    </a:moveTo>
                    <a:cubicBezTo>
                      <a:pt x="62" y="104"/>
                      <a:pt x="44" y="99"/>
                      <a:pt x="27" y="91"/>
                    </a:cubicBezTo>
                    <a:cubicBezTo>
                      <a:pt x="18" y="87"/>
                      <a:pt x="0" y="86"/>
                      <a:pt x="4" y="72"/>
                    </a:cubicBezTo>
                    <a:cubicBezTo>
                      <a:pt x="6" y="64"/>
                      <a:pt x="21" y="59"/>
                      <a:pt x="31" y="54"/>
                    </a:cubicBezTo>
                    <a:cubicBezTo>
                      <a:pt x="51" y="46"/>
                      <a:pt x="72" y="40"/>
                      <a:pt x="92" y="31"/>
                    </a:cubicBezTo>
                    <a:cubicBezTo>
                      <a:pt x="104" y="26"/>
                      <a:pt x="115" y="19"/>
                      <a:pt x="125" y="12"/>
                    </a:cubicBezTo>
                    <a:cubicBezTo>
                      <a:pt x="142" y="0"/>
                      <a:pt x="161" y="5"/>
                      <a:pt x="170" y="23"/>
                    </a:cubicBezTo>
                    <a:cubicBezTo>
                      <a:pt x="181" y="44"/>
                      <a:pt x="177" y="57"/>
                      <a:pt x="152" y="74"/>
                    </a:cubicBezTo>
                    <a:cubicBezTo>
                      <a:pt x="132" y="87"/>
                      <a:pt x="109" y="96"/>
                      <a:pt x="87" y="107"/>
                    </a:cubicBezTo>
                    <a:cubicBezTo>
                      <a:pt x="85" y="108"/>
                      <a:pt x="83" y="108"/>
                      <a:pt x="7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115"/>
              <p:cNvSpPr/>
              <p:nvPr/>
            </p:nvSpPr>
            <p:spPr bwMode="auto">
              <a:xfrm>
                <a:off x="15735945" y="4447112"/>
                <a:ext cx="536575" cy="711200"/>
              </a:xfrm>
              <a:custGeom>
                <a:avLst/>
                <a:gdLst>
                  <a:gd name="T0" fmla="*/ 91 w 170"/>
                  <a:gd name="T1" fmla="*/ 101 h 225"/>
                  <a:gd name="T2" fmla="*/ 138 w 170"/>
                  <a:gd name="T3" fmla="*/ 17 h 225"/>
                  <a:gd name="T4" fmla="*/ 153 w 170"/>
                  <a:gd name="T5" fmla="*/ 4 h 225"/>
                  <a:gd name="T6" fmla="*/ 170 w 170"/>
                  <a:gd name="T7" fmla="*/ 6 h 225"/>
                  <a:gd name="T8" fmla="*/ 165 w 170"/>
                  <a:gd name="T9" fmla="*/ 22 h 225"/>
                  <a:gd name="T10" fmla="*/ 105 w 170"/>
                  <a:gd name="T11" fmla="*/ 124 h 225"/>
                  <a:gd name="T12" fmla="*/ 102 w 170"/>
                  <a:gd name="T13" fmla="*/ 143 h 225"/>
                  <a:gd name="T14" fmla="*/ 102 w 170"/>
                  <a:gd name="T15" fmla="*/ 209 h 225"/>
                  <a:gd name="T16" fmla="*/ 89 w 170"/>
                  <a:gd name="T17" fmla="*/ 225 h 225"/>
                  <a:gd name="T18" fmla="*/ 76 w 170"/>
                  <a:gd name="T19" fmla="*/ 209 h 225"/>
                  <a:gd name="T20" fmla="*/ 77 w 170"/>
                  <a:gd name="T21" fmla="*/ 177 h 225"/>
                  <a:gd name="T22" fmla="*/ 52 w 170"/>
                  <a:gd name="T23" fmla="*/ 89 h 225"/>
                  <a:gd name="T24" fmla="*/ 14 w 170"/>
                  <a:gd name="T25" fmla="*/ 23 h 225"/>
                  <a:gd name="T26" fmla="*/ 11 w 170"/>
                  <a:gd name="T27" fmla="*/ 5 h 225"/>
                  <a:gd name="T28" fmla="*/ 39 w 170"/>
                  <a:gd name="T29" fmla="*/ 12 h 225"/>
                  <a:gd name="T30" fmla="*/ 80 w 170"/>
                  <a:gd name="T31" fmla="*/ 86 h 225"/>
                  <a:gd name="T32" fmla="*/ 91 w 170"/>
                  <a:gd name="T33" fmla="*/ 10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225">
                    <a:moveTo>
                      <a:pt x="91" y="101"/>
                    </a:moveTo>
                    <a:cubicBezTo>
                      <a:pt x="108" y="71"/>
                      <a:pt x="122" y="44"/>
                      <a:pt x="138" y="17"/>
                    </a:cubicBezTo>
                    <a:cubicBezTo>
                      <a:pt x="141" y="12"/>
                      <a:pt x="147" y="6"/>
                      <a:pt x="153" y="4"/>
                    </a:cubicBezTo>
                    <a:cubicBezTo>
                      <a:pt x="157" y="2"/>
                      <a:pt x="164" y="5"/>
                      <a:pt x="170" y="6"/>
                    </a:cubicBezTo>
                    <a:cubicBezTo>
                      <a:pt x="168" y="12"/>
                      <a:pt x="168" y="18"/>
                      <a:pt x="165" y="22"/>
                    </a:cubicBezTo>
                    <a:cubicBezTo>
                      <a:pt x="145" y="56"/>
                      <a:pt x="125" y="90"/>
                      <a:pt x="105" y="124"/>
                    </a:cubicBezTo>
                    <a:cubicBezTo>
                      <a:pt x="102" y="129"/>
                      <a:pt x="102" y="136"/>
                      <a:pt x="102" y="143"/>
                    </a:cubicBezTo>
                    <a:cubicBezTo>
                      <a:pt x="102" y="165"/>
                      <a:pt x="102" y="187"/>
                      <a:pt x="102" y="209"/>
                    </a:cubicBezTo>
                    <a:cubicBezTo>
                      <a:pt x="102" y="218"/>
                      <a:pt x="100" y="225"/>
                      <a:pt x="89" y="225"/>
                    </a:cubicBezTo>
                    <a:cubicBezTo>
                      <a:pt x="78" y="225"/>
                      <a:pt x="76" y="218"/>
                      <a:pt x="76" y="209"/>
                    </a:cubicBezTo>
                    <a:cubicBezTo>
                      <a:pt x="76" y="198"/>
                      <a:pt x="75" y="188"/>
                      <a:pt x="77" y="177"/>
                    </a:cubicBezTo>
                    <a:cubicBezTo>
                      <a:pt x="81" y="144"/>
                      <a:pt x="69" y="116"/>
                      <a:pt x="52" y="89"/>
                    </a:cubicBezTo>
                    <a:cubicBezTo>
                      <a:pt x="38" y="68"/>
                      <a:pt x="26" y="45"/>
                      <a:pt x="14" y="23"/>
                    </a:cubicBezTo>
                    <a:cubicBezTo>
                      <a:pt x="11" y="18"/>
                      <a:pt x="0" y="10"/>
                      <a:pt x="11" y="5"/>
                    </a:cubicBezTo>
                    <a:cubicBezTo>
                      <a:pt x="20" y="1"/>
                      <a:pt x="32" y="0"/>
                      <a:pt x="39" y="12"/>
                    </a:cubicBezTo>
                    <a:cubicBezTo>
                      <a:pt x="52" y="37"/>
                      <a:pt x="66" y="62"/>
                      <a:pt x="80" y="86"/>
                    </a:cubicBezTo>
                    <a:cubicBezTo>
                      <a:pt x="83" y="91"/>
                      <a:pt x="86" y="95"/>
                      <a:pt x="9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116"/>
              <p:cNvSpPr/>
              <p:nvPr/>
            </p:nvSpPr>
            <p:spPr bwMode="auto">
              <a:xfrm>
                <a:off x="7984183" y="4462987"/>
                <a:ext cx="501650" cy="695325"/>
              </a:xfrm>
              <a:custGeom>
                <a:avLst/>
                <a:gdLst>
                  <a:gd name="T0" fmla="*/ 81 w 159"/>
                  <a:gd name="T1" fmla="*/ 96 h 220"/>
                  <a:gd name="T2" fmla="*/ 128 w 159"/>
                  <a:gd name="T3" fmla="*/ 11 h 220"/>
                  <a:gd name="T4" fmla="*/ 136 w 159"/>
                  <a:gd name="T5" fmla="*/ 1 h 220"/>
                  <a:gd name="T6" fmla="*/ 159 w 159"/>
                  <a:gd name="T7" fmla="*/ 0 h 220"/>
                  <a:gd name="T8" fmla="*/ 155 w 159"/>
                  <a:gd name="T9" fmla="*/ 18 h 220"/>
                  <a:gd name="T10" fmla="*/ 96 w 159"/>
                  <a:gd name="T11" fmla="*/ 118 h 220"/>
                  <a:gd name="T12" fmla="*/ 92 w 159"/>
                  <a:gd name="T13" fmla="*/ 137 h 220"/>
                  <a:gd name="T14" fmla="*/ 92 w 159"/>
                  <a:gd name="T15" fmla="*/ 203 h 220"/>
                  <a:gd name="T16" fmla="*/ 79 w 159"/>
                  <a:gd name="T17" fmla="*/ 220 h 220"/>
                  <a:gd name="T18" fmla="*/ 66 w 159"/>
                  <a:gd name="T19" fmla="*/ 203 h 220"/>
                  <a:gd name="T20" fmla="*/ 67 w 159"/>
                  <a:gd name="T21" fmla="*/ 173 h 220"/>
                  <a:gd name="T22" fmla="*/ 44 w 159"/>
                  <a:gd name="T23" fmla="*/ 88 h 220"/>
                  <a:gd name="T24" fmla="*/ 4 w 159"/>
                  <a:gd name="T25" fmla="*/ 18 h 220"/>
                  <a:gd name="T26" fmla="*/ 0 w 159"/>
                  <a:gd name="T27" fmla="*/ 0 h 220"/>
                  <a:gd name="T28" fmla="*/ 27 w 159"/>
                  <a:gd name="T29" fmla="*/ 6 h 220"/>
                  <a:gd name="T30" fmla="*/ 52 w 159"/>
                  <a:gd name="T31" fmla="*/ 48 h 220"/>
                  <a:gd name="T32" fmla="*/ 71 w 159"/>
                  <a:gd name="T33" fmla="*/ 83 h 220"/>
                  <a:gd name="T34" fmla="*/ 81 w 159"/>
                  <a:gd name="T35" fmla="*/ 96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20">
                    <a:moveTo>
                      <a:pt x="81" y="96"/>
                    </a:moveTo>
                    <a:cubicBezTo>
                      <a:pt x="98" y="66"/>
                      <a:pt x="113" y="39"/>
                      <a:pt x="128" y="11"/>
                    </a:cubicBezTo>
                    <a:cubicBezTo>
                      <a:pt x="130" y="8"/>
                      <a:pt x="133" y="2"/>
                      <a:pt x="136" y="1"/>
                    </a:cubicBezTo>
                    <a:cubicBezTo>
                      <a:pt x="143" y="0"/>
                      <a:pt x="151" y="1"/>
                      <a:pt x="159" y="0"/>
                    </a:cubicBezTo>
                    <a:cubicBezTo>
                      <a:pt x="157" y="6"/>
                      <a:pt x="157" y="13"/>
                      <a:pt x="155" y="18"/>
                    </a:cubicBezTo>
                    <a:cubicBezTo>
                      <a:pt x="135" y="51"/>
                      <a:pt x="115" y="84"/>
                      <a:pt x="96" y="118"/>
                    </a:cubicBezTo>
                    <a:cubicBezTo>
                      <a:pt x="93" y="123"/>
                      <a:pt x="92" y="130"/>
                      <a:pt x="92" y="137"/>
                    </a:cubicBezTo>
                    <a:cubicBezTo>
                      <a:pt x="92" y="159"/>
                      <a:pt x="92" y="181"/>
                      <a:pt x="92" y="203"/>
                    </a:cubicBezTo>
                    <a:cubicBezTo>
                      <a:pt x="92" y="212"/>
                      <a:pt x="91" y="220"/>
                      <a:pt x="79" y="220"/>
                    </a:cubicBezTo>
                    <a:cubicBezTo>
                      <a:pt x="67" y="220"/>
                      <a:pt x="66" y="212"/>
                      <a:pt x="66" y="203"/>
                    </a:cubicBezTo>
                    <a:cubicBezTo>
                      <a:pt x="66" y="193"/>
                      <a:pt x="65" y="183"/>
                      <a:pt x="67" y="173"/>
                    </a:cubicBezTo>
                    <a:cubicBezTo>
                      <a:pt x="70" y="142"/>
                      <a:pt x="61" y="114"/>
                      <a:pt x="44" y="88"/>
                    </a:cubicBezTo>
                    <a:cubicBezTo>
                      <a:pt x="29" y="65"/>
                      <a:pt x="17" y="41"/>
                      <a:pt x="4" y="18"/>
                    </a:cubicBezTo>
                    <a:cubicBezTo>
                      <a:pt x="1" y="12"/>
                      <a:pt x="1" y="6"/>
                      <a:pt x="0" y="0"/>
                    </a:cubicBezTo>
                    <a:cubicBezTo>
                      <a:pt x="10" y="1"/>
                      <a:pt x="22" y="0"/>
                      <a:pt x="27" y="6"/>
                    </a:cubicBezTo>
                    <a:cubicBezTo>
                      <a:pt x="38" y="18"/>
                      <a:pt x="44" y="33"/>
                      <a:pt x="52" y="48"/>
                    </a:cubicBezTo>
                    <a:cubicBezTo>
                      <a:pt x="59" y="59"/>
                      <a:pt x="64" y="72"/>
                      <a:pt x="71" y="83"/>
                    </a:cubicBezTo>
                    <a:cubicBezTo>
                      <a:pt x="73" y="87"/>
                      <a:pt x="77" y="91"/>
                      <a:pt x="81"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117"/>
              <p:cNvSpPr/>
              <p:nvPr/>
            </p:nvSpPr>
            <p:spPr bwMode="auto">
              <a:xfrm>
                <a:off x="4113858" y="3077099"/>
                <a:ext cx="373063" cy="436563"/>
              </a:xfrm>
              <a:custGeom>
                <a:avLst/>
                <a:gdLst>
                  <a:gd name="T0" fmla="*/ 0 w 118"/>
                  <a:gd name="T1" fmla="*/ 134 h 138"/>
                  <a:gd name="T2" fmla="*/ 10 w 118"/>
                  <a:gd name="T3" fmla="*/ 116 h 138"/>
                  <a:gd name="T4" fmla="*/ 30 w 118"/>
                  <a:gd name="T5" fmla="*/ 99 h 138"/>
                  <a:gd name="T6" fmla="*/ 38 w 118"/>
                  <a:gd name="T7" fmla="*/ 51 h 138"/>
                  <a:gd name="T8" fmla="*/ 24 w 118"/>
                  <a:gd name="T9" fmla="*/ 12 h 138"/>
                  <a:gd name="T10" fmla="*/ 36 w 118"/>
                  <a:gd name="T11" fmla="*/ 3 h 138"/>
                  <a:gd name="T12" fmla="*/ 108 w 118"/>
                  <a:gd name="T13" fmla="*/ 70 h 138"/>
                  <a:gd name="T14" fmla="*/ 105 w 118"/>
                  <a:gd name="T15" fmla="*/ 124 h 138"/>
                  <a:gd name="T16" fmla="*/ 75 w 118"/>
                  <a:gd name="T17" fmla="*/ 134 h 138"/>
                  <a:gd name="T18" fmla="*/ 0 w 118"/>
                  <a:gd name="T19" fmla="*/ 13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38">
                    <a:moveTo>
                      <a:pt x="0" y="134"/>
                    </a:moveTo>
                    <a:cubicBezTo>
                      <a:pt x="3" y="127"/>
                      <a:pt x="5" y="121"/>
                      <a:pt x="10" y="116"/>
                    </a:cubicBezTo>
                    <a:cubicBezTo>
                      <a:pt x="15" y="110"/>
                      <a:pt x="23" y="105"/>
                      <a:pt x="30" y="99"/>
                    </a:cubicBezTo>
                    <a:cubicBezTo>
                      <a:pt x="44" y="85"/>
                      <a:pt x="46" y="69"/>
                      <a:pt x="38" y="51"/>
                    </a:cubicBezTo>
                    <a:cubicBezTo>
                      <a:pt x="32" y="38"/>
                      <a:pt x="27" y="25"/>
                      <a:pt x="24" y="12"/>
                    </a:cubicBezTo>
                    <a:cubicBezTo>
                      <a:pt x="21" y="0"/>
                      <a:pt x="28" y="2"/>
                      <a:pt x="36" y="3"/>
                    </a:cubicBezTo>
                    <a:cubicBezTo>
                      <a:pt x="75" y="10"/>
                      <a:pt x="91" y="40"/>
                      <a:pt x="108" y="70"/>
                    </a:cubicBezTo>
                    <a:cubicBezTo>
                      <a:pt x="118" y="89"/>
                      <a:pt x="118" y="107"/>
                      <a:pt x="105" y="124"/>
                    </a:cubicBezTo>
                    <a:cubicBezTo>
                      <a:pt x="98" y="134"/>
                      <a:pt x="89" y="138"/>
                      <a:pt x="75" y="134"/>
                    </a:cubicBezTo>
                    <a:cubicBezTo>
                      <a:pt x="52" y="126"/>
                      <a:pt x="28" y="130"/>
                      <a:pt x="0"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118"/>
              <p:cNvSpPr/>
              <p:nvPr/>
            </p:nvSpPr>
            <p:spPr bwMode="auto">
              <a:xfrm>
                <a:off x="14046845" y="4456637"/>
                <a:ext cx="374650" cy="701675"/>
              </a:xfrm>
              <a:custGeom>
                <a:avLst/>
                <a:gdLst>
                  <a:gd name="T0" fmla="*/ 1 w 119"/>
                  <a:gd name="T1" fmla="*/ 109 h 222"/>
                  <a:gd name="T2" fmla="*/ 1 w 119"/>
                  <a:gd name="T3" fmla="*/ 17 h 222"/>
                  <a:gd name="T4" fmla="*/ 16 w 119"/>
                  <a:gd name="T5" fmla="*/ 0 h 222"/>
                  <a:gd name="T6" fmla="*/ 28 w 119"/>
                  <a:gd name="T7" fmla="*/ 16 h 222"/>
                  <a:gd name="T8" fmla="*/ 28 w 119"/>
                  <a:gd name="T9" fmla="*/ 176 h 222"/>
                  <a:gd name="T10" fmla="*/ 45 w 119"/>
                  <a:gd name="T11" fmla="*/ 193 h 222"/>
                  <a:gd name="T12" fmla="*/ 104 w 119"/>
                  <a:gd name="T13" fmla="*/ 193 h 222"/>
                  <a:gd name="T14" fmla="*/ 119 w 119"/>
                  <a:gd name="T15" fmla="*/ 207 h 222"/>
                  <a:gd name="T16" fmla="*/ 104 w 119"/>
                  <a:gd name="T17" fmla="*/ 222 h 222"/>
                  <a:gd name="T18" fmla="*/ 17 w 119"/>
                  <a:gd name="T19" fmla="*/ 222 h 222"/>
                  <a:gd name="T20" fmla="*/ 1 w 119"/>
                  <a:gd name="T21" fmla="*/ 205 h 222"/>
                  <a:gd name="T22" fmla="*/ 1 w 119"/>
                  <a:gd name="T23" fmla="*/ 109 h 222"/>
                  <a:gd name="T24" fmla="*/ 1 w 119"/>
                  <a:gd name="T25" fmla="*/ 10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9" h="222">
                    <a:moveTo>
                      <a:pt x="1" y="109"/>
                    </a:moveTo>
                    <a:cubicBezTo>
                      <a:pt x="1" y="78"/>
                      <a:pt x="1" y="48"/>
                      <a:pt x="1" y="17"/>
                    </a:cubicBezTo>
                    <a:cubicBezTo>
                      <a:pt x="0" y="5"/>
                      <a:pt x="5" y="1"/>
                      <a:pt x="16" y="0"/>
                    </a:cubicBezTo>
                    <a:cubicBezTo>
                      <a:pt x="28" y="0"/>
                      <a:pt x="28" y="8"/>
                      <a:pt x="28" y="16"/>
                    </a:cubicBezTo>
                    <a:cubicBezTo>
                      <a:pt x="28" y="69"/>
                      <a:pt x="29" y="123"/>
                      <a:pt x="28" y="176"/>
                    </a:cubicBezTo>
                    <a:cubicBezTo>
                      <a:pt x="28" y="189"/>
                      <a:pt x="32" y="194"/>
                      <a:pt x="45" y="193"/>
                    </a:cubicBezTo>
                    <a:cubicBezTo>
                      <a:pt x="65" y="192"/>
                      <a:pt x="84" y="193"/>
                      <a:pt x="104" y="193"/>
                    </a:cubicBezTo>
                    <a:cubicBezTo>
                      <a:pt x="115" y="192"/>
                      <a:pt x="119" y="196"/>
                      <a:pt x="119" y="207"/>
                    </a:cubicBezTo>
                    <a:cubicBezTo>
                      <a:pt x="119" y="217"/>
                      <a:pt x="116" y="222"/>
                      <a:pt x="104" y="222"/>
                    </a:cubicBezTo>
                    <a:cubicBezTo>
                      <a:pt x="75" y="221"/>
                      <a:pt x="46" y="221"/>
                      <a:pt x="17" y="222"/>
                    </a:cubicBezTo>
                    <a:cubicBezTo>
                      <a:pt x="5" y="222"/>
                      <a:pt x="0" y="217"/>
                      <a:pt x="1" y="205"/>
                    </a:cubicBezTo>
                    <a:cubicBezTo>
                      <a:pt x="1" y="173"/>
                      <a:pt x="1" y="141"/>
                      <a:pt x="1" y="109"/>
                    </a:cubicBezTo>
                    <a:cubicBezTo>
                      <a:pt x="1" y="109"/>
                      <a:pt x="1" y="109"/>
                      <a:pt x="1"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119"/>
              <p:cNvSpPr/>
              <p:nvPr/>
            </p:nvSpPr>
            <p:spPr bwMode="auto">
              <a:xfrm>
                <a:off x="7473008" y="4456637"/>
                <a:ext cx="476250" cy="704850"/>
              </a:xfrm>
              <a:custGeom>
                <a:avLst/>
                <a:gdLst>
                  <a:gd name="T0" fmla="*/ 86 w 151"/>
                  <a:gd name="T1" fmla="*/ 123 h 223"/>
                  <a:gd name="T2" fmla="*/ 86 w 151"/>
                  <a:gd name="T3" fmla="*/ 201 h 223"/>
                  <a:gd name="T4" fmla="*/ 72 w 151"/>
                  <a:gd name="T5" fmla="*/ 222 h 223"/>
                  <a:gd name="T6" fmla="*/ 61 w 151"/>
                  <a:gd name="T7" fmla="*/ 201 h 223"/>
                  <a:gd name="T8" fmla="*/ 61 w 151"/>
                  <a:gd name="T9" fmla="*/ 43 h 223"/>
                  <a:gd name="T10" fmla="*/ 45 w 151"/>
                  <a:gd name="T11" fmla="*/ 28 h 223"/>
                  <a:gd name="T12" fmla="*/ 13 w 151"/>
                  <a:gd name="T13" fmla="*/ 28 h 223"/>
                  <a:gd name="T14" fmla="*/ 0 w 151"/>
                  <a:gd name="T15" fmla="*/ 16 h 223"/>
                  <a:gd name="T16" fmla="*/ 13 w 151"/>
                  <a:gd name="T17" fmla="*/ 0 h 223"/>
                  <a:gd name="T18" fmla="*/ 139 w 151"/>
                  <a:gd name="T19" fmla="*/ 0 h 223"/>
                  <a:gd name="T20" fmla="*/ 150 w 151"/>
                  <a:gd name="T21" fmla="*/ 16 h 223"/>
                  <a:gd name="T22" fmla="*/ 139 w 151"/>
                  <a:gd name="T23" fmla="*/ 28 h 223"/>
                  <a:gd name="T24" fmla="*/ 99 w 151"/>
                  <a:gd name="T25" fmla="*/ 28 h 223"/>
                  <a:gd name="T26" fmla="*/ 86 w 151"/>
                  <a:gd name="T27" fmla="*/ 41 h 223"/>
                  <a:gd name="T28" fmla="*/ 86 w 151"/>
                  <a:gd name="T29" fmla="*/ 123 h 223"/>
                  <a:gd name="T30" fmla="*/ 86 w 151"/>
                  <a:gd name="T31" fmla="*/ 1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223">
                    <a:moveTo>
                      <a:pt x="86" y="123"/>
                    </a:moveTo>
                    <a:cubicBezTo>
                      <a:pt x="86" y="149"/>
                      <a:pt x="86" y="175"/>
                      <a:pt x="86" y="201"/>
                    </a:cubicBezTo>
                    <a:cubicBezTo>
                      <a:pt x="86" y="211"/>
                      <a:pt x="88" y="223"/>
                      <a:pt x="72" y="222"/>
                    </a:cubicBezTo>
                    <a:cubicBezTo>
                      <a:pt x="56" y="221"/>
                      <a:pt x="61" y="209"/>
                      <a:pt x="61" y="201"/>
                    </a:cubicBezTo>
                    <a:cubicBezTo>
                      <a:pt x="61" y="148"/>
                      <a:pt x="60" y="96"/>
                      <a:pt x="61" y="43"/>
                    </a:cubicBezTo>
                    <a:cubicBezTo>
                      <a:pt x="61" y="31"/>
                      <a:pt x="57" y="26"/>
                      <a:pt x="45" y="28"/>
                    </a:cubicBezTo>
                    <a:cubicBezTo>
                      <a:pt x="34" y="28"/>
                      <a:pt x="24" y="28"/>
                      <a:pt x="13" y="28"/>
                    </a:cubicBezTo>
                    <a:cubicBezTo>
                      <a:pt x="5" y="28"/>
                      <a:pt x="0" y="25"/>
                      <a:pt x="0" y="16"/>
                    </a:cubicBezTo>
                    <a:cubicBezTo>
                      <a:pt x="0" y="6"/>
                      <a:pt x="3" y="0"/>
                      <a:pt x="13" y="0"/>
                    </a:cubicBezTo>
                    <a:cubicBezTo>
                      <a:pt x="55" y="0"/>
                      <a:pt x="97" y="0"/>
                      <a:pt x="139" y="0"/>
                    </a:cubicBezTo>
                    <a:cubicBezTo>
                      <a:pt x="151" y="0"/>
                      <a:pt x="149" y="9"/>
                      <a:pt x="150" y="16"/>
                    </a:cubicBezTo>
                    <a:cubicBezTo>
                      <a:pt x="151" y="24"/>
                      <a:pt x="148" y="28"/>
                      <a:pt x="139" y="28"/>
                    </a:cubicBezTo>
                    <a:cubicBezTo>
                      <a:pt x="126" y="27"/>
                      <a:pt x="112" y="28"/>
                      <a:pt x="99" y="28"/>
                    </a:cubicBezTo>
                    <a:cubicBezTo>
                      <a:pt x="89" y="27"/>
                      <a:pt x="85" y="31"/>
                      <a:pt x="86" y="41"/>
                    </a:cubicBezTo>
                    <a:cubicBezTo>
                      <a:pt x="86" y="68"/>
                      <a:pt x="86" y="96"/>
                      <a:pt x="86" y="123"/>
                    </a:cubicBezTo>
                    <a:cubicBezTo>
                      <a:pt x="86" y="123"/>
                      <a:pt x="86" y="123"/>
                      <a:pt x="86"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120"/>
              <p:cNvSpPr/>
              <p:nvPr/>
            </p:nvSpPr>
            <p:spPr bwMode="auto">
              <a:xfrm>
                <a:off x="3116908" y="1619774"/>
                <a:ext cx="239713" cy="606425"/>
              </a:xfrm>
              <a:custGeom>
                <a:avLst/>
                <a:gdLst>
                  <a:gd name="T0" fmla="*/ 76 w 76"/>
                  <a:gd name="T1" fmla="*/ 83 h 192"/>
                  <a:gd name="T2" fmla="*/ 64 w 76"/>
                  <a:gd name="T3" fmla="*/ 116 h 192"/>
                  <a:gd name="T4" fmla="*/ 25 w 76"/>
                  <a:gd name="T5" fmla="*/ 184 h 192"/>
                  <a:gd name="T6" fmla="*/ 14 w 76"/>
                  <a:gd name="T7" fmla="*/ 192 h 192"/>
                  <a:gd name="T8" fmla="*/ 7 w 76"/>
                  <a:gd name="T9" fmla="*/ 183 h 192"/>
                  <a:gd name="T10" fmla="*/ 1 w 76"/>
                  <a:gd name="T11" fmla="*/ 150 h 192"/>
                  <a:gd name="T12" fmla="*/ 14 w 76"/>
                  <a:gd name="T13" fmla="*/ 81 h 192"/>
                  <a:gd name="T14" fmla="*/ 17 w 76"/>
                  <a:gd name="T15" fmla="*/ 25 h 192"/>
                  <a:gd name="T16" fmla="*/ 27 w 76"/>
                  <a:gd name="T17" fmla="*/ 0 h 192"/>
                  <a:gd name="T18" fmla="*/ 53 w 76"/>
                  <a:gd name="T19" fmla="*/ 16 h 192"/>
                  <a:gd name="T20" fmla="*/ 73 w 76"/>
                  <a:gd name="T21" fmla="*/ 69 h 192"/>
                  <a:gd name="T22" fmla="*/ 74 w 76"/>
                  <a:gd name="T23" fmla="*/ 82 h 192"/>
                  <a:gd name="T24" fmla="*/ 76 w 76"/>
                  <a:gd name="T25" fmla="*/ 8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192">
                    <a:moveTo>
                      <a:pt x="76" y="83"/>
                    </a:moveTo>
                    <a:cubicBezTo>
                      <a:pt x="72" y="94"/>
                      <a:pt x="70" y="105"/>
                      <a:pt x="64" y="116"/>
                    </a:cubicBezTo>
                    <a:cubicBezTo>
                      <a:pt x="52" y="139"/>
                      <a:pt x="38" y="161"/>
                      <a:pt x="25" y="184"/>
                    </a:cubicBezTo>
                    <a:cubicBezTo>
                      <a:pt x="23" y="187"/>
                      <a:pt x="18" y="191"/>
                      <a:pt x="14" y="192"/>
                    </a:cubicBezTo>
                    <a:cubicBezTo>
                      <a:pt x="12" y="192"/>
                      <a:pt x="7" y="187"/>
                      <a:pt x="7" y="183"/>
                    </a:cubicBezTo>
                    <a:cubicBezTo>
                      <a:pt x="4" y="172"/>
                      <a:pt x="0" y="161"/>
                      <a:pt x="1" y="150"/>
                    </a:cubicBezTo>
                    <a:cubicBezTo>
                      <a:pt x="4" y="127"/>
                      <a:pt x="11" y="104"/>
                      <a:pt x="14" y="81"/>
                    </a:cubicBezTo>
                    <a:cubicBezTo>
                      <a:pt x="16" y="62"/>
                      <a:pt x="16" y="43"/>
                      <a:pt x="17" y="25"/>
                    </a:cubicBezTo>
                    <a:cubicBezTo>
                      <a:pt x="17" y="15"/>
                      <a:pt x="14" y="1"/>
                      <a:pt x="27" y="0"/>
                    </a:cubicBezTo>
                    <a:cubicBezTo>
                      <a:pt x="36" y="0"/>
                      <a:pt x="49" y="8"/>
                      <a:pt x="53" y="16"/>
                    </a:cubicBezTo>
                    <a:cubicBezTo>
                      <a:pt x="62" y="32"/>
                      <a:pt x="67" y="51"/>
                      <a:pt x="73" y="69"/>
                    </a:cubicBezTo>
                    <a:cubicBezTo>
                      <a:pt x="74" y="73"/>
                      <a:pt x="74" y="77"/>
                      <a:pt x="74" y="82"/>
                    </a:cubicBezTo>
                    <a:cubicBezTo>
                      <a:pt x="75" y="82"/>
                      <a:pt x="76" y="83"/>
                      <a:pt x="76"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121"/>
              <p:cNvSpPr/>
              <p:nvPr/>
            </p:nvSpPr>
            <p:spPr bwMode="auto">
              <a:xfrm>
                <a:off x="10511483" y="4456637"/>
                <a:ext cx="469900" cy="701675"/>
              </a:xfrm>
              <a:custGeom>
                <a:avLst/>
                <a:gdLst>
                  <a:gd name="T0" fmla="*/ 60 w 149"/>
                  <a:gd name="T1" fmla="*/ 123 h 222"/>
                  <a:gd name="T2" fmla="*/ 60 w 149"/>
                  <a:gd name="T3" fmla="*/ 43 h 222"/>
                  <a:gd name="T4" fmla="*/ 44 w 149"/>
                  <a:gd name="T5" fmla="*/ 28 h 222"/>
                  <a:gd name="T6" fmla="*/ 12 w 149"/>
                  <a:gd name="T7" fmla="*/ 28 h 222"/>
                  <a:gd name="T8" fmla="*/ 0 w 149"/>
                  <a:gd name="T9" fmla="*/ 15 h 222"/>
                  <a:gd name="T10" fmla="*/ 12 w 149"/>
                  <a:gd name="T11" fmla="*/ 0 h 222"/>
                  <a:gd name="T12" fmla="*/ 136 w 149"/>
                  <a:gd name="T13" fmla="*/ 0 h 222"/>
                  <a:gd name="T14" fmla="*/ 148 w 149"/>
                  <a:gd name="T15" fmla="*/ 16 h 222"/>
                  <a:gd name="T16" fmla="*/ 135 w 149"/>
                  <a:gd name="T17" fmla="*/ 28 h 222"/>
                  <a:gd name="T18" fmla="*/ 101 w 149"/>
                  <a:gd name="T19" fmla="*/ 28 h 222"/>
                  <a:gd name="T20" fmla="*/ 85 w 149"/>
                  <a:gd name="T21" fmla="*/ 43 h 222"/>
                  <a:gd name="T22" fmla="*/ 85 w 149"/>
                  <a:gd name="T23" fmla="*/ 201 h 222"/>
                  <a:gd name="T24" fmla="*/ 82 w 149"/>
                  <a:gd name="T25" fmla="*/ 218 h 222"/>
                  <a:gd name="T26" fmla="*/ 68 w 149"/>
                  <a:gd name="T27" fmla="*/ 221 h 222"/>
                  <a:gd name="T28" fmla="*/ 60 w 149"/>
                  <a:gd name="T29" fmla="*/ 208 h 222"/>
                  <a:gd name="T30" fmla="*/ 60 w 149"/>
                  <a:gd name="T31" fmla="*/ 123 h 222"/>
                  <a:gd name="T32" fmla="*/ 60 w 149"/>
                  <a:gd name="T33" fmla="*/ 123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9" h="222">
                    <a:moveTo>
                      <a:pt x="60" y="123"/>
                    </a:moveTo>
                    <a:cubicBezTo>
                      <a:pt x="60" y="96"/>
                      <a:pt x="59" y="70"/>
                      <a:pt x="60" y="43"/>
                    </a:cubicBezTo>
                    <a:cubicBezTo>
                      <a:pt x="61" y="30"/>
                      <a:pt x="56" y="27"/>
                      <a:pt x="44" y="28"/>
                    </a:cubicBezTo>
                    <a:cubicBezTo>
                      <a:pt x="33" y="28"/>
                      <a:pt x="23" y="27"/>
                      <a:pt x="12" y="28"/>
                    </a:cubicBezTo>
                    <a:cubicBezTo>
                      <a:pt x="3" y="28"/>
                      <a:pt x="0" y="24"/>
                      <a:pt x="0" y="15"/>
                    </a:cubicBezTo>
                    <a:cubicBezTo>
                      <a:pt x="0" y="7"/>
                      <a:pt x="1" y="0"/>
                      <a:pt x="12" y="0"/>
                    </a:cubicBezTo>
                    <a:cubicBezTo>
                      <a:pt x="53" y="0"/>
                      <a:pt x="95" y="0"/>
                      <a:pt x="136" y="0"/>
                    </a:cubicBezTo>
                    <a:cubicBezTo>
                      <a:pt x="148" y="0"/>
                      <a:pt x="148" y="8"/>
                      <a:pt x="148" y="16"/>
                    </a:cubicBezTo>
                    <a:cubicBezTo>
                      <a:pt x="149" y="26"/>
                      <a:pt x="144" y="28"/>
                      <a:pt x="135" y="28"/>
                    </a:cubicBezTo>
                    <a:cubicBezTo>
                      <a:pt x="124" y="27"/>
                      <a:pt x="112" y="28"/>
                      <a:pt x="101" y="28"/>
                    </a:cubicBezTo>
                    <a:cubicBezTo>
                      <a:pt x="89" y="27"/>
                      <a:pt x="85" y="31"/>
                      <a:pt x="85" y="43"/>
                    </a:cubicBezTo>
                    <a:cubicBezTo>
                      <a:pt x="86" y="96"/>
                      <a:pt x="86" y="148"/>
                      <a:pt x="85" y="201"/>
                    </a:cubicBezTo>
                    <a:cubicBezTo>
                      <a:pt x="85" y="206"/>
                      <a:pt x="85" y="213"/>
                      <a:pt x="82" y="218"/>
                    </a:cubicBezTo>
                    <a:cubicBezTo>
                      <a:pt x="80" y="221"/>
                      <a:pt x="72" y="222"/>
                      <a:pt x="68" y="221"/>
                    </a:cubicBezTo>
                    <a:cubicBezTo>
                      <a:pt x="64" y="219"/>
                      <a:pt x="60" y="213"/>
                      <a:pt x="60" y="208"/>
                    </a:cubicBezTo>
                    <a:cubicBezTo>
                      <a:pt x="60" y="180"/>
                      <a:pt x="60" y="151"/>
                      <a:pt x="60" y="123"/>
                    </a:cubicBezTo>
                    <a:cubicBezTo>
                      <a:pt x="60" y="123"/>
                      <a:pt x="60" y="123"/>
                      <a:pt x="60" y="1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122"/>
              <p:cNvSpPr/>
              <p:nvPr/>
            </p:nvSpPr>
            <p:spPr bwMode="auto">
              <a:xfrm>
                <a:off x="1465908" y="1775349"/>
                <a:ext cx="312738" cy="407988"/>
              </a:xfrm>
              <a:custGeom>
                <a:avLst/>
                <a:gdLst>
                  <a:gd name="T0" fmla="*/ 36 w 99"/>
                  <a:gd name="T1" fmla="*/ 0 h 129"/>
                  <a:gd name="T2" fmla="*/ 65 w 99"/>
                  <a:gd name="T3" fmla="*/ 17 h 129"/>
                  <a:gd name="T4" fmla="*/ 91 w 99"/>
                  <a:gd name="T5" fmla="*/ 58 h 129"/>
                  <a:gd name="T6" fmla="*/ 45 w 99"/>
                  <a:gd name="T7" fmla="*/ 126 h 129"/>
                  <a:gd name="T8" fmla="*/ 20 w 99"/>
                  <a:gd name="T9" fmla="*/ 102 h 129"/>
                  <a:gd name="T10" fmla="*/ 6 w 99"/>
                  <a:gd name="T11" fmla="*/ 22 h 129"/>
                  <a:gd name="T12" fmla="*/ 15 w 99"/>
                  <a:gd name="T13" fmla="*/ 6 h 129"/>
                  <a:gd name="T14" fmla="*/ 34 w 99"/>
                  <a:gd name="T15" fmla="*/ 3 h 129"/>
                  <a:gd name="T16" fmla="*/ 36 w 99"/>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29">
                    <a:moveTo>
                      <a:pt x="36" y="0"/>
                    </a:moveTo>
                    <a:cubicBezTo>
                      <a:pt x="46" y="5"/>
                      <a:pt x="58" y="9"/>
                      <a:pt x="65" y="17"/>
                    </a:cubicBezTo>
                    <a:cubicBezTo>
                      <a:pt x="76" y="29"/>
                      <a:pt x="86" y="43"/>
                      <a:pt x="91" y="58"/>
                    </a:cubicBezTo>
                    <a:cubicBezTo>
                      <a:pt x="99" y="85"/>
                      <a:pt x="73" y="120"/>
                      <a:pt x="45" y="126"/>
                    </a:cubicBezTo>
                    <a:cubicBezTo>
                      <a:pt x="28" y="129"/>
                      <a:pt x="14" y="119"/>
                      <a:pt x="20" y="102"/>
                    </a:cubicBezTo>
                    <a:cubicBezTo>
                      <a:pt x="30" y="72"/>
                      <a:pt x="22" y="47"/>
                      <a:pt x="6" y="22"/>
                    </a:cubicBezTo>
                    <a:cubicBezTo>
                      <a:pt x="0" y="13"/>
                      <a:pt x="8" y="8"/>
                      <a:pt x="15" y="6"/>
                    </a:cubicBezTo>
                    <a:cubicBezTo>
                      <a:pt x="21" y="3"/>
                      <a:pt x="27" y="4"/>
                      <a:pt x="34" y="3"/>
                    </a:cubicBezTo>
                    <a:cubicBezTo>
                      <a:pt x="35" y="2"/>
                      <a:pt x="35"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123"/>
              <p:cNvSpPr/>
              <p:nvPr/>
            </p:nvSpPr>
            <p:spPr bwMode="auto">
              <a:xfrm>
                <a:off x="184795" y="2970737"/>
                <a:ext cx="300038" cy="347663"/>
              </a:xfrm>
              <a:custGeom>
                <a:avLst/>
                <a:gdLst>
                  <a:gd name="T0" fmla="*/ 0 w 95"/>
                  <a:gd name="T1" fmla="*/ 83 h 110"/>
                  <a:gd name="T2" fmla="*/ 19 w 95"/>
                  <a:gd name="T3" fmla="*/ 46 h 110"/>
                  <a:gd name="T4" fmla="*/ 35 w 95"/>
                  <a:gd name="T5" fmla="*/ 15 h 110"/>
                  <a:gd name="T6" fmla="*/ 48 w 95"/>
                  <a:gd name="T7" fmla="*/ 0 h 110"/>
                  <a:gd name="T8" fmla="*/ 59 w 95"/>
                  <a:gd name="T9" fmla="*/ 14 h 110"/>
                  <a:gd name="T10" fmla="*/ 72 w 95"/>
                  <a:gd name="T11" fmla="*/ 35 h 110"/>
                  <a:gd name="T12" fmla="*/ 45 w 95"/>
                  <a:gd name="T13" fmla="*/ 99 h 110"/>
                  <a:gd name="T14" fmla="*/ 20 w 95"/>
                  <a:gd name="T15" fmla="*/ 107 h 110"/>
                  <a:gd name="T16" fmla="*/ 0 w 95"/>
                  <a:gd name="T17" fmla="*/ 8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110">
                    <a:moveTo>
                      <a:pt x="0" y="83"/>
                    </a:moveTo>
                    <a:cubicBezTo>
                      <a:pt x="5" y="75"/>
                      <a:pt x="12" y="61"/>
                      <a:pt x="19" y="46"/>
                    </a:cubicBezTo>
                    <a:cubicBezTo>
                      <a:pt x="25" y="36"/>
                      <a:pt x="29" y="25"/>
                      <a:pt x="35" y="15"/>
                    </a:cubicBezTo>
                    <a:cubicBezTo>
                      <a:pt x="38" y="9"/>
                      <a:pt x="43" y="5"/>
                      <a:pt x="48" y="0"/>
                    </a:cubicBezTo>
                    <a:cubicBezTo>
                      <a:pt x="51" y="5"/>
                      <a:pt x="55" y="9"/>
                      <a:pt x="59" y="14"/>
                    </a:cubicBezTo>
                    <a:cubicBezTo>
                      <a:pt x="63" y="21"/>
                      <a:pt x="67" y="29"/>
                      <a:pt x="72" y="35"/>
                    </a:cubicBezTo>
                    <a:cubicBezTo>
                      <a:pt x="95" y="64"/>
                      <a:pt x="76" y="94"/>
                      <a:pt x="45" y="99"/>
                    </a:cubicBezTo>
                    <a:cubicBezTo>
                      <a:pt x="36" y="100"/>
                      <a:pt x="28" y="105"/>
                      <a:pt x="20" y="107"/>
                    </a:cubicBezTo>
                    <a:cubicBezTo>
                      <a:pt x="4" y="110"/>
                      <a:pt x="0" y="107"/>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124"/>
              <p:cNvSpPr/>
              <p:nvPr/>
            </p:nvSpPr>
            <p:spPr bwMode="auto">
              <a:xfrm>
                <a:off x="4809183" y="4456637"/>
                <a:ext cx="80963" cy="701675"/>
              </a:xfrm>
              <a:custGeom>
                <a:avLst/>
                <a:gdLst>
                  <a:gd name="T0" fmla="*/ 25 w 26"/>
                  <a:gd name="T1" fmla="*/ 112 h 222"/>
                  <a:gd name="T2" fmla="*/ 25 w 26"/>
                  <a:gd name="T3" fmla="*/ 205 h 222"/>
                  <a:gd name="T4" fmla="*/ 13 w 26"/>
                  <a:gd name="T5" fmla="*/ 222 h 222"/>
                  <a:gd name="T6" fmla="*/ 1 w 26"/>
                  <a:gd name="T7" fmla="*/ 206 h 222"/>
                  <a:gd name="T8" fmla="*/ 0 w 26"/>
                  <a:gd name="T9" fmla="*/ 16 h 222"/>
                  <a:gd name="T10" fmla="*/ 13 w 26"/>
                  <a:gd name="T11" fmla="*/ 0 h 222"/>
                  <a:gd name="T12" fmla="*/ 25 w 26"/>
                  <a:gd name="T13" fmla="*/ 16 h 222"/>
                  <a:gd name="T14" fmla="*/ 25 w 26"/>
                  <a:gd name="T15" fmla="*/ 112 h 222"/>
                  <a:gd name="T16" fmla="*/ 25 w 26"/>
                  <a:gd name="T17" fmla="*/ 11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2">
                    <a:moveTo>
                      <a:pt x="25" y="112"/>
                    </a:moveTo>
                    <a:cubicBezTo>
                      <a:pt x="25" y="143"/>
                      <a:pt x="25" y="174"/>
                      <a:pt x="25" y="205"/>
                    </a:cubicBezTo>
                    <a:cubicBezTo>
                      <a:pt x="25" y="214"/>
                      <a:pt x="26" y="222"/>
                      <a:pt x="13" y="222"/>
                    </a:cubicBezTo>
                    <a:cubicBezTo>
                      <a:pt x="1" y="222"/>
                      <a:pt x="1" y="214"/>
                      <a:pt x="1" y="206"/>
                    </a:cubicBezTo>
                    <a:cubicBezTo>
                      <a:pt x="1" y="142"/>
                      <a:pt x="1" y="79"/>
                      <a:pt x="0" y="16"/>
                    </a:cubicBezTo>
                    <a:cubicBezTo>
                      <a:pt x="0" y="7"/>
                      <a:pt x="2" y="0"/>
                      <a:pt x="13" y="0"/>
                    </a:cubicBezTo>
                    <a:cubicBezTo>
                      <a:pt x="25" y="0"/>
                      <a:pt x="25" y="8"/>
                      <a:pt x="25" y="16"/>
                    </a:cubicBezTo>
                    <a:cubicBezTo>
                      <a:pt x="25" y="48"/>
                      <a:pt x="25" y="80"/>
                      <a:pt x="25" y="112"/>
                    </a:cubicBezTo>
                    <a:cubicBezTo>
                      <a:pt x="25" y="112"/>
                      <a:pt x="25" y="112"/>
                      <a:pt x="2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125"/>
              <p:cNvSpPr/>
              <p:nvPr/>
            </p:nvSpPr>
            <p:spPr bwMode="auto">
              <a:xfrm>
                <a:off x="7301558" y="4456637"/>
                <a:ext cx="82550" cy="701675"/>
              </a:xfrm>
              <a:custGeom>
                <a:avLst/>
                <a:gdLst>
                  <a:gd name="T0" fmla="*/ 25 w 26"/>
                  <a:gd name="T1" fmla="*/ 111 h 222"/>
                  <a:gd name="T2" fmla="*/ 25 w 26"/>
                  <a:gd name="T3" fmla="*/ 206 h 222"/>
                  <a:gd name="T4" fmla="*/ 13 w 26"/>
                  <a:gd name="T5" fmla="*/ 222 h 222"/>
                  <a:gd name="T6" fmla="*/ 0 w 26"/>
                  <a:gd name="T7" fmla="*/ 207 h 222"/>
                  <a:gd name="T8" fmla="*/ 0 w 26"/>
                  <a:gd name="T9" fmla="*/ 13 h 222"/>
                  <a:gd name="T10" fmla="*/ 12 w 26"/>
                  <a:gd name="T11" fmla="*/ 0 h 222"/>
                  <a:gd name="T12" fmla="*/ 25 w 26"/>
                  <a:gd name="T13" fmla="*/ 14 h 222"/>
                  <a:gd name="T14" fmla="*/ 25 w 26"/>
                  <a:gd name="T15" fmla="*/ 111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222">
                    <a:moveTo>
                      <a:pt x="25" y="111"/>
                    </a:moveTo>
                    <a:cubicBezTo>
                      <a:pt x="25" y="143"/>
                      <a:pt x="25" y="174"/>
                      <a:pt x="25" y="206"/>
                    </a:cubicBezTo>
                    <a:cubicBezTo>
                      <a:pt x="25" y="214"/>
                      <a:pt x="26" y="222"/>
                      <a:pt x="13" y="222"/>
                    </a:cubicBezTo>
                    <a:cubicBezTo>
                      <a:pt x="1" y="222"/>
                      <a:pt x="0" y="216"/>
                      <a:pt x="0" y="207"/>
                    </a:cubicBezTo>
                    <a:cubicBezTo>
                      <a:pt x="0" y="142"/>
                      <a:pt x="0" y="78"/>
                      <a:pt x="0" y="13"/>
                    </a:cubicBezTo>
                    <a:cubicBezTo>
                      <a:pt x="0" y="5"/>
                      <a:pt x="3" y="1"/>
                      <a:pt x="12" y="0"/>
                    </a:cubicBezTo>
                    <a:cubicBezTo>
                      <a:pt x="22" y="0"/>
                      <a:pt x="25" y="5"/>
                      <a:pt x="25" y="14"/>
                    </a:cubicBezTo>
                    <a:cubicBezTo>
                      <a:pt x="25" y="47"/>
                      <a:pt x="25" y="79"/>
                      <a:pt x="25" y="1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ags/tag1.xml><?xml version="1.0" encoding="utf-8"?>
<p:tagLst xmlns:p="http://schemas.openxmlformats.org/presentationml/2006/main">
  <p:tag name="KSO_WM_DIAGRAM_VIRTUALLY_FRAME" val="{&quot;height&quot;:317.25,&quot;left&quot;:467.2,&quot;top&quot;:112.1,&quot;width&quot;:300.25}"/>
</p:tagLst>
</file>

<file path=ppt/tags/tag2.xml><?xml version="1.0" encoding="utf-8"?>
<p:tagLst xmlns:p="http://schemas.openxmlformats.org/presentationml/2006/main">
  <p:tag name="KSO_WM_DIAGRAM_VIRTUALLY_FRAME" val="{&quot;height&quot;:317.25,&quot;left&quot;:467.2,&quot;top&quot;:112.1,&quot;width&quot;:300.25}"/>
</p:tagLst>
</file>

<file path=ppt/tags/tag3.xml><?xml version="1.0" encoding="utf-8"?>
<p:tagLst xmlns:p="http://schemas.openxmlformats.org/presentationml/2006/main">
  <p:tag name="KSO_WM_DIAGRAM_VIRTUALLY_FRAME" val="{&quot;height&quot;:317.25,&quot;left&quot;:467.2,&quot;top&quot;:112.1,&quot;width&quot;:300.25}"/>
</p:tagLst>
</file>

<file path=ppt/tags/tag4.xml><?xml version="1.0" encoding="utf-8"?>
<p:tagLst xmlns:p="http://schemas.openxmlformats.org/presentationml/2006/main">
  <p:tag name="KSO_WM_DIAGRAM_VIRTUALLY_FRAME" val="{&quot;height&quot;:317.25,&quot;left&quot;:467.2,&quot;top&quot;:112.1,&quot;width&quot;:300.25}"/>
</p:tagLst>
</file>

<file path=ppt/tags/tag5.xml><?xml version="1.0" encoding="utf-8"?>
<p:tagLst xmlns:p="http://schemas.openxmlformats.org/presentationml/2006/main">
  <p:tag name="KSO_WM_DIAGRAM_VIRTUALLY_FRAME" val="{&quot;height&quot;:317.25,&quot;left&quot;:467.2,&quot;top&quot;:112.1,&quot;width&quot;:300.25}"/>
</p:tagLst>
</file>

<file path=ppt/tags/tag6.xml><?xml version="1.0" encoding="utf-8"?>
<p:tagLst xmlns:p="http://schemas.openxmlformats.org/presentationml/2006/main">
  <p:tag name="KSO_WM_DIAGRAM_VIRTUALLY_FRAME" val="{&quot;height&quot;:317.25,&quot;left&quot;:467.2,&quot;top&quot;:112.1,&quot;width&quot;:300.25}"/>
</p:tagLst>
</file>

<file path=ppt/tags/tag7.xml><?xml version="1.0" encoding="utf-8"?>
<p:tagLst xmlns:p="http://schemas.openxmlformats.org/presentationml/2006/main">
  <p:tag name="KSO_WM_DIAGRAM_VIRTUALLY_FRAME" val="{&quot;height&quot;:317.25,&quot;left&quot;:467.2,&quot;top&quot;:112.1,&quot;width&quot;:300.25}"/>
</p:tagLst>
</file>

<file path=ppt/tags/tag8.xml><?xml version="1.0" encoding="utf-8"?>
<p:tagLst xmlns:p="http://schemas.openxmlformats.org/presentationml/2006/main">
  <p:tag name="KSO_WM_DIAGRAM_VIRTUALLY_FRAME" val="{&quot;height&quot;:317.25,&quot;left&quot;:467.2,&quot;top&quot;:112.1,&quot;width&quot;:300.25}"/>
</p:tagLst>
</file>

<file path=ppt/tags/tag9.xml><?xml version="1.0" encoding="utf-8"?>
<p:tagLst xmlns:p="http://schemas.openxmlformats.org/presentationml/2006/main">
  <p:tag name="KSO_WM_DIAGRAM_VIRTUALLY_FRAME" val="{&quot;height&quot;:317.25,&quot;left&quot;:467.2,&quot;top&quot;:112.1,&quot;width&quot;:300.25}"/>
</p:tagLst>
</file>

<file path=ppt/tags/tag10.xml><?xml version="1.0" encoding="utf-8"?>
<p:tagLst xmlns:p="http://schemas.openxmlformats.org/presentationml/2006/main">
  <p:tag name="KSO_WM_DIAGRAM_VIRTUALLY_FRAME" val="{&quot;height&quot;:317.25,&quot;left&quot;:467.2,&quot;top&quot;:112.1,&quot;width&quot;:300.25}"/>
</p:tagLst>
</file>

<file path=ppt/tags/tag11.xml><?xml version="1.0" encoding="utf-8"?>
<p:tagLst xmlns:p="http://schemas.openxmlformats.org/presentationml/2006/main">
  <p:tag name="KSO_WM_DIAGRAM_VIRTUALLY_FRAME" val="{&quot;height&quot;:317.25,&quot;left&quot;:467.2,&quot;top&quot;:112.1,&quot;width&quot;:300.25}"/>
</p:tagLst>
</file>

<file path=ppt/tags/tag12.xml><?xml version="1.0" encoding="utf-8"?>
<p:tagLst xmlns:p="http://schemas.openxmlformats.org/presentationml/2006/main">
  <p:tag name="KSO_WM_DIAGRAM_VIRTUALLY_FRAME" val="{&quot;height&quot;:317.25,&quot;left&quot;:467.2,&quot;top&quot;:112.1,&quot;width&quot;:300.25}"/>
</p:tagLst>
</file>

<file path=ppt/tags/tag13.xml><?xml version="1.0" encoding="utf-8"?>
<p:tagLst xmlns:p="http://schemas.openxmlformats.org/presentationml/2006/main">
  <p:tag name="KSO_WM_DIAGRAM_VIRTUALLY_FRAME" val="{&quot;height&quot;:317.25,&quot;left&quot;:467.2,&quot;top&quot;:112.1,&quot;width&quot;:300.25}"/>
</p:tagLst>
</file>

<file path=ppt/tags/tag14.xml><?xml version="1.0" encoding="utf-8"?>
<p:tagLst xmlns:p="http://schemas.openxmlformats.org/presentationml/2006/main">
  <p:tag name="KSO_WM_DIAGRAM_VIRTUALLY_FRAME" val="{&quot;height&quot;:317.25,&quot;left&quot;:467.2,&quot;top&quot;:112.1,&quot;width&quot;:300.25}"/>
</p:tagLst>
</file>

<file path=ppt/tags/tag15.xml><?xml version="1.0" encoding="utf-8"?>
<p:tagLst xmlns:p="http://schemas.openxmlformats.org/presentationml/2006/main">
  <p:tag name="KSO_WM_DIAGRAM_VIRTUALLY_FRAME" val="{&quot;height&quot;:317.25,&quot;left&quot;:467.2,&quot;top&quot;:112.1,&quot;width&quot;:300.25}"/>
</p:tagLst>
</file>

<file path=ppt/tags/tag16.xml><?xml version="1.0" encoding="utf-8"?>
<p:tagLst xmlns:p="http://schemas.openxmlformats.org/presentationml/2006/main">
  <p:tag name="KSO_WM_DIAGRAM_VIRTUALLY_FRAME" val="{&quot;height&quot;:317.25,&quot;left&quot;:467.2,&quot;top&quot;:112.1,&quot;width&quot;:300.25}"/>
</p:tagLst>
</file>

<file path=ppt/tags/tag17.xml><?xml version="1.0" encoding="utf-8"?>
<p:tagLst xmlns:p="http://schemas.openxmlformats.org/presentationml/2006/main">
  <p:tag name="KSO_WM_DIAGRAM_VIRTUALLY_FRAME" val="{&quot;height&quot;:317.25,&quot;left&quot;:467.2,&quot;top&quot;:112.1,&quot;width&quot;:300.25}"/>
</p:tagLst>
</file>

<file path=ppt/tags/tag18.xml><?xml version="1.0" encoding="utf-8"?>
<p:tagLst xmlns:p="http://schemas.openxmlformats.org/presentationml/2006/main">
  <p:tag name="KSO_WM_DIAGRAM_VIRTUALLY_FRAME" val="{&quot;height&quot;:317.25,&quot;left&quot;:467.2,&quot;top&quot;:112.1,&quot;width&quot;:300.25}"/>
</p:tagLst>
</file>

<file path=ppt/tags/tag19.xml><?xml version="1.0" encoding="utf-8"?>
<p:tagLst xmlns:p="http://schemas.openxmlformats.org/presentationml/2006/main">
  <p:tag name="KSO_WM_DIAGRAM_VIRTUALLY_FRAME" val="{&quot;height&quot;:317.25,&quot;left&quot;:467.2,&quot;top&quot;:112.1,&quot;width&quot;:300.25}"/>
</p:tagLst>
</file>

<file path=ppt/tags/tag20.xml><?xml version="1.0" encoding="utf-8"?>
<p:tagLst xmlns:p="http://schemas.openxmlformats.org/presentationml/2006/main">
  <p:tag name="KSO_WM_DIAGRAM_VIRTUALLY_FRAME" val="{&quot;height&quot;:317.25,&quot;left&quot;:467.2,&quot;top&quot;:112.1,&quot;width&quot;:300.25}"/>
</p:tagLst>
</file>

<file path=ppt/tags/tag21.xml><?xml version="1.0" encoding="utf-8"?>
<p:tagLst xmlns:p="http://schemas.openxmlformats.org/presentationml/2006/main">
  <p:tag name="KSO_WM_DIAGRAM_VIRTUALLY_FRAME" val="{&quot;height&quot;:317.25,&quot;left&quot;:467.2,&quot;top&quot;:112.1,&quot;width&quot;:300.25}"/>
</p:tagLst>
</file>

<file path=ppt/tags/tag22.xml><?xml version="1.0" encoding="utf-8"?>
<p:tagLst xmlns:p="http://schemas.openxmlformats.org/presentationml/2006/main">
  <p:tag name="KSO_WM_DIAGRAM_VIRTUALLY_FRAME" val="{&quot;height&quot;:317.25,&quot;left&quot;:467.2,&quot;top&quot;:112.1,&quot;width&quot;:300.25}"/>
</p:tagLst>
</file>

<file path=ppt/tags/tag23.xml><?xml version="1.0" encoding="utf-8"?>
<p:tagLst xmlns:p="http://schemas.openxmlformats.org/presentationml/2006/main">
  <p:tag name="KSO_WM_DIAGRAM_VIRTUALLY_FRAME" val="{&quot;height&quot;:317.25,&quot;left&quot;:467.2,&quot;top&quot;:112.1,&quot;width&quot;:300.25}"/>
</p:tagLst>
</file>

<file path=ppt/tags/tag24.xml><?xml version="1.0" encoding="utf-8"?>
<p:tagLst xmlns:p="http://schemas.openxmlformats.org/presentationml/2006/main">
  <p:tag name="KSO_WM_DIAGRAM_VIRTUALLY_FRAME" val="{&quot;height&quot;:317.25,&quot;left&quot;:467.2,&quot;top&quot;:112.1,&quot;width&quot;:300.25}"/>
</p:tagLst>
</file>

<file path=ppt/tags/tag25.xml><?xml version="1.0" encoding="utf-8"?>
<p:tagLst xmlns:p="http://schemas.openxmlformats.org/presentationml/2006/main">
  <p:tag name="KSO_WM_DIAGRAM_VIRTUALLY_FRAME" val="{&quot;height&quot;:317.25,&quot;left&quot;:467.2,&quot;top&quot;:112.1,&quot;width&quot;:300.25}"/>
</p:tagLst>
</file>

<file path=ppt/tags/tag26.xml><?xml version="1.0" encoding="utf-8"?>
<p:tagLst xmlns:p="http://schemas.openxmlformats.org/presentationml/2006/main">
  <p:tag name="KSO_WM_DIAGRAM_VIRTUALLY_FRAME" val="{&quot;height&quot;:317.25,&quot;left&quot;:467.2,&quot;top&quot;:112.1,&quot;width&quot;:300.25}"/>
</p:tagLst>
</file>

<file path=ppt/tags/tag27.xml><?xml version="1.0" encoding="utf-8"?>
<p:tagLst xmlns:p="http://schemas.openxmlformats.org/presentationml/2006/main">
  <p:tag name="KSO_WM_DIAGRAM_VIRTUALLY_FRAME" val="{&quot;height&quot;:317.25,&quot;left&quot;:467.2,&quot;top&quot;:112.1,&quot;width&quot;:300.25}"/>
</p:tagLst>
</file>

<file path=ppt/tags/tag28.xml><?xml version="1.0" encoding="utf-8"?>
<p:tagLst xmlns:p="http://schemas.openxmlformats.org/presentationml/2006/main">
  <p:tag name="KSO_WM_DIAGRAM_VIRTUALLY_FRAME" val="{&quot;height&quot;:317.25,&quot;left&quot;:467.2,&quot;top&quot;:112.1,&quot;width&quot;:300.25}"/>
</p:tagLst>
</file>

<file path=ppt/tags/tag29.xml><?xml version="1.0" encoding="utf-8"?>
<p:tagLst xmlns:p="http://schemas.openxmlformats.org/presentationml/2006/main">
  <p:tag name="KSO_WM_DIAGRAM_VIRTUALLY_FRAME" val="{&quot;height&quot;:317.25,&quot;left&quot;:467.2,&quot;top&quot;:112.1,&quot;width&quot;:300.25}"/>
</p:tagLst>
</file>

<file path=ppt/tags/tag30.xml><?xml version="1.0" encoding="utf-8"?>
<p:tagLst xmlns:p="http://schemas.openxmlformats.org/presentationml/2006/main">
  <p:tag name="KSO_WM_DIAGRAM_VIRTUALLY_FRAME" val="{&quot;height&quot;:317.25,&quot;left&quot;:467.2,&quot;top&quot;:112.1,&quot;width&quot;:300.25}"/>
</p:tagLst>
</file>

<file path=ppt/tags/tag31.xml><?xml version="1.0" encoding="utf-8"?>
<p:tagLst xmlns:p="http://schemas.openxmlformats.org/presentationml/2006/main">
  <p:tag name="KSO_WM_DIAGRAM_VIRTUALLY_FRAME" val="{&quot;height&quot;:317.25,&quot;left&quot;:467.2,&quot;top&quot;:112.1,&quot;width&quot;:300.25}"/>
</p:tagLst>
</file>

<file path=ppt/tags/tag32.xml><?xml version="1.0" encoding="utf-8"?>
<p:tagLst xmlns:p="http://schemas.openxmlformats.org/presentationml/2006/main">
  <p:tag name="KSO_WM_DIAGRAM_VIRTUALLY_FRAME" val="{&quot;height&quot;:317.25,&quot;left&quot;:467.2,&quot;top&quot;:112.1,&quot;width&quot;:300.25}"/>
</p:tagLst>
</file>

<file path=ppt/tags/tag33.xml><?xml version="1.0" encoding="utf-8"?>
<p:tagLst xmlns:p="http://schemas.openxmlformats.org/presentationml/2006/main">
  <p:tag name="KSO_WM_DIAGRAM_VIRTUALLY_FRAME" val="{&quot;height&quot;:317.25,&quot;left&quot;:467.2,&quot;top&quot;:112.1,&quot;width&quot;:300.25}"/>
</p:tagLst>
</file>

<file path=ppt/tags/tag34.xml><?xml version="1.0" encoding="utf-8"?>
<p:tagLst xmlns:p="http://schemas.openxmlformats.org/presentationml/2006/main">
  <p:tag name="KSO_WM_DIAGRAM_VIRTUALLY_FRAME" val="{&quot;height&quot;:317.25,&quot;left&quot;:467.2,&quot;top&quot;:112.1,&quot;width&quot;:300.25}"/>
</p:tagLst>
</file>

<file path=ppt/tags/tag35.xml><?xml version="1.0" encoding="utf-8"?>
<p:tagLst xmlns:p="http://schemas.openxmlformats.org/presentationml/2006/main">
  <p:tag name="KSO_WM_DIAGRAM_VIRTUALLY_FRAME" val="{&quot;height&quot;:317.25,&quot;left&quot;:467.2,&quot;top&quot;:112.1,&quot;width&quot;:300.25}"/>
</p:tagLst>
</file>

<file path=ppt/tags/tag36.xml><?xml version="1.0" encoding="utf-8"?>
<p:tagLst xmlns:p="http://schemas.openxmlformats.org/presentationml/2006/main">
  <p:tag name="KSO_WM_DIAGRAM_VIRTUALLY_FRAME" val="{&quot;height&quot;:317.25,&quot;left&quot;:467.2,&quot;top&quot;:112.1,&quot;width&quot;:300.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2642</Words>
  <Application>WPS 演示</Application>
  <PresentationFormat>宽屏</PresentationFormat>
  <Paragraphs>165</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Calibri</vt:lpstr>
      <vt:lpstr>思源黑体 CN Bold</vt:lpstr>
      <vt:lpstr>黑体</vt:lpstr>
      <vt:lpstr>微软雅黑</vt:lpstr>
      <vt:lpstr>Impact</vt:lpstr>
      <vt:lpstr>Wingdings</vt:lpstr>
      <vt:lpstr>Franklin Gothic Medium</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void</dc:creator>
  <cp:lastModifiedBy>微信用户</cp:lastModifiedBy>
  <cp:revision>133</cp:revision>
  <dcterms:created xsi:type="dcterms:W3CDTF">2017-08-03T09:01:00Z</dcterms:created>
  <dcterms:modified xsi:type="dcterms:W3CDTF">2025-11-07T11:00:45Z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KSOTemplateUUID">
    <vt:lpwstr>v1.0_mb_yAdn4mLVB7Ga5cKfLi6MHg==</vt:lpwstr>
  </property>
  <property fmtid="{D5CDD505-2E9C-101B-9397-08002B2CF9AE}" pid="4" name="ICV">
    <vt:lpwstr>46E167F256864B3CA87A29DA850A6EC6_13</vt:lpwstr>
  </property>
</Properties>
</file>